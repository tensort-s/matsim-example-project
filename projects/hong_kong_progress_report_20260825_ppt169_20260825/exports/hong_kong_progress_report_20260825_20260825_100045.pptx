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  <Relationship Id="rId18"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这次汇报集中说明香港多模式 MATSim 在最近一阶段完成了什么变化。核心不是单独增加几个参数，而是把港币成本、稀缺实体车辆和信号控制放进同一个可以回到事件记录检查的运行框架。后面用八组阶段性成果逐项说明这些能力，其中既有全港尺度结果，也有具体到个人、车辆、链接和秒级时间的机械验证。本次汇报只讨论已经完成并形成证据的部分，不设置未来展望。</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先用这一页界定比较基线。原始版本已经能够生成活动计划和多模式候选，提供道路与公共交通供给，并通过 MATSim 的效用评分和迭代选择形成出行结果；因此它已经具备需求、供给和选择的基本骨架。基线尚未引入四项能力：私家车的能耗、过路费和停车费不能以港币审计，公共交通票价没有进入方式选择成本，校巴缺少接驳步行与登乘的事件级验证，家庭私家车也还不是有归属和共享时序的物理资源。后面的十页不再重复旧版本，而是集中展示这些缺口如何被补上。</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这张图把本轮工作放回整个模型体系中理解。中央地图聚合了 iteration 49 中七十四万二千一百八十九个已实现行程，并映射到十八区，所以后续成本、车辆和控制结果共享同一个运行背景，而不是互不相干的示例。原有计划与供给骨架之上，现在形成了四个可连接层：car、PT 和 Taxi 的港币成本，家庭车辆、校巴和有限出租车队构成的物理资源，信号系统与绿波偏移构成的控制层，以及命名主体、事件时间和显式缺失值构成的审计层。需要强调，这里使用的是候选或验证结果，用于证明机制已经可以运行，并不重新定义已经采用的生产情景。</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校巴案例说明一个看似很小的时间处理问题会改变实体车辆交互。对学生 hk_person_00632810，run56 中逐链接整数取整使其在七点三十八分十七秒到达，而车辆的登乘事件发生在七点三十八分十四秒，因此晚了三秒并错过车辆。改用连续链接时长后，run57 的到达时间提前到七点三十八分零七秒，恢复了成功登乘。图的下半部分显示这十秒误差如何在二十条步行链接上逐步累积，所以修复针对的是可复现的机械原因，而不是人为修改个人计划。</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这一页把 private car 从可以随时选择的方式标签，转化为家庭共享的物理资源。案例家庭是 hk_hh_1251667，驾驶者是 hk_person_03051340，学生是 hk_person_03051341，实际使用的车辆是 hk_vehicle_0210204。事件时间线显示同一辆车先完成送学，再继续到工作地点，下午接回学生，最后共同返程；车辆在哪里、由谁占用和何时可用开始共同约束家庭联合计划。图中保留的 Walk 方案用于比较计划选择，但其中的 MATSim score 是效用值，不是港币金额，也不能解释为对真实家庭偏好的观测。</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出租车模块的主要变化，是把抽象方式选择落到有限车队的运营账本上。当前结果中有一万五千五百辆实体出租车，完成十八万六千一百四十四个请求，仿真终点仍有十七个请求在等待，同时车队空驶 VKT 占百分之十六点五。左侧流量地图与径向的请求—在役车辆图来自同一执行结果，因此可以同时看到空间服务、小时活动和资源利用。需要区分运营与金额边界：其他页面使用的 Taxi 金额目前按实际载客距离计算，等待效用还没有折算成港币。</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这里展示的是一次真正执行的私家车行程，而不是设定一个统一惩罚分。案例 hk_person_01925581 的总成本是港币一百二十二点七元，其中二十点七元来自路线能耗，三十元来自车辆在实际 LinkEnter 时间进入过海隧道，七十二元来自已结算的目的地停车。三个组成部分都可以沿事件和规则回溯，因此能够解释为什么某次行程得到这个金额。固定拥有成本仍保留在 vehicle-day sidecar 中，没有为了凑齐总价而任意分摊到这次行程。</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公共交通票价不采用直线距离或线路长度近似，而是根据乘客实际经历的上车、下车和换乘链进行严格键值解析。从 Central–Admiralty 一点二公里来源区出发的共一万零六十六条实际行程中，九千七百九十二条获得完整严格票价，解析率为百分之九十七点二八，并覆盖四十二个主要目的地站点。图中四条真实行程进一步展开了 MTR、巴士、渡轮和换乘链的逐段金额，所用十张票价表和 crosswalk 通过 SHA256 校验。当前逻辑明确不使用距离、反向顺序、整条线路或零值回退，未解析链保持缺失；金额采用成人参考和基础八达通规则，个人优惠与换乘折扣尚未建模。</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在单次行程成本可审计之后，这一页把结果扩展到全香港固定网格。定价行程总量是五十六万六千四百三十七，其中完整解析的 PT 行程三十六万四千一百六十，完整 private-car 行程一万六千一百三十三，完成的 Taxi 行程十八万六千一百四十四。四幅地图分别呈现总体、PT、私家车和 Taxi 的平均模型规则港币成本，从而展示真实金额口径下的空间差异。这里特别保留 null 与零的区别：无法解析的链仍是 null，不会被静默写成零成本；私家车和 Taxi 的纳入项、排除项也都保留在图下注释中。</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道路供给现在不再只表现为静态容量，Candidate11 已经把信号控制编译进全港网络。当前包包含一千四百四十五个 signal systems、三千二百四十三个 groups 和六千九百四十一个 controlled turns；十四条已实现走廊涉及四十七个不同的走廊信号系统。图中 corridor_002 的反向方向使用零、三、八和十二秒的固定偏移，并在二十点十五分到二十点三十分的高峰时段用时空图验证协调关系。全港分布、局部受控转向和绿波时空图共享同一套系统定义，但周期方案和偏移仍是研究候选，不能表述为对香港真实信号配时的观测。</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把八组证据放在一起，本轮升级可以归纳为三个方向。第一是货币化：私家车成本构成、严格 PT 票价和全港港币成本表面让出行代价进入真实金额口径；第二是实体化：家庭共享车辆、校巴登乘和有限出租车队让方式选择受到资源归属和时序约束；第三是可审计化：person、vehicle、event、信号系统、corridor offset、null 与排除项都能回到明确记录。最终的变化可以概括为，从模型“可以运行”推进到“可以解释每一次关键运行结果”。这些仍是候选与验证成果，不会被静默等同于生产情景或真实香港行为观测。</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hong_kong_progress_report_20260825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hong_kong_progress_report_20260825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6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5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4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3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2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1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0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9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650" kern="1200">
          <a:solidFill>
            <a:schemeClr val="tx1"/>
          </a:solidFill>
          <a:latin typeface="+mn-lt"/>
          <a:ea typeface="+mn-ea"/>
          <a:cs typeface="+mn-cs"/>
        </a:defRPr>
      </a:lvl1pPr>
      <a:lvl2pPr marL="457200" algn="l" defTabSz="457200" rtl="0" eaLnBrk="1" latinLnBrk="0" hangingPunct="1">
        <a:defRPr sz="1550" kern="1200">
          <a:solidFill>
            <a:schemeClr val="tx1"/>
          </a:solidFill>
          <a:latin typeface="+mn-lt"/>
          <a:ea typeface="+mn-ea"/>
          <a:cs typeface="+mn-cs"/>
        </a:defRPr>
      </a:lvl2pPr>
      <a:lvl3pPr marL="914400" algn="l" defTabSz="457200" rtl="0" eaLnBrk="1" latinLnBrk="0" hangingPunct="1">
        <a:defRPr sz="1450" kern="1200">
          <a:solidFill>
            <a:schemeClr val="tx1"/>
          </a:solidFill>
          <a:latin typeface="+mn-lt"/>
          <a:ea typeface="+mn-ea"/>
          <a:cs typeface="+mn-cs"/>
        </a:defRPr>
      </a:lvl3pPr>
      <a:lvl4pPr marL="1371600" algn="l" defTabSz="457200" rtl="0" eaLnBrk="1" latinLnBrk="0" hangingPunct="1">
        <a:defRPr sz="1350" kern="1200">
          <a:solidFill>
            <a:schemeClr val="tx1"/>
          </a:solidFill>
          <a:latin typeface="+mn-lt"/>
          <a:ea typeface="+mn-ea"/>
          <a:cs typeface="+mn-cs"/>
        </a:defRPr>
      </a:lvl4pPr>
      <a:lvl5pPr marL="1828800" algn="l" defTabSz="457200" rtl="0" eaLnBrk="1" latinLnBrk="0" hangingPunct="1">
        <a:defRPr sz="1250" kern="1200">
          <a:solidFill>
            <a:schemeClr val="tx1"/>
          </a:solidFill>
          <a:latin typeface="+mn-lt"/>
          <a:ea typeface="+mn-ea"/>
          <a:cs typeface="+mn-cs"/>
        </a:defRPr>
      </a:lvl5pPr>
      <a:lvl6pPr marL="2286000" algn="l" defTabSz="457200" rtl="0" eaLnBrk="1" latinLnBrk="0" hangingPunct="1">
        <a:defRPr sz="1150" kern="1200">
          <a:solidFill>
            <a:schemeClr val="tx1"/>
          </a:solidFill>
          <a:latin typeface="+mn-lt"/>
          <a:ea typeface="+mn-ea"/>
          <a:cs typeface="+mn-cs"/>
        </a:defRPr>
      </a:lvl6pPr>
      <a:lvl7pPr marL="2743200" algn="l" defTabSz="457200" rtl="0" eaLnBrk="1" latinLnBrk="0" hangingPunct="1">
        <a:defRPr sz="1050" kern="1200">
          <a:solidFill>
            <a:schemeClr val="tx1"/>
          </a:solidFill>
          <a:latin typeface="+mn-lt"/>
          <a:ea typeface="+mn-ea"/>
          <a:cs typeface="+mn-cs"/>
        </a:defRPr>
      </a:lvl7pPr>
      <a:lvl8pPr marL="3200400" algn="l" defTabSz="457200" rtl="0" eaLnBrk="1" latinLnBrk="0" hangingPunct="1">
        <a:defRPr sz="95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7bd0ca929f758ba.pn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de7bf81cb55d091.pn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9c560c3ef6f59a2.pn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d1b2b2abf5dfe33.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f65337de7072dec.pn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8e95fee11f2ee67.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cfa4b533df81c0a.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7b76ceeed5b0560.pn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71450" cy="6858000"/>
          </a:xfrm>
          <a:prstGeom prst="rect">
            <a:avLst/>
          </a:prstGeom>
          <a:solidFill>
            <a:schemeClr val="accent1"/>
          </a:solidFill>
          <a:ln>
            <a:noFill/>
          </a:ln>
        </p:spPr>
      </p:sp>
      <p:sp>
        <p:nvSpPr>
          <p:cNvPr id="3" name="Rectangle 3"/>
          <p:cNvSpPr/>
          <p:nvPr/>
        </p:nvSpPr>
        <p:spPr>
          <a:xfrm>
            <a:off x="171450" y="0"/>
            <a:ext cx="1790700" cy="114300"/>
          </a:xfrm>
          <a:prstGeom prst="rect">
            <a:avLst/>
          </a:prstGeom>
          <a:solidFill>
            <a:schemeClr val="accent2"/>
          </a:solidFill>
          <a:ln>
            <a:noFill/>
          </a:ln>
        </p:spPr>
      </p:sp>
      <p:grpSp>
        <p:nvGrpSpPr>
          <p:cNvPr id="6" name="Group 6"/>
          <p:cNvGrpSpPr/>
          <p:nvPr/>
        </p:nvGrpSpPr>
        <p:grpSpPr>
          <a:xfrm>
            <a:off x="784098" y="937260"/>
            <a:ext cx="4432554" cy="1681925"/>
            <a:chOff x="784098" y="937260"/>
            <a:chExt cx="4432554" cy="1681925"/>
          </a:xfrm>
        </p:grpSpPr>
        <p:sp>
          <p:nvSpPr>
            <p:cNvPr id="4" name="TextBox 4"/>
            <p:cNvSpPr txBox="1"/>
            <p:nvPr/>
          </p:nvSpPr>
          <p:spPr>
            <a:xfrm>
              <a:off x="813054" y="937260"/>
              <a:ext cx="3718102" cy="234696"/>
            </a:xfrm>
            <a:prstGeom prst="rect">
              <a:avLst/>
            </a:prstGeom>
            <a:noFill/>
            <a:ln>
              <a:noFill/>
            </a:ln>
          </p:spPr>
          <p:txBody>
            <a:bodyPr wrap="none" lIns="0" tIns="0" rIns="0" bIns="0" anchor="t" anchorCtr="0">
              <a:spAutoFit/>
            </a:bodyPr>
            <a:lstStyle/>
            <a:p>
              <a:pPr algn="l"/>
              <a:r>
                <a:rPr lang="zh-CN" sz="1200" b="1" spc="90" dirty="0">
                  <a:solidFill>
                    <a:schemeClr val="accent1"/>
                  </a:solidFill>
                  <a:latin typeface="+mn-lt"/>
                  <a:ea typeface="+mn-ea"/>
                  <a:cs typeface="+mn-cs"/>
                </a:rPr>
                <a:t>HONG KONG MATSim · PROGRESS REPORT</a:t>
              </a:r>
            </a:p>
          </p:txBody>
        </p:sp>
        <p:sp>
          <p:nvSpPr>
            <p:cNvPr id="5" name="TextBox 5"/>
            <p:cNvSpPr txBox="1"/>
            <p:nvPr/>
          </p:nvSpPr>
          <p:spPr>
            <a:xfrm>
              <a:off x="784098" y="1450658"/>
              <a:ext cx="4432554" cy="1168527"/>
            </a:xfrm>
            <a:prstGeom prst="rect">
              <a:avLst/>
            </a:prstGeom>
            <a:noFill/>
            <a:ln>
              <a:noFill/>
            </a:ln>
          </p:spPr>
          <p:txBody>
            <a:bodyPr wrap="none" lIns="0" tIns="0" rIns="0" bIns="0" anchor="t" anchorCtr="0">
              <a:spAutoFit/>
            </a:bodyPr>
            <a:lstStyle/>
            <a:p>
              <a:pPr algn="l">
                <a:lnSpc>
                  <a:spcPts val="4350"/>
                </a:lnSpc>
              </a:pPr>
              <a:r>
                <a:rPr lang="zh-CN" sz="3150" b="1" dirty="0">
                  <a:solidFill>
                    <a:schemeClr val="dk1"/>
                  </a:solidFill>
                  <a:latin typeface="+mn-lt"/>
                  <a:ea typeface="+mn-ea"/>
                  <a:cs typeface="+mn-cs"/>
                </a:rPr>
                <a:t>香港多模式 MATSim：</a:t>
              </a:r>
              <a:br/>
              <a:r>
                <a:rPr lang="zh-CN" sz="3150" b="1" dirty="0">
                  <a:solidFill>
                    <a:schemeClr val="dk1"/>
                  </a:solidFill>
                  <a:latin typeface="+mn-lt"/>
                  <a:ea typeface="+mn-ea"/>
                  <a:cs typeface="+mn-cs"/>
                </a:rPr>
                <a:t>从出行选择到可审计运行</a:t>
              </a:r>
            </a:p>
          </p:txBody>
        </p:sp>
      </p:grpSp>
      <p:grpSp>
        <p:nvGrpSpPr>
          <p:cNvPr id="10" name="Group 10"/>
          <p:cNvGrpSpPr/>
          <p:nvPr/>
        </p:nvGrpSpPr>
        <p:grpSpPr>
          <a:xfrm>
            <a:off x="789432" y="3333750"/>
            <a:ext cx="4913376" cy="679323"/>
            <a:chOff x="789432" y="3333750"/>
            <a:chExt cx="4913376" cy="679323"/>
          </a:xfrm>
        </p:grpSpPr>
        <p:sp>
          <p:nvSpPr>
            <p:cNvPr id="7" name="Line 7"/>
            <p:cNvSpPr/>
            <p:nvPr/>
          </p:nvSpPr>
          <p:spPr>
            <a:xfrm>
              <a:off x="819150" y="3333750"/>
              <a:ext cx="952500" cy="9525"/>
            </a:xfrm>
            <a:custGeom>
              <a:avLst/>
              <a:gdLst/>
              <a:ahLst/>
              <a:cxnLst/>
              <a:rect l="l" t="t" r="r" b="b"/>
              <a:pathLst>
                <a:path w="952500" h="9525">
                  <a:moveTo>
                    <a:pt x="0" y="0"/>
                  </a:moveTo>
                  <a:lnTo>
                    <a:pt x="952500" y="0"/>
                  </a:lnTo>
                </a:path>
              </a:pathLst>
            </a:custGeom>
            <a:noFill/>
            <a:ln w="38100">
              <a:solidFill>
                <a:schemeClr val="accent2"/>
              </a:solidFill>
            </a:ln>
          </p:spPr>
        </p:sp>
        <p:sp>
          <p:nvSpPr>
            <p:cNvPr id="8" name="TextBox 8"/>
            <p:cNvSpPr txBox="1"/>
            <p:nvPr/>
          </p:nvSpPr>
          <p:spPr>
            <a:xfrm>
              <a:off x="789432" y="3602355"/>
              <a:ext cx="200025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阶段性进展汇报</a:t>
              </a:r>
            </a:p>
          </p:txBody>
        </p:sp>
        <p:sp>
          <p:nvSpPr>
            <p:cNvPr id="9" name="TextBox 9"/>
            <p:cNvSpPr txBox="1"/>
            <p:nvPr/>
          </p:nvSpPr>
          <p:spPr>
            <a:xfrm>
              <a:off x="3020568" y="3650932"/>
              <a:ext cx="2682240" cy="322707"/>
            </a:xfrm>
            <a:prstGeom prst="rect">
              <a:avLst/>
            </a:prstGeom>
            <a:noFill/>
            <a:ln>
              <a:noFill/>
            </a:ln>
          </p:spPr>
          <p:txBody>
            <a:bodyPr wrap="none" lIns="0" tIns="0" rIns="0" bIns="0" anchor="t" anchorCtr="0">
              <a:spAutoFit/>
            </a:bodyPr>
            <a:lstStyle/>
            <a:p>
              <a:pPr algn="l"/>
              <a:r>
                <a:rPr lang="zh-CN" sz="1650" dirty="0">
                  <a:solidFill>
                    <a:srgbClr val="657174"/>
                  </a:solidFill>
                  <a:latin typeface="+mn-lt"/>
                  <a:ea typeface="+mn-ea"/>
                  <a:cs typeface="+mn-cs"/>
                </a:rPr>
                <a:t>成本、实体车辆与信号控制</a:t>
              </a:r>
            </a:p>
          </p:txBody>
        </p:sp>
      </p:grpSp>
      <p:grpSp>
        <p:nvGrpSpPr>
          <p:cNvPr id="23" name="Group 23"/>
          <p:cNvGrpSpPr/>
          <p:nvPr/>
        </p:nvGrpSpPr>
        <p:grpSpPr>
          <a:xfrm>
            <a:off x="800100" y="4476750"/>
            <a:ext cx="5410200" cy="419100"/>
            <a:chOff x="800100" y="4476750"/>
            <a:chExt cx="5410200" cy="419100"/>
          </a:xfrm>
        </p:grpSpPr>
        <p:grpSp>
          <p:nvGrpSpPr>
            <p:cNvPr id="14" name="Group 14"/>
            <p:cNvGrpSpPr/>
            <p:nvPr/>
          </p:nvGrpSpPr>
          <p:grpSpPr>
            <a:xfrm>
              <a:off x="800100" y="4476750"/>
              <a:ext cx="1600200" cy="419100"/>
              <a:chOff x="800100" y="4476750"/>
              <a:chExt cx="1600200" cy="419100"/>
            </a:xfrm>
          </p:grpSpPr>
          <p:sp>
            <p:nvSpPr>
              <p:cNvPr id="11" name="Rectangle 11"/>
              <p:cNvSpPr/>
              <p:nvPr/>
            </p:nvSpPr>
            <p:spPr>
              <a:xfrm>
                <a:off x="800100" y="4476750"/>
                <a:ext cx="1600200" cy="419100"/>
              </a:xfrm>
              <a:prstGeom prst="rect">
                <a:avLst/>
              </a:prstGeom>
              <a:solidFill>
                <a:schemeClr val="accent5"/>
              </a:solidFill>
              <a:ln>
                <a:noFill/>
              </a:ln>
            </p:spPr>
          </p:sp>
          <p:sp>
            <p:nvSpPr>
              <p:cNvPr id="12" name="Rectangle 12"/>
              <p:cNvSpPr/>
              <p:nvPr/>
            </p:nvSpPr>
            <p:spPr>
              <a:xfrm>
                <a:off x="800100" y="4476750"/>
                <a:ext cx="57150" cy="419100"/>
              </a:xfrm>
              <a:prstGeom prst="rect">
                <a:avLst/>
              </a:prstGeom>
              <a:solidFill>
                <a:schemeClr val="accent2"/>
              </a:solidFill>
              <a:ln>
                <a:noFill/>
              </a:ln>
            </p:spPr>
          </p:sp>
          <p:sp>
            <p:nvSpPr>
              <p:cNvPr id="13" name="TextBox 13"/>
              <p:cNvSpPr txBox="1"/>
              <p:nvPr/>
            </p:nvSpPr>
            <p:spPr>
              <a:xfrm>
                <a:off x="1021842" y="4607242"/>
                <a:ext cx="740664"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港币成本</a:t>
                </a:r>
              </a:p>
            </p:txBody>
          </p:sp>
        </p:grpSp>
        <p:grpSp>
          <p:nvGrpSpPr>
            <p:cNvPr id="18" name="Group 18"/>
            <p:cNvGrpSpPr/>
            <p:nvPr/>
          </p:nvGrpSpPr>
          <p:grpSpPr>
            <a:xfrm>
              <a:off x="2571750" y="4476750"/>
              <a:ext cx="1809750" cy="419100"/>
              <a:chOff x="2571750" y="4476750"/>
              <a:chExt cx="1809750" cy="419100"/>
            </a:xfrm>
          </p:grpSpPr>
          <p:sp>
            <p:nvSpPr>
              <p:cNvPr id="15" name="Rectangle 15"/>
              <p:cNvSpPr/>
              <p:nvPr/>
            </p:nvSpPr>
            <p:spPr>
              <a:xfrm>
                <a:off x="2571750" y="4476750"/>
                <a:ext cx="1809750" cy="419100"/>
              </a:xfrm>
              <a:prstGeom prst="rect">
                <a:avLst/>
              </a:prstGeom>
              <a:solidFill>
                <a:schemeClr val="accent5"/>
              </a:solidFill>
              <a:ln>
                <a:noFill/>
              </a:ln>
            </p:spPr>
          </p:sp>
          <p:sp>
            <p:nvSpPr>
              <p:cNvPr id="16" name="Rectangle 16"/>
              <p:cNvSpPr/>
              <p:nvPr/>
            </p:nvSpPr>
            <p:spPr>
              <a:xfrm>
                <a:off x="2571750" y="4476750"/>
                <a:ext cx="57150" cy="419100"/>
              </a:xfrm>
              <a:prstGeom prst="rect">
                <a:avLst/>
              </a:prstGeom>
              <a:solidFill>
                <a:schemeClr val="accent1"/>
              </a:solidFill>
              <a:ln>
                <a:noFill/>
              </a:ln>
            </p:spPr>
          </p:sp>
          <p:sp>
            <p:nvSpPr>
              <p:cNvPr id="17" name="TextBox 17"/>
              <p:cNvSpPr txBox="1"/>
              <p:nvPr/>
            </p:nvSpPr>
            <p:spPr>
              <a:xfrm>
                <a:off x="2793492" y="4607242"/>
                <a:ext cx="1104138"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稀缺实体车辆</a:t>
                </a:r>
              </a:p>
            </p:txBody>
          </p:sp>
        </p:grpSp>
        <p:grpSp>
          <p:nvGrpSpPr>
            <p:cNvPr id="22" name="Group 22"/>
            <p:cNvGrpSpPr/>
            <p:nvPr/>
          </p:nvGrpSpPr>
          <p:grpSpPr>
            <a:xfrm>
              <a:off x="4552950" y="4476750"/>
              <a:ext cx="1657350" cy="419100"/>
              <a:chOff x="4552950" y="4476750"/>
              <a:chExt cx="1657350" cy="419100"/>
            </a:xfrm>
          </p:grpSpPr>
          <p:sp>
            <p:nvSpPr>
              <p:cNvPr id="19" name="Rectangle 19"/>
              <p:cNvSpPr/>
              <p:nvPr/>
            </p:nvSpPr>
            <p:spPr>
              <a:xfrm>
                <a:off x="4552950" y="4476750"/>
                <a:ext cx="1657350" cy="419100"/>
              </a:xfrm>
              <a:prstGeom prst="rect">
                <a:avLst/>
              </a:prstGeom>
              <a:solidFill>
                <a:schemeClr val="accent5"/>
              </a:solidFill>
              <a:ln>
                <a:noFill/>
              </a:ln>
            </p:spPr>
          </p:sp>
          <p:sp>
            <p:nvSpPr>
              <p:cNvPr id="20" name="Rectangle 20"/>
              <p:cNvSpPr/>
              <p:nvPr/>
            </p:nvSpPr>
            <p:spPr>
              <a:xfrm>
                <a:off x="4552950" y="4476750"/>
                <a:ext cx="57150" cy="419100"/>
              </a:xfrm>
              <a:prstGeom prst="rect">
                <a:avLst/>
              </a:prstGeom>
              <a:solidFill>
                <a:schemeClr val="accent3"/>
              </a:solidFill>
              <a:ln>
                <a:noFill/>
              </a:ln>
            </p:spPr>
          </p:sp>
          <p:sp>
            <p:nvSpPr>
              <p:cNvPr id="21" name="TextBox 21"/>
              <p:cNvSpPr txBox="1"/>
              <p:nvPr/>
            </p:nvSpPr>
            <p:spPr>
              <a:xfrm>
                <a:off x="4774692" y="4607242"/>
                <a:ext cx="922401"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事件级审计</a:t>
                </a:r>
              </a:p>
            </p:txBody>
          </p:sp>
        </p:grpSp>
      </p:grpSp>
      <p:grpSp>
        <p:nvGrpSpPr>
          <p:cNvPr id="26" name="Group 26"/>
          <p:cNvGrpSpPr/>
          <p:nvPr/>
        </p:nvGrpSpPr>
        <p:grpSpPr>
          <a:xfrm>
            <a:off x="794004" y="5524500"/>
            <a:ext cx="6559296" cy="981456"/>
            <a:chOff x="794004" y="5524500"/>
            <a:chExt cx="6559296" cy="981456"/>
          </a:xfrm>
        </p:grpSpPr>
        <p:sp>
          <p:nvSpPr>
            <p:cNvPr id="24" name="Line 24"/>
            <p:cNvSpPr/>
            <p:nvPr/>
          </p:nvSpPr>
          <p:spPr>
            <a:xfrm>
              <a:off x="800100" y="5524500"/>
              <a:ext cx="6553200" cy="9525"/>
            </a:xfrm>
            <a:custGeom>
              <a:avLst/>
              <a:gdLst/>
              <a:ahLst/>
              <a:cxnLst/>
              <a:rect l="l" t="t" r="r" b="b"/>
              <a:pathLst>
                <a:path w="6553200" h="9525">
                  <a:moveTo>
                    <a:pt x="0" y="0"/>
                  </a:moveTo>
                  <a:lnTo>
                    <a:pt x="6553200" y="0"/>
                  </a:lnTo>
                </a:path>
              </a:pathLst>
            </a:custGeom>
            <a:noFill/>
            <a:ln w="9525">
              <a:solidFill>
                <a:srgbClr val="CBD2D0"/>
              </a:solidFill>
            </a:ln>
          </p:spPr>
        </p:sp>
        <p:sp>
          <p:nvSpPr>
            <p:cNvPr id="25" name="TextBox 25"/>
            <p:cNvSpPr txBox="1"/>
            <p:nvPr/>
          </p:nvSpPr>
          <p:spPr>
            <a:xfrm>
              <a:off x="794004" y="5699760"/>
              <a:ext cx="3966972" cy="806196"/>
            </a:xfrm>
            <a:prstGeom prst="rect">
              <a:avLst/>
            </a:prstGeom>
            <a:noFill/>
            <a:ln>
              <a:noFill/>
            </a:ln>
          </p:spPr>
          <p:txBody>
            <a:bodyPr wrap="none" lIns="0" tIns="0" rIns="0" bIns="0" anchor="t" anchorCtr="0">
              <a:spAutoFit/>
            </a:bodyPr>
            <a:lstStyle/>
            <a:p>
              <a:pPr algn="l">
                <a:lnSpc>
                  <a:spcPts val="2250"/>
                </a:lnSpc>
              </a:pPr>
              <a:r>
                <a:rPr lang="zh-CN" sz="1200" dirty="0">
                  <a:solidFill>
                    <a:srgbClr val="657174"/>
                  </a:solidFill>
                  <a:latin typeface="+mn-lt"/>
                  <a:ea typeface="+mn-ea"/>
                  <a:cs typeface="+mn-cs"/>
                </a:rPr>
                <a:t>BRANCH codex/hk-taxi-dvrp-v1</a:t>
              </a:r>
              <a:br/>
              <a:r>
                <a:rPr lang="zh-CN" sz="1200" dirty="0">
                  <a:solidFill>
                    <a:srgbClr val="657174"/>
                  </a:solidFill>
                  <a:latin typeface="+mn-lt"/>
                  <a:ea typeface="+mn-ea"/>
                  <a:cs typeface="+mn-cs"/>
                </a:rPr>
                <a:t>COMMIT 593ade88837cb352a7dd61a078e7782f6c041068</a:t>
              </a:r>
              <a:br/>
              <a:r>
                <a:rPr lang="zh-CN" sz="1200" dirty="0">
                  <a:solidFill>
                    <a:srgbClr val="657174"/>
                  </a:solidFill>
                  <a:latin typeface="+mn-lt"/>
                  <a:ea typeface="+mn-ea"/>
                  <a:cs typeface="+mn-cs"/>
                </a:rPr>
                <a:t>2026-08-25</a:t>
              </a:r>
            </a:p>
          </p:txBody>
        </p:sp>
      </p:grpSp>
      <p:grpSp>
        <p:nvGrpSpPr>
          <p:cNvPr id="41" name="Group 41"/>
          <p:cNvGrpSpPr/>
          <p:nvPr/>
        </p:nvGrpSpPr>
        <p:grpSpPr>
          <a:xfrm>
            <a:off x="8591550" y="781050"/>
            <a:ext cx="3028950" cy="5181600"/>
            <a:chOff x="8591550" y="781050"/>
            <a:chExt cx="3028950" cy="5181600"/>
          </a:xfrm>
        </p:grpSpPr>
        <p:sp>
          <p:nvSpPr>
            <p:cNvPr id="27" name="Rectangle 27"/>
            <p:cNvSpPr/>
            <p:nvPr/>
          </p:nvSpPr>
          <p:spPr>
            <a:xfrm>
              <a:off x="8591550" y="781050"/>
              <a:ext cx="3028950" cy="5181600"/>
            </a:xfrm>
            <a:prstGeom prst="rect">
              <a:avLst/>
            </a:prstGeom>
            <a:solidFill>
              <a:schemeClr val="accent5"/>
            </a:solidFill>
            <a:ln>
              <a:noFill/>
            </a:ln>
          </p:spPr>
        </p:sp>
        <p:sp>
          <p:nvSpPr>
            <p:cNvPr id="28" name="Line 28"/>
            <p:cNvSpPr/>
            <p:nvPr/>
          </p:nvSpPr>
          <p:spPr>
            <a:xfrm>
              <a:off x="8934450" y="1257300"/>
              <a:ext cx="2343150" cy="9525"/>
            </a:xfrm>
            <a:custGeom>
              <a:avLst/>
              <a:gdLst/>
              <a:ahLst/>
              <a:cxnLst/>
              <a:rect l="l" t="t" r="r" b="b"/>
              <a:pathLst>
                <a:path w="2343150" h="9525">
                  <a:moveTo>
                    <a:pt x="0" y="0"/>
                  </a:moveTo>
                  <a:lnTo>
                    <a:pt x="2343150" y="0"/>
                  </a:lnTo>
                </a:path>
              </a:pathLst>
            </a:custGeom>
            <a:noFill/>
            <a:ln w="19050">
              <a:solidFill>
                <a:schemeClr val="accent1"/>
              </a:solidFill>
            </a:ln>
          </p:spPr>
        </p:sp>
        <p:sp>
          <p:nvSpPr>
            <p:cNvPr id="29" name="TextBox 29"/>
            <p:cNvSpPr txBox="1"/>
            <p:nvPr/>
          </p:nvSpPr>
          <p:spPr>
            <a:xfrm>
              <a:off x="8915400" y="1444942"/>
              <a:ext cx="1414152" cy="1704975"/>
            </a:xfrm>
            <a:prstGeom prst="rect">
              <a:avLst/>
            </a:prstGeom>
            <a:noFill/>
            <a:ln>
              <a:noFill/>
            </a:ln>
          </p:spPr>
          <p:txBody>
            <a:bodyPr wrap="none" lIns="0" tIns="0" rIns="0" bIns="0" anchor="t" anchorCtr="0">
              <a:spAutoFit/>
            </a:bodyPr>
            <a:lstStyle/>
            <a:p>
              <a:pPr algn="l"/>
              <a:r>
                <a:rPr lang="zh-CN" sz="8850" b="1" dirty="0">
                  <a:solidFill>
                    <a:schemeClr val="accent1"/>
                  </a:solidFill>
                  <a:latin typeface="+mn-lt"/>
                  <a:ea typeface="+mn-ea"/>
                  <a:cs typeface="+mn-cs"/>
                </a:rPr>
                <a:t>08</a:t>
              </a:r>
            </a:p>
          </p:txBody>
        </p:sp>
        <p:sp>
          <p:nvSpPr>
            <p:cNvPr id="30" name="TextBox 30"/>
            <p:cNvSpPr txBox="1"/>
            <p:nvPr/>
          </p:nvSpPr>
          <p:spPr>
            <a:xfrm>
              <a:off x="8964168" y="2660332"/>
              <a:ext cx="1349502"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组阶段性成果</a:t>
              </a:r>
            </a:p>
          </p:txBody>
        </p:sp>
        <p:sp>
          <p:nvSpPr>
            <p:cNvPr id="31" name="Line 31"/>
            <p:cNvSpPr/>
            <p:nvPr/>
          </p:nvSpPr>
          <p:spPr>
            <a:xfrm>
              <a:off x="8934450" y="3124200"/>
              <a:ext cx="2343150" cy="9525"/>
            </a:xfrm>
            <a:custGeom>
              <a:avLst/>
              <a:gdLst/>
              <a:ahLst/>
              <a:cxnLst/>
              <a:rect l="l" t="t" r="r" b="b"/>
              <a:pathLst>
                <a:path w="2343150" h="9525">
                  <a:moveTo>
                    <a:pt x="0" y="0"/>
                  </a:moveTo>
                  <a:lnTo>
                    <a:pt x="2343150" y="0"/>
                  </a:lnTo>
                </a:path>
              </a:pathLst>
            </a:custGeom>
            <a:noFill/>
            <a:ln w="9525">
              <a:solidFill>
                <a:srgbClr val="CBD2D0"/>
              </a:solidFill>
            </a:ln>
          </p:spPr>
        </p:sp>
        <p:sp>
          <p:nvSpPr>
            <p:cNvPr id="32" name="Rectangle 32"/>
            <p:cNvSpPr/>
            <p:nvPr/>
          </p:nvSpPr>
          <p:spPr>
            <a:xfrm>
              <a:off x="8934450" y="3524250"/>
              <a:ext cx="114300" cy="114300"/>
            </a:xfrm>
            <a:prstGeom prst="rect">
              <a:avLst/>
            </a:prstGeom>
            <a:solidFill>
              <a:schemeClr val="accent2"/>
            </a:solidFill>
            <a:ln>
              <a:noFill/>
            </a:ln>
          </p:spPr>
        </p:sp>
        <p:sp>
          <p:nvSpPr>
            <p:cNvPr id="33" name="TextBox 33"/>
            <p:cNvSpPr txBox="1"/>
            <p:nvPr/>
          </p:nvSpPr>
          <p:spPr>
            <a:xfrm>
              <a:off x="9213342" y="349281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成本模型</a:t>
              </a:r>
            </a:p>
          </p:txBody>
        </p:sp>
        <p:sp>
          <p:nvSpPr>
            <p:cNvPr id="34" name="Rectangle 34"/>
            <p:cNvSpPr/>
            <p:nvPr/>
          </p:nvSpPr>
          <p:spPr>
            <a:xfrm>
              <a:off x="8934450" y="3962400"/>
              <a:ext cx="114300" cy="114300"/>
            </a:xfrm>
            <a:prstGeom prst="rect">
              <a:avLst/>
            </a:prstGeom>
            <a:solidFill>
              <a:schemeClr val="accent1"/>
            </a:solidFill>
            <a:ln>
              <a:noFill/>
            </a:ln>
          </p:spPr>
        </p:sp>
        <p:sp>
          <p:nvSpPr>
            <p:cNvPr id="35" name="TextBox 35"/>
            <p:cNvSpPr txBox="1"/>
            <p:nvPr/>
          </p:nvSpPr>
          <p:spPr>
            <a:xfrm>
              <a:off x="9213342" y="39309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实体车辆</a:t>
              </a:r>
            </a:p>
          </p:txBody>
        </p:sp>
        <p:sp>
          <p:nvSpPr>
            <p:cNvPr id="36" name="Rectangle 36"/>
            <p:cNvSpPr/>
            <p:nvPr/>
          </p:nvSpPr>
          <p:spPr>
            <a:xfrm>
              <a:off x="8934450" y="4400550"/>
              <a:ext cx="114300" cy="114300"/>
            </a:xfrm>
            <a:prstGeom prst="rect">
              <a:avLst/>
            </a:prstGeom>
            <a:solidFill>
              <a:schemeClr val="accent3"/>
            </a:solidFill>
            <a:ln>
              <a:noFill/>
            </a:ln>
          </p:spPr>
        </p:sp>
        <p:sp>
          <p:nvSpPr>
            <p:cNvPr id="37" name="TextBox 37"/>
            <p:cNvSpPr txBox="1"/>
            <p:nvPr/>
          </p:nvSpPr>
          <p:spPr>
            <a:xfrm>
              <a:off x="9213342" y="436911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信号控制</a:t>
              </a:r>
            </a:p>
          </p:txBody>
        </p:sp>
        <p:sp>
          <p:nvSpPr>
            <p:cNvPr id="38" name="Rectangle 38"/>
            <p:cNvSpPr/>
            <p:nvPr/>
          </p:nvSpPr>
          <p:spPr>
            <a:xfrm>
              <a:off x="8934450" y="4838700"/>
              <a:ext cx="114300" cy="114300"/>
            </a:xfrm>
            <a:prstGeom prst="rect">
              <a:avLst/>
            </a:prstGeom>
            <a:solidFill>
              <a:schemeClr val="dk1"/>
            </a:solidFill>
            <a:ln>
              <a:noFill/>
            </a:ln>
          </p:spPr>
        </p:sp>
        <p:sp>
          <p:nvSpPr>
            <p:cNvPr id="39" name="TextBox 39"/>
            <p:cNvSpPr txBox="1"/>
            <p:nvPr/>
          </p:nvSpPr>
          <p:spPr>
            <a:xfrm>
              <a:off x="9213342" y="4807268"/>
              <a:ext cx="9224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可审计证据</a:t>
              </a:r>
            </a:p>
          </p:txBody>
        </p:sp>
        <p:sp>
          <p:nvSpPr>
            <p:cNvPr id="40" name="Line 40"/>
            <p:cNvSpPr/>
            <p:nvPr/>
          </p:nvSpPr>
          <p:spPr>
            <a:xfrm>
              <a:off x="8934450" y="5410200"/>
              <a:ext cx="2343150" cy="9525"/>
            </a:xfrm>
            <a:custGeom>
              <a:avLst/>
              <a:gdLst/>
              <a:ahLst/>
              <a:cxnLst/>
              <a:rect l="l" t="t" r="r" b="b"/>
              <a:pathLst>
                <a:path w="2343150" h="9525">
                  <a:moveTo>
                    <a:pt x="0" y="0"/>
                  </a:moveTo>
                  <a:lnTo>
                    <a:pt x="2343150" y="0"/>
                  </a:lnTo>
                </a:path>
              </a:pathLst>
            </a:custGeom>
            <a:noFill/>
            <a:ln w="38100">
              <a:solidFill>
                <a:schemeClr val="accent2"/>
              </a:solidFill>
            </a:ln>
          </p:spPr>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14300" cy="6858000"/>
          </a:xfrm>
          <a:prstGeom prst="rect">
            <a:avLst/>
          </a:prstGeom>
          <a:solidFill>
            <a:schemeClr val="accent1"/>
          </a:solidFill>
          <a:ln>
            <a:noFill/>
          </a:ln>
        </p:spPr>
      </p:sp>
      <p:grpSp>
        <p:nvGrpSpPr>
          <p:cNvPr id="7" name="Group 7"/>
          <p:cNvGrpSpPr/>
          <p:nvPr/>
        </p:nvGrpSpPr>
        <p:grpSpPr>
          <a:xfrm>
            <a:off x="595122" y="384810"/>
            <a:ext cx="11982101" cy="901065"/>
            <a:chOff x="595122" y="384810"/>
            <a:chExt cx="11982101" cy="901065"/>
          </a:xfrm>
        </p:grpSpPr>
        <p:sp>
          <p:nvSpPr>
            <p:cNvPr id="3" name="TextBox 3"/>
            <p:cNvSpPr txBox="1"/>
            <p:nvPr/>
          </p:nvSpPr>
          <p:spPr>
            <a:xfrm>
              <a:off x="603504" y="384810"/>
              <a:ext cx="1287231" cy="234696"/>
            </a:xfrm>
            <a:prstGeom prst="rect">
              <a:avLst/>
            </a:prstGeom>
            <a:noFill/>
            <a:ln>
              <a:noFill/>
            </a:ln>
          </p:spPr>
          <p:txBody>
            <a:bodyPr wrap="none" lIns="0" tIns="0" rIns="0" bIns="0" anchor="t" anchorCtr="0">
              <a:spAutoFit/>
            </a:bodyPr>
            <a:lstStyle/>
            <a:p>
              <a:pPr algn="l"/>
              <a:r>
                <a:rPr lang="zh-CN" sz="1200" b="1" spc="75" dirty="0">
                  <a:solidFill>
                    <a:schemeClr val="accent1"/>
                  </a:solidFill>
                  <a:latin typeface="+mn-lt"/>
                  <a:ea typeface="+mn-ea"/>
                  <a:cs typeface="+mn-cs"/>
                </a:rPr>
                <a:t>01 · BASELINE</a:t>
              </a:r>
            </a:p>
          </p:txBody>
        </p:sp>
        <p:sp>
          <p:nvSpPr>
            <p:cNvPr id="4" name="TextBox 4"/>
            <p:cNvSpPr txBox="1"/>
            <p:nvPr/>
          </p:nvSpPr>
          <p:spPr>
            <a:xfrm>
              <a:off x="595122" y="701992"/>
              <a:ext cx="11982101"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基线已经能够模拟出行，但尚不能回答“多少钱、哪辆车、受何种控制”</a:t>
              </a:r>
            </a:p>
          </p:txBody>
        </p:sp>
        <p:sp>
          <p:nvSpPr>
            <p:cNvPr id="5" name="TextBox 5"/>
            <p:cNvSpPr txBox="1"/>
            <p:nvPr/>
          </p:nvSpPr>
          <p:spPr>
            <a:xfrm>
              <a:off x="10730332" y="384810"/>
              <a:ext cx="553364" cy="234696"/>
            </a:xfrm>
            <a:prstGeom prst="rect">
              <a:avLst/>
            </a:prstGeom>
            <a:noFill/>
            <a:ln>
              <a:noFill/>
            </a:ln>
          </p:spPr>
          <p:txBody>
            <a:bodyPr wrap="none" lIns="0" tIns="0" rIns="0" bIns="0" anchor="t" anchorCtr="0">
              <a:spAutoFit/>
            </a:bodyPr>
            <a:lstStyle/>
            <a:p>
              <a:pPr algn="r"/>
              <a:r>
                <a:rPr lang="zh-CN" sz="1200" dirty="0">
                  <a:solidFill>
                    <a:srgbClr val="657174"/>
                  </a:solidFill>
                  <a:latin typeface="+mn-lt"/>
                  <a:ea typeface="+mn-ea"/>
                  <a:cs typeface="+mn-cs"/>
                </a:rPr>
                <a:t>02 / 11</a:t>
              </a:r>
            </a:p>
          </p:txBody>
        </p:sp>
        <p:sp>
          <p:nvSpPr>
            <p:cNvPr id="6" name="Line 6"/>
            <p:cNvSpPr/>
            <p:nvPr/>
          </p:nvSpPr>
          <p:spPr>
            <a:xfrm>
              <a:off x="609600" y="1276350"/>
              <a:ext cx="10972800" cy="9525"/>
            </a:xfrm>
            <a:custGeom>
              <a:avLst/>
              <a:gdLst/>
              <a:ahLst/>
              <a:cxnLst/>
              <a:rect l="l" t="t" r="r" b="b"/>
              <a:pathLst>
                <a:path w="10972800" h="9525">
                  <a:moveTo>
                    <a:pt x="0" y="0"/>
                  </a:moveTo>
                  <a:lnTo>
                    <a:pt x="10972800" y="0"/>
                  </a:lnTo>
                </a:path>
              </a:pathLst>
            </a:custGeom>
            <a:noFill/>
            <a:ln w="9525">
              <a:solidFill>
                <a:srgbClr val="CBD2D0"/>
              </a:solidFill>
            </a:ln>
          </p:spPr>
        </p:sp>
      </p:grpSp>
      <p:grpSp>
        <p:nvGrpSpPr>
          <p:cNvPr id="20" name="Group 20"/>
          <p:cNvGrpSpPr/>
          <p:nvPr/>
        </p:nvGrpSpPr>
        <p:grpSpPr>
          <a:xfrm>
            <a:off x="602742" y="1664018"/>
            <a:ext cx="10979658" cy="1441132"/>
            <a:chOff x="602742" y="1664018"/>
            <a:chExt cx="10979658" cy="1441132"/>
          </a:xfrm>
        </p:grpSpPr>
        <p:sp>
          <p:nvSpPr>
            <p:cNvPr id="8" name="TextBox 8"/>
            <p:cNvSpPr txBox="1"/>
            <p:nvPr/>
          </p:nvSpPr>
          <p:spPr>
            <a:xfrm>
              <a:off x="602742" y="1664018"/>
              <a:ext cx="1831086" cy="264033"/>
            </a:xfrm>
            <a:prstGeom prst="rect">
              <a:avLst/>
            </a:prstGeom>
            <a:noFill/>
            <a:ln>
              <a:noFill/>
            </a:ln>
          </p:spPr>
          <p:txBody>
            <a:bodyPr wrap="none" lIns="0" tIns="0" rIns="0" bIns="0" anchor="t" anchorCtr="0">
              <a:spAutoFit/>
            </a:bodyPr>
            <a:lstStyle/>
            <a:p>
              <a:pPr algn="l"/>
              <a:r>
                <a:rPr lang="zh-CN" sz="1350" b="1" dirty="0">
                  <a:solidFill>
                    <a:srgbClr val="657174"/>
                  </a:solidFill>
                  <a:latin typeface="+mn-lt"/>
                  <a:ea typeface="+mn-ea"/>
                  <a:cs typeface="+mn-cs"/>
                </a:rPr>
                <a:t>原始版本的可表达骨架</a:t>
              </a:r>
            </a:p>
          </p:txBody>
        </p:sp>
        <p:sp>
          <p:nvSpPr>
            <p:cNvPr id="9" name="Rectangle 9"/>
            <p:cNvSpPr/>
            <p:nvPr/>
          </p:nvSpPr>
          <p:spPr>
            <a:xfrm>
              <a:off x="609600" y="2038350"/>
              <a:ext cx="2781300" cy="1066800"/>
            </a:xfrm>
            <a:prstGeom prst="rect">
              <a:avLst/>
            </a:prstGeom>
            <a:solidFill>
              <a:schemeClr val="accent5"/>
            </a:solidFill>
            <a:ln>
              <a:noFill/>
            </a:ln>
          </p:spPr>
        </p:sp>
        <p:sp>
          <p:nvSpPr>
            <p:cNvPr id="10" name="Rectangle 10"/>
            <p:cNvSpPr/>
            <p:nvPr/>
          </p:nvSpPr>
          <p:spPr>
            <a:xfrm>
              <a:off x="4705350" y="2038350"/>
              <a:ext cx="2781300" cy="1066800"/>
            </a:xfrm>
            <a:prstGeom prst="rect">
              <a:avLst/>
            </a:prstGeom>
            <a:solidFill>
              <a:schemeClr val="accent5"/>
            </a:solidFill>
            <a:ln>
              <a:noFill/>
            </a:ln>
          </p:spPr>
        </p:sp>
        <p:sp>
          <p:nvSpPr>
            <p:cNvPr id="11" name="Rectangle 11"/>
            <p:cNvSpPr/>
            <p:nvPr/>
          </p:nvSpPr>
          <p:spPr>
            <a:xfrm>
              <a:off x="8801100" y="2038350"/>
              <a:ext cx="2781300" cy="1066800"/>
            </a:xfrm>
            <a:prstGeom prst="rect">
              <a:avLst/>
            </a:prstGeom>
            <a:solidFill>
              <a:schemeClr val="accent5"/>
            </a:solidFill>
            <a:ln>
              <a:noFill/>
            </a:ln>
          </p:spPr>
        </p:sp>
        <p:sp>
          <p:nvSpPr>
            <p:cNvPr id="12" name="TextBox 12"/>
            <p:cNvSpPr txBox="1"/>
            <p:nvPr/>
          </p:nvSpPr>
          <p:spPr>
            <a:xfrm>
              <a:off x="829818" y="2222182"/>
              <a:ext cx="2015871"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活动计划与合成人口</a:t>
              </a:r>
            </a:p>
          </p:txBody>
        </p:sp>
        <p:sp>
          <p:nvSpPr>
            <p:cNvPr id="13" name="TextBox 13"/>
            <p:cNvSpPr txBox="1"/>
            <p:nvPr/>
          </p:nvSpPr>
          <p:spPr>
            <a:xfrm>
              <a:off x="831342" y="2597468"/>
              <a:ext cx="1858347" cy="264033"/>
            </a:xfrm>
            <a:prstGeom prst="rect">
              <a:avLst/>
            </a:prstGeom>
            <a:noFill/>
            <a:ln>
              <a:noFill/>
            </a:ln>
          </p:spPr>
          <p:txBody>
            <a:bodyPr wrap="none" lIns="0" tIns="0" rIns="0" bIns="0" anchor="t" anchorCtr="0">
              <a:spAutoFit/>
            </a:bodyPr>
            <a:lstStyle/>
            <a:p>
              <a:pPr algn="l"/>
              <a:r>
                <a:rPr lang="zh-CN" sz="1350" dirty="0">
                  <a:solidFill>
                    <a:srgbClr val="657174"/>
                  </a:solidFill>
                  <a:latin typeface="+mn-lt"/>
                  <a:ea typeface="+mn-ea"/>
                  <a:cs typeface="+mn-cs"/>
                </a:rPr>
                <a:t>多活动链 · 多模式候选</a:t>
              </a:r>
            </a:p>
          </p:txBody>
        </p:sp>
        <p:sp>
          <p:nvSpPr>
            <p:cNvPr id="14" name="TextBox 14"/>
            <p:cNvSpPr txBox="1"/>
            <p:nvPr/>
          </p:nvSpPr>
          <p:spPr>
            <a:xfrm>
              <a:off x="4925568" y="2222182"/>
              <a:ext cx="2015871"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道路与公共交通供给</a:t>
              </a:r>
            </a:p>
          </p:txBody>
        </p:sp>
        <p:sp>
          <p:nvSpPr>
            <p:cNvPr id="15" name="TextBox 15"/>
            <p:cNvSpPr txBox="1"/>
            <p:nvPr/>
          </p:nvSpPr>
          <p:spPr>
            <a:xfrm>
              <a:off x="4927092" y="2597468"/>
              <a:ext cx="1703870" cy="264033"/>
            </a:xfrm>
            <a:prstGeom prst="rect">
              <a:avLst/>
            </a:prstGeom>
            <a:noFill/>
            <a:ln>
              <a:noFill/>
            </a:ln>
          </p:spPr>
          <p:txBody>
            <a:bodyPr wrap="none" lIns="0" tIns="0" rIns="0" bIns="0" anchor="t" anchorCtr="0">
              <a:spAutoFit/>
            </a:bodyPr>
            <a:lstStyle/>
            <a:p>
              <a:pPr algn="l"/>
              <a:r>
                <a:rPr lang="zh-CN" sz="1350" dirty="0">
                  <a:solidFill>
                    <a:srgbClr val="657174"/>
                  </a:solidFill>
                  <a:latin typeface="+mn-lt"/>
                  <a:ea typeface="+mn-ea"/>
                  <a:cs typeface="+mn-cs"/>
                </a:rPr>
                <a:t>网络 · 时刻表 · 容量</a:t>
              </a:r>
            </a:p>
          </p:txBody>
        </p:sp>
        <p:sp>
          <p:nvSpPr>
            <p:cNvPr id="16" name="TextBox 16"/>
            <p:cNvSpPr txBox="1"/>
            <p:nvPr/>
          </p:nvSpPr>
          <p:spPr>
            <a:xfrm>
              <a:off x="9021318" y="2222182"/>
              <a:ext cx="2015871"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效用评分与迭代选择</a:t>
              </a:r>
            </a:p>
          </p:txBody>
        </p:sp>
        <p:sp>
          <p:nvSpPr>
            <p:cNvPr id="17" name="TextBox 17"/>
            <p:cNvSpPr txBox="1"/>
            <p:nvPr/>
          </p:nvSpPr>
          <p:spPr>
            <a:xfrm>
              <a:off x="9022842" y="2597468"/>
              <a:ext cx="2230175" cy="264033"/>
            </a:xfrm>
            <a:prstGeom prst="rect">
              <a:avLst/>
            </a:prstGeom>
            <a:noFill/>
            <a:ln>
              <a:noFill/>
            </a:ln>
          </p:spPr>
          <p:txBody>
            <a:bodyPr wrap="none" lIns="0" tIns="0" rIns="0" bIns="0" anchor="t" anchorCtr="0">
              <a:spAutoFit/>
            </a:bodyPr>
            <a:lstStyle/>
            <a:p>
              <a:pPr algn="l"/>
              <a:r>
                <a:rPr lang="zh-CN" sz="1350" dirty="0">
                  <a:solidFill>
                    <a:srgbClr val="657174"/>
                  </a:solidFill>
                  <a:latin typeface="+mn-lt"/>
                  <a:ea typeface="+mn-ea"/>
                  <a:cs typeface="+mn-cs"/>
                </a:rPr>
                <a:t>MATSim 执行 · score 更新</a:t>
              </a:r>
            </a:p>
          </p:txBody>
        </p:sp>
        <p:sp>
          <p:nvSpPr>
            <p:cNvPr id="18" name="Line 18"/>
            <p:cNvSpPr/>
            <p:nvPr/>
          </p:nvSpPr>
          <p:spPr>
            <a:xfrm>
              <a:off x="3543300" y="2571750"/>
              <a:ext cx="952500" cy="1"/>
            </a:xfrm>
            <a:prstGeom prst="line">
              <a:avLst/>
            </a:prstGeom>
            <a:noFill/>
            <a:ln w="28575">
              <a:solidFill>
                <a:schemeClr val="accent1"/>
              </a:solidFill>
              <a:tailEnd type="triangle" w="lg" len="lg"/>
            </a:ln>
          </p:spPr>
        </p:sp>
        <p:sp>
          <p:nvSpPr>
            <p:cNvPr id="19" name="Line 19"/>
            <p:cNvSpPr/>
            <p:nvPr/>
          </p:nvSpPr>
          <p:spPr>
            <a:xfrm>
              <a:off x="7639050" y="2571750"/>
              <a:ext cx="952500" cy="1"/>
            </a:xfrm>
            <a:prstGeom prst="line">
              <a:avLst/>
            </a:prstGeom>
            <a:noFill/>
            <a:ln w="28575">
              <a:solidFill>
                <a:schemeClr val="accent1"/>
              </a:solidFill>
              <a:tailEnd type="triangle" w="lg" len="lg"/>
            </a:ln>
          </p:spPr>
        </p:sp>
      </p:grpSp>
      <p:grpSp>
        <p:nvGrpSpPr>
          <p:cNvPr id="40" name="Group 40"/>
          <p:cNvGrpSpPr/>
          <p:nvPr/>
        </p:nvGrpSpPr>
        <p:grpSpPr>
          <a:xfrm>
            <a:off x="609600" y="3695700"/>
            <a:ext cx="10972800" cy="2133600"/>
            <a:chOff x="609600" y="3695700"/>
            <a:chExt cx="10972800" cy="2133600"/>
          </a:xfrm>
        </p:grpSpPr>
        <p:sp>
          <p:nvSpPr>
            <p:cNvPr id="21" name="Rectangle 21"/>
            <p:cNvSpPr/>
            <p:nvPr/>
          </p:nvSpPr>
          <p:spPr>
            <a:xfrm>
              <a:off x="609600" y="3695700"/>
              <a:ext cx="10972800" cy="2133600"/>
            </a:xfrm>
            <a:prstGeom prst="rect">
              <a:avLst/>
            </a:prstGeom>
            <a:solidFill>
              <a:schemeClr val="accent5"/>
            </a:solidFill>
            <a:ln>
              <a:noFill/>
            </a:ln>
          </p:spPr>
        </p:sp>
        <p:sp>
          <p:nvSpPr>
            <p:cNvPr id="22" name="Rectangle 22"/>
            <p:cNvSpPr/>
            <p:nvPr/>
          </p:nvSpPr>
          <p:spPr>
            <a:xfrm>
              <a:off x="609600" y="3695700"/>
              <a:ext cx="95250" cy="2133600"/>
            </a:xfrm>
            <a:prstGeom prst="rect">
              <a:avLst/>
            </a:prstGeom>
            <a:solidFill>
              <a:schemeClr val="accent2"/>
            </a:solidFill>
            <a:ln>
              <a:noFill/>
            </a:ln>
          </p:spPr>
        </p:sp>
        <p:sp>
          <p:nvSpPr>
            <p:cNvPr id="23" name="TextBox 23"/>
            <p:cNvSpPr txBox="1"/>
            <p:nvPr/>
          </p:nvSpPr>
          <p:spPr>
            <a:xfrm>
              <a:off x="888492" y="3892868"/>
              <a:ext cx="2558034"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本轮比较边界：基线中尚未引入</a:t>
              </a:r>
            </a:p>
          </p:txBody>
        </p:sp>
        <p:sp>
          <p:nvSpPr>
            <p:cNvPr id="24" name="Line 24"/>
            <p:cNvSpPr/>
            <p:nvPr/>
          </p:nvSpPr>
          <p:spPr>
            <a:xfrm>
              <a:off x="895350" y="4267200"/>
              <a:ext cx="10401300" cy="9525"/>
            </a:xfrm>
            <a:custGeom>
              <a:avLst/>
              <a:gdLst/>
              <a:ahLst/>
              <a:cxnLst/>
              <a:rect l="l" t="t" r="r" b="b"/>
              <a:pathLst>
                <a:path w="10401300" h="9525">
                  <a:moveTo>
                    <a:pt x="0" y="0"/>
                  </a:moveTo>
                  <a:lnTo>
                    <a:pt x="10401300" y="0"/>
                  </a:lnTo>
                </a:path>
              </a:pathLst>
            </a:custGeom>
            <a:noFill/>
            <a:ln w="9525">
              <a:solidFill>
                <a:srgbClr val="CBD2D0"/>
              </a:solidFill>
            </a:ln>
          </p:spPr>
        </p:sp>
        <p:sp>
          <p:nvSpPr>
            <p:cNvPr id="25" name="Line 25"/>
            <p:cNvSpPr/>
            <p:nvPr/>
          </p:nvSpPr>
          <p:spPr>
            <a:xfrm>
              <a:off x="3495675" y="4457700"/>
              <a:ext cx="9525" cy="1123950"/>
            </a:xfrm>
            <a:custGeom>
              <a:avLst/>
              <a:gdLst/>
              <a:ahLst/>
              <a:cxnLst/>
              <a:rect l="l" t="t" r="r" b="b"/>
              <a:pathLst>
                <a:path w="9525" h="1123950">
                  <a:moveTo>
                    <a:pt x="0" y="0"/>
                  </a:moveTo>
                  <a:lnTo>
                    <a:pt x="0" y="1123950"/>
                  </a:lnTo>
                </a:path>
              </a:pathLst>
            </a:custGeom>
            <a:noFill/>
            <a:ln w="9525">
              <a:solidFill>
                <a:srgbClr val="CBD2D0"/>
              </a:solidFill>
            </a:ln>
          </p:spPr>
        </p:sp>
        <p:sp>
          <p:nvSpPr>
            <p:cNvPr id="26" name="Line 26"/>
            <p:cNvSpPr/>
            <p:nvPr/>
          </p:nvSpPr>
          <p:spPr>
            <a:xfrm>
              <a:off x="6096000" y="4457700"/>
              <a:ext cx="9525" cy="1123950"/>
            </a:xfrm>
            <a:custGeom>
              <a:avLst/>
              <a:gdLst/>
              <a:ahLst/>
              <a:cxnLst/>
              <a:rect l="l" t="t" r="r" b="b"/>
              <a:pathLst>
                <a:path w="9525" h="1123950">
                  <a:moveTo>
                    <a:pt x="0" y="0"/>
                  </a:moveTo>
                  <a:lnTo>
                    <a:pt x="0" y="1123950"/>
                  </a:lnTo>
                </a:path>
              </a:pathLst>
            </a:custGeom>
            <a:noFill/>
            <a:ln w="9525">
              <a:solidFill>
                <a:srgbClr val="CBD2D0"/>
              </a:solidFill>
            </a:ln>
          </p:spPr>
        </p:sp>
        <p:sp>
          <p:nvSpPr>
            <p:cNvPr id="27" name="Line 27"/>
            <p:cNvSpPr/>
            <p:nvPr/>
          </p:nvSpPr>
          <p:spPr>
            <a:xfrm>
              <a:off x="8696325" y="4457700"/>
              <a:ext cx="9525" cy="1123950"/>
            </a:xfrm>
            <a:custGeom>
              <a:avLst/>
              <a:gdLst/>
              <a:ahLst/>
              <a:cxnLst/>
              <a:rect l="l" t="t" r="r" b="b"/>
              <a:pathLst>
                <a:path w="9525" h="1123950">
                  <a:moveTo>
                    <a:pt x="0" y="0"/>
                  </a:moveTo>
                  <a:lnTo>
                    <a:pt x="0" y="1123950"/>
                  </a:lnTo>
                </a:path>
              </a:pathLst>
            </a:custGeom>
            <a:noFill/>
            <a:ln w="9525">
              <a:solidFill>
                <a:srgbClr val="CBD2D0"/>
              </a:solidFill>
            </a:ln>
          </p:spPr>
        </p:sp>
        <p:sp>
          <p:nvSpPr>
            <p:cNvPr id="28" name="TextBox 28"/>
            <p:cNvSpPr txBox="1"/>
            <p:nvPr/>
          </p:nvSpPr>
          <p:spPr>
            <a:xfrm>
              <a:off x="886968" y="4508182"/>
              <a:ext cx="1127379"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私家车成本</a:t>
              </a:r>
            </a:p>
          </p:txBody>
        </p:sp>
        <p:sp>
          <p:nvSpPr>
            <p:cNvPr id="29" name="TextBox 29"/>
            <p:cNvSpPr txBox="1"/>
            <p:nvPr/>
          </p:nvSpPr>
          <p:spPr>
            <a:xfrm>
              <a:off x="888492" y="4902518"/>
              <a:ext cx="1831086" cy="264033"/>
            </a:xfrm>
            <a:prstGeom prst="rect">
              <a:avLst/>
            </a:prstGeom>
            <a:noFill/>
            <a:ln>
              <a:noFill/>
            </a:ln>
          </p:spPr>
          <p:txBody>
            <a:bodyPr wrap="none" lIns="0" tIns="0" rIns="0" bIns="0" anchor="t" anchorCtr="0">
              <a:spAutoFit/>
            </a:bodyPr>
            <a:lstStyle/>
            <a:p>
              <a:pPr algn="l"/>
              <a:r>
                <a:rPr lang="zh-CN" sz="1350" dirty="0">
                  <a:solidFill>
                    <a:srgbClr val="657174"/>
                  </a:solidFill>
                  <a:latin typeface="+mn-lt"/>
                  <a:ea typeface="+mn-ea"/>
                  <a:cs typeface="+mn-cs"/>
                </a:rPr>
                <a:t>能耗、过路费、停车费</a:t>
              </a:r>
            </a:p>
          </p:txBody>
        </p:sp>
        <p:sp>
          <p:nvSpPr>
            <p:cNvPr id="30" name="TextBox 30"/>
            <p:cNvSpPr txBox="1"/>
            <p:nvPr/>
          </p:nvSpPr>
          <p:spPr>
            <a:xfrm>
              <a:off x="888492" y="5207318"/>
              <a:ext cx="1831086" cy="264033"/>
            </a:xfrm>
            <a:prstGeom prst="rect">
              <a:avLst/>
            </a:prstGeom>
            <a:noFill/>
            <a:ln>
              <a:noFill/>
            </a:ln>
          </p:spPr>
          <p:txBody>
            <a:bodyPr wrap="none" lIns="0" tIns="0" rIns="0" bIns="0" anchor="t" anchorCtr="0">
              <a:spAutoFit/>
            </a:bodyPr>
            <a:lstStyle/>
            <a:p>
              <a:pPr algn="l"/>
              <a:r>
                <a:rPr lang="zh-CN" sz="1350" dirty="0">
                  <a:solidFill>
                    <a:srgbClr val="657174"/>
                  </a:solidFill>
                  <a:latin typeface="+mn-lt"/>
                  <a:ea typeface="+mn-ea"/>
                  <a:cs typeface="+mn-cs"/>
                </a:rPr>
                <a:t>尚不能以港币逐项审计</a:t>
              </a:r>
            </a:p>
          </p:txBody>
        </p:sp>
        <p:sp>
          <p:nvSpPr>
            <p:cNvPr id="31" name="TextBox 31"/>
            <p:cNvSpPr txBox="1"/>
            <p:nvPr/>
          </p:nvSpPr>
          <p:spPr>
            <a:xfrm>
              <a:off x="3773043" y="4508182"/>
              <a:ext cx="831159"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PT 票价</a:t>
              </a:r>
            </a:p>
          </p:txBody>
        </p:sp>
        <p:sp>
          <p:nvSpPr>
            <p:cNvPr id="32" name="TextBox 32"/>
            <p:cNvSpPr txBox="1"/>
            <p:nvPr/>
          </p:nvSpPr>
          <p:spPr>
            <a:xfrm>
              <a:off x="3774567" y="4902518"/>
              <a:ext cx="1467612" cy="264033"/>
            </a:xfrm>
            <a:prstGeom prst="rect">
              <a:avLst/>
            </a:prstGeom>
            <a:noFill/>
            <a:ln>
              <a:noFill/>
            </a:ln>
          </p:spPr>
          <p:txBody>
            <a:bodyPr wrap="none" lIns="0" tIns="0" rIns="0" bIns="0" anchor="t" anchorCtr="0">
              <a:spAutoFit/>
            </a:bodyPr>
            <a:lstStyle/>
            <a:p>
              <a:pPr algn="l"/>
              <a:r>
                <a:rPr lang="zh-CN" sz="1350" dirty="0">
                  <a:solidFill>
                    <a:srgbClr val="657174"/>
                  </a:solidFill>
                  <a:latin typeface="+mn-lt"/>
                  <a:ea typeface="+mn-ea"/>
                  <a:cs typeface="+mn-cs"/>
                </a:rPr>
                <a:t>乘降链与线路票价</a:t>
              </a:r>
            </a:p>
          </p:txBody>
        </p:sp>
        <p:sp>
          <p:nvSpPr>
            <p:cNvPr id="33" name="TextBox 33"/>
            <p:cNvSpPr txBox="1"/>
            <p:nvPr/>
          </p:nvSpPr>
          <p:spPr>
            <a:xfrm>
              <a:off x="3774567" y="5207318"/>
              <a:ext cx="1831086" cy="264033"/>
            </a:xfrm>
            <a:prstGeom prst="rect">
              <a:avLst/>
            </a:prstGeom>
            <a:noFill/>
            <a:ln>
              <a:noFill/>
            </a:ln>
          </p:spPr>
          <p:txBody>
            <a:bodyPr wrap="none" lIns="0" tIns="0" rIns="0" bIns="0" anchor="t" anchorCtr="0">
              <a:spAutoFit/>
            </a:bodyPr>
            <a:lstStyle/>
            <a:p>
              <a:pPr algn="l"/>
              <a:r>
                <a:rPr lang="zh-CN" sz="1350" dirty="0">
                  <a:solidFill>
                    <a:srgbClr val="657174"/>
                  </a:solidFill>
                  <a:latin typeface="+mn-lt"/>
                  <a:ea typeface="+mn-ea"/>
                  <a:cs typeface="+mn-cs"/>
                </a:rPr>
                <a:t>尚未进入方式选择成本</a:t>
              </a:r>
            </a:p>
          </p:txBody>
        </p:sp>
        <p:sp>
          <p:nvSpPr>
            <p:cNvPr id="34" name="TextBox 34"/>
            <p:cNvSpPr txBox="1"/>
            <p:nvPr/>
          </p:nvSpPr>
          <p:spPr>
            <a:xfrm>
              <a:off x="6373368" y="4508182"/>
              <a:ext cx="905256"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校巴模型</a:t>
              </a:r>
            </a:p>
          </p:txBody>
        </p:sp>
        <p:sp>
          <p:nvSpPr>
            <p:cNvPr id="35" name="TextBox 35"/>
            <p:cNvSpPr txBox="1"/>
            <p:nvPr/>
          </p:nvSpPr>
          <p:spPr>
            <a:xfrm>
              <a:off x="6374892" y="4902518"/>
              <a:ext cx="1649349" cy="264033"/>
            </a:xfrm>
            <a:prstGeom prst="rect">
              <a:avLst/>
            </a:prstGeom>
            <a:noFill/>
            <a:ln>
              <a:noFill/>
            </a:ln>
          </p:spPr>
          <p:txBody>
            <a:bodyPr wrap="none" lIns="0" tIns="0" rIns="0" bIns="0" anchor="t" anchorCtr="0">
              <a:spAutoFit/>
            </a:bodyPr>
            <a:lstStyle/>
            <a:p>
              <a:pPr algn="l"/>
              <a:r>
                <a:rPr lang="zh-CN" sz="1350" dirty="0">
                  <a:solidFill>
                    <a:srgbClr val="657174"/>
                  </a:solidFill>
                  <a:latin typeface="+mn-lt"/>
                  <a:ea typeface="+mn-ea"/>
                  <a:cs typeface="+mn-cs"/>
                </a:rPr>
                <a:t>接驳步行与车辆登乘</a:t>
              </a:r>
            </a:p>
          </p:txBody>
        </p:sp>
        <p:sp>
          <p:nvSpPr>
            <p:cNvPr id="36" name="TextBox 36"/>
            <p:cNvSpPr txBox="1"/>
            <p:nvPr/>
          </p:nvSpPr>
          <p:spPr>
            <a:xfrm>
              <a:off x="6374892" y="5207318"/>
              <a:ext cx="1649349" cy="264033"/>
            </a:xfrm>
            <a:prstGeom prst="rect">
              <a:avLst/>
            </a:prstGeom>
            <a:noFill/>
            <a:ln>
              <a:noFill/>
            </a:ln>
          </p:spPr>
          <p:txBody>
            <a:bodyPr wrap="none" lIns="0" tIns="0" rIns="0" bIns="0" anchor="t" anchorCtr="0">
              <a:spAutoFit/>
            </a:bodyPr>
            <a:lstStyle/>
            <a:p>
              <a:pPr algn="l"/>
              <a:r>
                <a:rPr lang="zh-CN" sz="1350" dirty="0">
                  <a:solidFill>
                    <a:srgbClr val="657174"/>
                  </a:solidFill>
                  <a:latin typeface="+mn-lt"/>
                  <a:ea typeface="+mn-ea"/>
                  <a:cs typeface="+mn-cs"/>
                </a:rPr>
                <a:t>尚无事件级机械验证</a:t>
              </a:r>
            </a:p>
          </p:txBody>
        </p:sp>
        <p:sp>
          <p:nvSpPr>
            <p:cNvPr id="37" name="TextBox 37"/>
            <p:cNvSpPr txBox="1"/>
            <p:nvPr/>
          </p:nvSpPr>
          <p:spPr>
            <a:xfrm>
              <a:off x="8973693" y="4508182"/>
              <a:ext cx="1571625"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家庭实体私家车</a:t>
              </a:r>
            </a:p>
          </p:txBody>
        </p:sp>
        <p:sp>
          <p:nvSpPr>
            <p:cNvPr id="38" name="TextBox 38"/>
            <p:cNvSpPr txBox="1"/>
            <p:nvPr/>
          </p:nvSpPr>
          <p:spPr>
            <a:xfrm>
              <a:off x="8975217" y="4902518"/>
              <a:ext cx="1649349" cy="264033"/>
            </a:xfrm>
            <a:prstGeom prst="rect">
              <a:avLst/>
            </a:prstGeom>
            <a:noFill/>
            <a:ln>
              <a:noFill/>
            </a:ln>
          </p:spPr>
          <p:txBody>
            <a:bodyPr wrap="none" lIns="0" tIns="0" rIns="0" bIns="0" anchor="t" anchorCtr="0">
              <a:spAutoFit/>
            </a:bodyPr>
            <a:lstStyle/>
            <a:p>
              <a:pPr algn="l"/>
              <a:r>
                <a:rPr lang="zh-CN" sz="1350" dirty="0">
                  <a:solidFill>
                    <a:srgbClr val="657174"/>
                  </a:solidFill>
                  <a:latin typeface="+mn-lt"/>
                  <a:ea typeface="+mn-ea"/>
                  <a:cs typeface="+mn-cs"/>
                </a:rPr>
                <a:t>车辆归属与共享时序</a:t>
              </a:r>
            </a:p>
          </p:txBody>
        </p:sp>
        <p:sp>
          <p:nvSpPr>
            <p:cNvPr id="39" name="TextBox 39"/>
            <p:cNvSpPr txBox="1"/>
            <p:nvPr/>
          </p:nvSpPr>
          <p:spPr>
            <a:xfrm>
              <a:off x="8975217" y="5207318"/>
              <a:ext cx="1831086" cy="264033"/>
            </a:xfrm>
            <a:prstGeom prst="rect">
              <a:avLst/>
            </a:prstGeom>
            <a:noFill/>
            <a:ln>
              <a:noFill/>
            </a:ln>
          </p:spPr>
          <p:txBody>
            <a:bodyPr wrap="none" lIns="0" tIns="0" rIns="0" bIns="0" anchor="t" anchorCtr="0">
              <a:spAutoFit/>
            </a:bodyPr>
            <a:lstStyle/>
            <a:p>
              <a:pPr algn="l"/>
              <a:r>
                <a:rPr lang="zh-CN" sz="1350" dirty="0">
                  <a:solidFill>
                    <a:srgbClr val="657174"/>
                  </a:solidFill>
                  <a:latin typeface="+mn-lt"/>
                  <a:ea typeface="+mn-ea"/>
                  <a:cs typeface="+mn-cs"/>
                </a:rPr>
                <a:t>尚未约束家庭联合计划</a:t>
              </a:r>
            </a:p>
          </p:txBody>
        </p:sp>
      </p:grpSp>
      <p:grpSp>
        <p:nvGrpSpPr>
          <p:cNvPr id="43" name="Group 43"/>
          <p:cNvGrpSpPr/>
          <p:nvPr/>
        </p:nvGrpSpPr>
        <p:grpSpPr>
          <a:xfrm>
            <a:off x="603504" y="6153150"/>
            <a:ext cx="10978896" cy="371856"/>
            <a:chOff x="603504" y="6153150"/>
            <a:chExt cx="10978896" cy="371856"/>
          </a:xfrm>
        </p:grpSpPr>
        <p:sp>
          <p:nvSpPr>
            <p:cNvPr id="41" name="Line 41"/>
            <p:cNvSpPr/>
            <p:nvPr/>
          </p:nvSpPr>
          <p:spPr>
            <a:xfrm>
              <a:off x="609600" y="6153150"/>
              <a:ext cx="10972800" cy="9525"/>
            </a:xfrm>
            <a:custGeom>
              <a:avLst/>
              <a:gdLst/>
              <a:ahLst/>
              <a:cxnLst/>
              <a:rect l="l" t="t" r="r" b="b"/>
              <a:pathLst>
                <a:path w="10972800" h="9525">
                  <a:moveTo>
                    <a:pt x="0" y="0"/>
                  </a:moveTo>
                  <a:lnTo>
                    <a:pt x="10972800" y="0"/>
                  </a:lnTo>
                </a:path>
              </a:pathLst>
            </a:custGeom>
            <a:noFill/>
            <a:ln w="9525">
              <a:solidFill>
                <a:srgbClr val="CBD2D0"/>
              </a:solidFill>
            </a:ln>
          </p:spPr>
        </p:sp>
        <p:sp>
          <p:nvSpPr>
            <p:cNvPr id="42" name="TextBox 42"/>
            <p:cNvSpPr txBox="1"/>
            <p:nvPr/>
          </p:nvSpPr>
          <p:spPr>
            <a:xfrm>
              <a:off x="603504" y="6290310"/>
              <a:ext cx="4858512" cy="234696"/>
            </a:xfrm>
            <a:prstGeom prst="rect">
              <a:avLst/>
            </a:prstGeom>
            <a:noFill/>
            <a:ln>
              <a:noFill/>
            </a:ln>
          </p:spPr>
          <p:txBody>
            <a:bodyPr wrap="none" lIns="0" tIns="0" rIns="0" bIns="0" anchor="t" anchorCtr="0">
              <a:spAutoFit/>
            </a:bodyPr>
            <a:lstStyle/>
            <a:p>
              <a:pPr algn="l"/>
              <a:r>
                <a:rPr lang="zh-CN" sz="1200" dirty="0">
                  <a:solidFill>
                    <a:srgbClr val="657174"/>
                  </a:solidFill>
                  <a:latin typeface="+mn-lt"/>
                  <a:ea typeface="+mn-ea"/>
                  <a:cs typeface="+mn-cs"/>
                </a:rPr>
                <a:t>基线仅在本页展示；后续页面集中呈现本轮新增机制及其验证证据。</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14300" cy="6858000"/>
          </a:xfrm>
          <a:prstGeom prst="rect">
            <a:avLst/>
          </a:prstGeom>
          <a:solidFill>
            <a:schemeClr val="accent1"/>
          </a:solidFill>
          <a:ln>
            <a:noFill/>
          </a:ln>
        </p:spPr>
      </p:sp>
      <p:grpSp>
        <p:nvGrpSpPr>
          <p:cNvPr id="7" name="Group 7"/>
          <p:cNvGrpSpPr/>
          <p:nvPr/>
        </p:nvGrpSpPr>
        <p:grpSpPr>
          <a:xfrm>
            <a:off x="595122" y="384810"/>
            <a:ext cx="10688574" cy="1080135"/>
            <a:chOff x="595122" y="384810"/>
            <a:chExt cx="10688574" cy="1080135"/>
          </a:xfrm>
        </p:grpSpPr>
        <p:sp>
          <p:nvSpPr>
            <p:cNvPr id="3" name="TextBox 3"/>
            <p:cNvSpPr txBox="1"/>
            <p:nvPr/>
          </p:nvSpPr>
          <p:spPr>
            <a:xfrm>
              <a:off x="603504" y="384810"/>
              <a:ext cx="2150486" cy="234696"/>
            </a:xfrm>
            <a:prstGeom prst="rect">
              <a:avLst/>
            </a:prstGeom>
            <a:noFill/>
            <a:ln>
              <a:noFill/>
            </a:ln>
          </p:spPr>
          <p:txBody>
            <a:bodyPr wrap="none" lIns="0" tIns="0" rIns="0" bIns="0" anchor="t" anchorCtr="0">
              <a:spAutoFit/>
            </a:bodyPr>
            <a:lstStyle/>
            <a:p>
              <a:pPr algn="l"/>
              <a:r>
                <a:rPr lang="zh-CN" sz="1200" b="1" spc="75" dirty="0">
                  <a:solidFill>
                    <a:schemeClr val="accent1"/>
                  </a:solidFill>
                  <a:latin typeface="+mn-lt"/>
                  <a:ea typeface="+mn-ea"/>
                  <a:cs typeface="+mn-cs"/>
                </a:rPr>
                <a:t>02 · MODEL EVOLUTION</a:t>
              </a:r>
            </a:p>
          </p:txBody>
        </p:sp>
        <p:sp>
          <p:nvSpPr>
            <p:cNvPr id="4" name="TextBox 4"/>
            <p:cNvSpPr txBox="1"/>
            <p:nvPr/>
          </p:nvSpPr>
          <p:spPr>
            <a:xfrm>
              <a:off x="595122" y="682942"/>
              <a:ext cx="8588567" cy="557403"/>
            </a:xfrm>
            <a:prstGeom prst="rect">
              <a:avLst/>
            </a:prstGeom>
            <a:noFill/>
            <a:ln>
              <a:noFill/>
            </a:ln>
          </p:spPr>
          <p:txBody>
            <a:bodyPr wrap="none" lIns="0" tIns="0" rIns="0" bIns="0" anchor="t" anchorCtr="0">
              <a:spAutoFit/>
            </a:bodyPr>
            <a:lstStyle/>
            <a:p>
              <a:pPr algn="l"/>
              <a:r>
                <a:rPr lang="zh-CN" sz="2850" b="1" dirty="0">
                  <a:solidFill>
                    <a:schemeClr val="dk1"/>
                  </a:solidFill>
                  <a:latin typeface="+mn-lt"/>
                  <a:ea typeface="+mn-ea"/>
                  <a:cs typeface="+mn-cs"/>
                </a:rPr>
                <a:t>模型已从“计划与效用”推进到“成本、实体与控制”</a:t>
              </a:r>
            </a:p>
          </p:txBody>
        </p:sp>
        <p:sp>
          <p:nvSpPr>
            <p:cNvPr id="5" name="TextBox 5"/>
            <p:cNvSpPr txBox="1"/>
            <p:nvPr/>
          </p:nvSpPr>
          <p:spPr>
            <a:xfrm>
              <a:off x="601980" y="1171575"/>
              <a:ext cx="5194744" cy="293370"/>
            </a:xfrm>
            <a:prstGeom prst="rect">
              <a:avLst/>
            </a:prstGeom>
            <a:noFill/>
            <a:ln>
              <a:noFill/>
            </a:ln>
          </p:spPr>
          <p:txBody>
            <a:bodyPr wrap="none" lIns="0" tIns="0" rIns="0" bIns="0" anchor="t" anchorCtr="0">
              <a:spAutoFit/>
            </a:bodyPr>
            <a:lstStyle/>
            <a:p>
              <a:pPr algn="l"/>
              <a:r>
                <a:rPr lang="zh-CN" sz="1500" dirty="0">
                  <a:solidFill>
                    <a:srgbClr val="657174"/>
                  </a:solidFill>
                  <a:latin typeface="+mn-lt"/>
                  <a:ea typeface="+mn-ea"/>
                  <a:cs typeface="+mn-cs"/>
                </a:rPr>
                <a:t>742,189 个已实现 iteration-49 trips 提供统一运行背景</a:t>
              </a:r>
            </a:p>
          </p:txBody>
        </p:sp>
        <p:sp>
          <p:nvSpPr>
            <p:cNvPr id="6" name="TextBox 6"/>
            <p:cNvSpPr txBox="1"/>
            <p:nvPr/>
          </p:nvSpPr>
          <p:spPr>
            <a:xfrm>
              <a:off x="10730332" y="384810"/>
              <a:ext cx="553364" cy="234696"/>
            </a:xfrm>
            <a:prstGeom prst="rect">
              <a:avLst/>
            </a:prstGeom>
            <a:noFill/>
            <a:ln>
              <a:noFill/>
            </a:ln>
          </p:spPr>
          <p:txBody>
            <a:bodyPr wrap="none" lIns="0" tIns="0" rIns="0" bIns="0" anchor="t" anchorCtr="0">
              <a:spAutoFit/>
            </a:bodyPr>
            <a:lstStyle/>
            <a:p>
              <a:pPr algn="r"/>
              <a:r>
                <a:rPr lang="zh-CN" sz="1200" dirty="0">
                  <a:solidFill>
                    <a:srgbClr val="657174"/>
                  </a:solidFill>
                  <a:latin typeface="+mn-lt"/>
                  <a:ea typeface="+mn-ea"/>
                  <a:cs typeface="+mn-cs"/>
                </a:rPr>
                <a:t>03 / 11</a:t>
              </a:r>
            </a:p>
          </p:txBody>
        </p:sp>
      </p:grpSp>
      <p:grpSp>
        <p:nvGrpSpPr>
          <p:cNvPr id="10" name="Group 10"/>
          <p:cNvGrpSpPr/>
          <p:nvPr/>
        </p:nvGrpSpPr>
        <p:grpSpPr>
          <a:xfrm>
            <a:off x="609600" y="1619250"/>
            <a:ext cx="6724650" cy="4400550"/>
            <a:chOff x="609600" y="1619250"/>
            <a:chExt cx="6724650" cy="4400550"/>
          </a:xfrm>
        </p:grpSpPr>
        <p:sp>
          <p:nvSpPr>
            <p:cNvPr id="8" name="Rectangle 8"/>
            <p:cNvSpPr/>
            <p:nvPr/>
          </p:nvSpPr>
          <p:spPr>
            <a:xfrm>
              <a:off x="609600" y="1619250"/>
              <a:ext cx="6724650" cy="4400550"/>
            </a:xfrm>
            <a:prstGeom prst="rect">
              <a:avLst/>
            </a:prstGeom>
            <a:solidFill>
              <a:schemeClr val="lt1"/>
            </a:solidFill>
            <a:ln w="9525">
              <a:solidFill>
                <a:srgbClr val="CBD2D0"/>
              </a:solidFill>
            </a:ln>
          </p:spPr>
        </p:sp>
        <p:pic>
          <p:nvPicPr>
            <p:cNvPr id="9" name="Image 9"/>
            <p:cNvPicPr>
              <a:picLocks noChangeAspect="1"/>
            </p:cNvPicPr>
            <p:nvPr/>
          </p:nvPicPr>
          <p:blipFill>
            <a:blip r:embed="rId2"/>
            <a:stretch>
              <a:fillRect/>
            </a:stretch>
          </p:blipFill>
          <p:spPr>
            <a:xfrm>
              <a:off x="619125" y="1670328"/>
              <a:ext cx="6705600" cy="4298394"/>
            </a:xfrm>
            <a:prstGeom prst="rect">
              <a:avLst/>
            </a:prstGeom>
          </p:spPr>
        </p:pic>
      </p:grpSp>
      <p:grpSp>
        <p:nvGrpSpPr>
          <p:cNvPr id="28" name="Group 28"/>
          <p:cNvGrpSpPr/>
          <p:nvPr/>
        </p:nvGrpSpPr>
        <p:grpSpPr>
          <a:xfrm>
            <a:off x="7620000" y="1619250"/>
            <a:ext cx="4031590" cy="4400550"/>
            <a:chOff x="7620000" y="1619250"/>
            <a:chExt cx="4031590" cy="4400550"/>
          </a:xfrm>
        </p:grpSpPr>
        <p:sp>
          <p:nvSpPr>
            <p:cNvPr id="11" name="Rectangle 11"/>
            <p:cNvSpPr/>
            <p:nvPr/>
          </p:nvSpPr>
          <p:spPr>
            <a:xfrm>
              <a:off x="7620000" y="1619250"/>
              <a:ext cx="3962400" cy="4400550"/>
            </a:xfrm>
            <a:prstGeom prst="rect">
              <a:avLst/>
            </a:prstGeom>
            <a:solidFill>
              <a:schemeClr val="accent5"/>
            </a:solidFill>
            <a:ln>
              <a:noFill/>
            </a:ln>
          </p:spPr>
        </p:sp>
        <p:sp>
          <p:nvSpPr>
            <p:cNvPr id="12" name="TextBox 12"/>
            <p:cNvSpPr txBox="1"/>
            <p:nvPr/>
          </p:nvSpPr>
          <p:spPr>
            <a:xfrm>
              <a:off x="7897368" y="1803082"/>
              <a:ext cx="1793748"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四个新增可连接层</a:t>
              </a:r>
            </a:p>
          </p:txBody>
        </p:sp>
        <p:sp>
          <p:nvSpPr>
            <p:cNvPr id="13" name="Line 13"/>
            <p:cNvSpPr/>
            <p:nvPr/>
          </p:nvSpPr>
          <p:spPr>
            <a:xfrm>
              <a:off x="7905750" y="2190750"/>
              <a:ext cx="3390900" cy="9525"/>
            </a:xfrm>
            <a:custGeom>
              <a:avLst/>
              <a:gdLst/>
              <a:ahLst/>
              <a:cxnLst/>
              <a:rect l="l" t="t" r="r" b="b"/>
              <a:pathLst>
                <a:path w="3390900" h="9525">
                  <a:moveTo>
                    <a:pt x="0" y="0"/>
                  </a:moveTo>
                  <a:lnTo>
                    <a:pt x="3390900" y="0"/>
                  </a:lnTo>
                </a:path>
              </a:pathLst>
            </a:custGeom>
            <a:noFill/>
            <a:ln w="9525">
              <a:solidFill>
                <a:srgbClr val="CBD2D0"/>
              </a:solidFill>
            </a:ln>
          </p:spPr>
        </p:sp>
        <p:sp>
          <p:nvSpPr>
            <p:cNvPr id="14" name="Rectangle 14"/>
            <p:cNvSpPr/>
            <p:nvPr/>
          </p:nvSpPr>
          <p:spPr>
            <a:xfrm>
              <a:off x="7905750" y="2457450"/>
              <a:ext cx="76200" cy="533400"/>
            </a:xfrm>
            <a:prstGeom prst="rect">
              <a:avLst/>
            </a:prstGeom>
            <a:solidFill>
              <a:schemeClr val="accent2"/>
            </a:solidFill>
            <a:ln>
              <a:noFill/>
            </a:ln>
          </p:spPr>
        </p:sp>
        <p:sp>
          <p:nvSpPr>
            <p:cNvPr id="15" name="TextBox 15"/>
            <p:cNvSpPr txBox="1"/>
            <p:nvPr/>
          </p:nvSpPr>
          <p:spPr>
            <a:xfrm>
              <a:off x="8164830" y="2505075"/>
              <a:ext cx="621030"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货币层</a:t>
              </a:r>
            </a:p>
          </p:txBody>
        </p:sp>
        <p:sp>
          <p:nvSpPr>
            <p:cNvPr id="16" name="TextBox 16"/>
            <p:cNvSpPr txBox="1"/>
            <p:nvPr/>
          </p:nvSpPr>
          <p:spPr>
            <a:xfrm>
              <a:off x="8165592" y="2787968"/>
              <a:ext cx="2661590" cy="264033"/>
            </a:xfrm>
            <a:prstGeom prst="rect">
              <a:avLst/>
            </a:prstGeom>
            <a:noFill/>
            <a:ln>
              <a:noFill/>
            </a:ln>
          </p:spPr>
          <p:txBody>
            <a:bodyPr wrap="none" lIns="0" tIns="0" rIns="0" bIns="0" anchor="t" anchorCtr="0">
              <a:spAutoFit/>
            </a:bodyPr>
            <a:lstStyle/>
            <a:p>
              <a:pPr algn="l"/>
              <a:r>
                <a:rPr lang="zh-CN" sz="1350" dirty="0">
                  <a:solidFill>
                    <a:srgbClr val="657174"/>
                  </a:solidFill>
                  <a:latin typeface="+mn-lt"/>
                  <a:ea typeface="+mn-ea"/>
                  <a:cs typeface="+mn-cs"/>
                </a:rPr>
                <a:t>car · PT · Taxi 的真实港币规则</a:t>
              </a:r>
            </a:p>
          </p:txBody>
        </p:sp>
        <p:sp>
          <p:nvSpPr>
            <p:cNvPr id="17" name="Rectangle 17"/>
            <p:cNvSpPr/>
            <p:nvPr/>
          </p:nvSpPr>
          <p:spPr>
            <a:xfrm>
              <a:off x="7905750" y="3181350"/>
              <a:ext cx="76200" cy="533400"/>
            </a:xfrm>
            <a:prstGeom prst="rect">
              <a:avLst/>
            </a:prstGeom>
            <a:solidFill>
              <a:schemeClr val="accent1"/>
            </a:solidFill>
            <a:ln>
              <a:noFill/>
            </a:ln>
          </p:spPr>
        </p:sp>
        <p:sp>
          <p:nvSpPr>
            <p:cNvPr id="18" name="TextBox 18"/>
            <p:cNvSpPr txBox="1"/>
            <p:nvPr/>
          </p:nvSpPr>
          <p:spPr>
            <a:xfrm>
              <a:off x="8164830" y="3228975"/>
              <a:ext cx="1024890"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物理资源层</a:t>
              </a:r>
            </a:p>
          </p:txBody>
        </p:sp>
        <p:sp>
          <p:nvSpPr>
            <p:cNvPr id="19" name="TextBox 19"/>
            <p:cNvSpPr txBox="1"/>
            <p:nvPr/>
          </p:nvSpPr>
          <p:spPr>
            <a:xfrm>
              <a:off x="8165592" y="3511868"/>
              <a:ext cx="2612555" cy="264033"/>
            </a:xfrm>
            <a:prstGeom prst="rect">
              <a:avLst/>
            </a:prstGeom>
            <a:noFill/>
            <a:ln>
              <a:noFill/>
            </a:ln>
          </p:spPr>
          <p:txBody>
            <a:bodyPr wrap="none" lIns="0" tIns="0" rIns="0" bIns="0" anchor="t" anchorCtr="0">
              <a:spAutoFit/>
            </a:bodyPr>
            <a:lstStyle/>
            <a:p>
              <a:pPr algn="l"/>
              <a:r>
                <a:rPr lang="zh-CN" sz="1350" dirty="0">
                  <a:solidFill>
                    <a:srgbClr val="657174"/>
                  </a:solidFill>
                  <a:latin typeface="+mn-lt"/>
                  <a:ea typeface="+mn-ea"/>
                  <a:cs typeface="+mn-cs"/>
                </a:rPr>
                <a:t>家庭车辆 · 校巴 · 有限出租车队</a:t>
              </a:r>
            </a:p>
          </p:txBody>
        </p:sp>
        <p:sp>
          <p:nvSpPr>
            <p:cNvPr id="20" name="Rectangle 20"/>
            <p:cNvSpPr/>
            <p:nvPr/>
          </p:nvSpPr>
          <p:spPr>
            <a:xfrm>
              <a:off x="7905750" y="3905250"/>
              <a:ext cx="76200" cy="533400"/>
            </a:xfrm>
            <a:prstGeom prst="rect">
              <a:avLst/>
            </a:prstGeom>
            <a:solidFill>
              <a:schemeClr val="accent3"/>
            </a:solidFill>
            <a:ln>
              <a:noFill/>
            </a:ln>
          </p:spPr>
        </p:sp>
        <p:sp>
          <p:nvSpPr>
            <p:cNvPr id="21" name="TextBox 21"/>
            <p:cNvSpPr txBox="1"/>
            <p:nvPr/>
          </p:nvSpPr>
          <p:spPr>
            <a:xfrm>
              <a:off x="8164830" y="3952875"/>
              <a:ext cx="1024890"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信号控制层</a:t>
              </a:r>
            </a:p>
          </p:txBody>
        </p:sp>
        <p:sp>
          <p:nvSpPr>
            <p:cNvPr id="22" name="TextBox 22"/>
            <p:cNvSpPr txBox="1"/>
            <p:nvPr/>
          </p:nvSpPr>
          <p:spPr>
            <a:xfrm>
              <a:off x="8165592" y="4235768"/>
              <a:ext cx="2612555" cy="264033"/>
            </a:xfrm>
            <a:prstGeom prst="rect">
              <a:avLst/>
            </a:prstGeom>
            <a:noFill/>
            <a:ln>
              <a:noFill/>
            </a:ln>
          </p:spPr>
          <p:txBody>
            <a:bodyPr wrap="none" lIns="0" tIns="0" rIns="0" bIns="0" anchor="t" anchorCtr="0">
              <a:spAutoFit/>
            </a:bodyPr>
            <a:lstStyle/>
            <a:p>
              <a:pPr algn="l"/>
              <a:r>
                <a:rPr lang="zh-CN" sz="1350" dirty="0">
                  <a:solidFill>
                    <a:srgbClr val="657174"/>
                  </a:solidFill>
                  <a:latin typeface="+mn-lt"/>
                  <a:ea typeface="+mn-ea"/>
                  <a:cs typeface="+mn-cs"/>
                </a:rPr>
                <a:t>信号系统 · 受控转向 · 绿波偏移</a:t>
              </a:r>
            </a:p>
          </p:txBody>
        </p:sp>
        <p:sp>
          <p:nvSpPr>
            <p:cNvPr id="23" name="Rectangle 23"/>
            <p:cNvSpPr/>
            <p:nvPr/>
          </p:nvSpPr>
          <p:spPr>
            <a:xfrm>
              <a:off x="7905750" y="4629150"/>
              <a:ext cx="76200" cy="533400"/>
            </a:xfrm>
            <a:prstGeom prst="rect">
              <a:avLst/>
            </a:prstGeom>
            <a:solidFill>
              <a:schemeClr val="dk1"/>
            </a:solidFill>
            <a:ln>
              <a:noFill/>
            </a:ln>
          </p:spPr>
        </p:sp>
        <p:sp>
          <p:nvSpPr>
            <p:cNvPr id="24" name="TextBox 24"/>
            <p:cNvSpPr txBox="1"/>
            <p:nvPr/>
          </p:nvSpPr>
          <p:spPr>
            <a:xfrm>
              <a:off x="8164830" y="4676775"/>
              <a:ext cx="621030"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审计层</a:t>
              </a:r>
            </a:p>
          </p:txBody>
        </p:sp>
        <p:sp>
          <p:nvSpPr>
            <p:cNvPr id="25" name="TextBox 25"/>
            <p:cNvSpPr txBox="1"/>
            <p:nvPr/>
          </p:nvSpPr>
          <p:spPr>
            <a:xfrm>
              <a:off x="8165592" y="4959668"/>
              <a:ext cx="2794292" cy="264033"/>
            </a:xfrm>
            <a:prstGeom prst="rect">
              <a:avLst/>
            </a:prstGeom>
            <a:noFill/>
            <a:ln>
              <a:noFill/>
            </a:ln>
          </p:spPr>
          <p:txBody>
            <a:bodyPr wrap="none" lIns="0" tIns="0" rIns="0" bIns="0" anchor="t" anchorCtr="0">
              <a:spAutoFit/>
            </a:bodyPr>
            <a:lstStyle/>
            <a:p>
              <a:pPr algn="l"/>
              <a:r>
                <a:rPr lang="zh-CN" sz="1350" dirty="0">
                  <a:solidFill>
                    <a:srgbClr val="657174"/>
                  </a:solidFill>
                  <a:latin typeface="+mn-lt"/>
                  <a:ea typeface="+mn-ea"/>
                  <a:cs typeface="+mn-cs"/>
                </a:rPr>
                <a:t>命名主体 · 事件时间 · 显式缺失值</a:t>
              </a:r>
            </a:p>
          </p:txBody>
        </p:sp>
        <p:sp>
          <p:nvSpPr>
            <p:cNvPr id="26" name="Line 26"/>
            <p:cNvSpPr/>
            <p:nvPr/>
          </p:nvSpPr>
          <p:spPr>
            <a:xfrm>
              <a:off x="7905750" y="5429250"/>
              <a:ext cx="3390900" cy="9525"/>
            </a:xfrm>
            <a:custGeom>
              <a:avLst/>
              <a:gdLst/>
              <a:ahLst/>
              <a:cxnLst/>
              <a:rect l="l" t="t" r="r" b="b"/>
              <a:pathLst>
                <a:path w="3390900" h="9525">
                  <a:moveTo>
                    <a:pt x="0" y="0"/>
                  </a:moveTo>
                  <a:lnTo>
                    <a:pt x="3390900" y="0"/>
                  </a:lnTo>
                </a:path>
              </a:pathLst>
            </a:custGeom>
            <a:noFill/>
            <a:ln w="28575">
              <a:solidFill>
                <a:schemeClr val="accent2"/>
              </a:solidFill>
            </a:ln>
          </p:spPr>
        </p:sp>
        <p:sp>
          <p:nvSpPr>
            <p:cNvPr id="27" name="TextBox 27"/>
            <p:cNvSpPr txBox="1"/>
            <p:nvPr/>
          </p:nvSpPr>
          <p:spPr>
            <a:xfrm>
              <a:off x="7899654" y="5585460"/>
              <a:ext cx="3751936" cy="234696"/>
            </a:xfrm>
            <a:prstGeom prst="rect">
              <a:avLst/>
            </a:prstGeom>
            <a:noFill/>
            <a:ln>
              <a:noFill/>
            </a:ln>
          </p:spPr>
          <p:txBody>
            <a:bodyPr wrap="none" lIns="0" tIns="0" rIns="0" bIns="0" anchor="t" anchorCtr="0">
              <a:spAutoFit/>
            </a:bodyPr>
            <a:lstStyle/>
            <a:p>
              <a:pPr algn="l"/>
              <a:r>
                <a:rPr lang="zh-CN" sz="1200" dirty="0">
                  <a:solidFill>
                    <a:srgbClr val="657174"/>
                  </a:solidFill>
                  <a:latin typeface="+mn-lt"/>
                  <a:ea typeface="+mn-ea"/>
                  <a:cs typeface="+mn-cs"/>
                </a:rPr>
                <a:t>18 districts · iteration-49 sensitivity evidence</a:t>
              </a:r>
            </a:p>
          </p:txBody>
        </p:sp>
      </p:grpSp>
      <p:sp>
        <p:nvSpPr>
          <p:cNvPr id="29" name="TextBox 29"/>
          <p:cNvSpPr txBox="1"/>
          <p:nvPr/>
        </p:nvSpPr>
        <p:spPr>
          <a:xfrm>
            <a:off x="603504" y="6309360"/>
            <a:ext cx="6635496" cy="234696"/>
          </a:xfrm>
          <a:prstGeom prst="rect">
            <a:avLst/>
          </a:prstGeom>
          <a:noFill/>
          <a:ln>
            <a:noFill/>
          </a:ln>
        </p:spPr>
        <p:txBody>
          <a:bodyPr wrap="none" lIns="0" tIns="0" rIns="0" bIns="0" anchor="t" anchorCtr="0">
            <a:spAutoFit/>
          </a:bodyPr>
          <a:lstStyle/>
          <a:p>
            <a:pPr algn="l"/>
            <a:r>
              <a:rPr lang="zh-CN" sz="1200" dirty="0">
                <a:solidFill>
                  <a:srgbClr val="657174"/>
                </a:solidFill>
                <a:latin typeface="+mn-lt"/>
                <a:ea typeface="+mn-ea"/>
                <a:cs typeface="+mn-cs"/>
              </a:rPr>
              <a:t>证据边界：候选／验证结果，用于说明新增机制已经可运行；不重新定义已采用的生产情景。</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14300" cy="6858000"/>
          </a:xfrm>
          <a:prstGeom prst="rect">
            <a:avLst/>
          </a:prstGeom>
          <a:solidFill>
            <a:schemeClr val="accent2"/>
          </a:solidFill>
          <a:ln>
            <a:noFill/>
          </a:ln>
        </p:spPr>
      </p:sp>
      <p:grpSp>
        <p:nvGrpSpPr>
          <p:cNvPr id="7" name="Group 7"/>
          <p:cNvGrpSpPr/>
          <p:nvPr/>
        </p:nvGrpSpPr>
        <p:grpSpPr>
          <a:xfrm>
            <a:off x="594360" y="384810"/>
            <a:ext cx="10689336" cy="1080135"/>
            <a:chOff x="594360" y="384810"/>
            <a:chExt cx="10689336" cy="1080135"/>
          </a:xfrm>
        </p:grpSpPr>
        <p:sp>
          <p:nvSpPr>
            <p:cNvPr id="3" name="TextBox 3"/>
            <p:cNvSpPr txBox="1"/>
            <p:nvPr/>
          </p:nvSpPr>
          <p:spPr>
            <a:xfrm>
              <a:off x="603504" y="384810"/>
              <a:ext cx="1577401" cy="234696"/>
            </a:xfrm>
            <a:prstGeom prst="rect">
              <a:avLst/>
            </a:prstGeom>
            <a:noFill/>
            <a:ln>
              <a:noFill/>
            </a:ln>
          </p:spPr>
          <p:txBody>
            <a:bodyPr wrap="none" lIns="0" tIns="0" rIns="0" bIns="0" anchor="t" anchorCtr="0">
              <a:spAutoFit/>
            </a:bodyPr>
            <a:lstStyle/>
            <a:p>
              <a:pPr algn="l"/>
              <a:r>
                <a:rPr lang="zh-CN" sz="1200" b="1" spc="75" dirty="0">
                  <a:solidFill>
                    <a:schemeClr val="accent2"/>
                  </a:solidFill>
                  <a:latin typeface="+mn-lt"/>
                  <a:ea typeface="+mn-ea"/>
                  <a:cs typeface="+mn-cs"/>
                </a:rPr>
                <a:t>03 · SCHOOL BUS</a:t>
              </a:r>
            </a:p>
          </p:txBody>
        </p:sp>
        <p:sp>
          <p:nvSpPr>
            <p:cNvPr id="4" name="TextBox 4"/>
            <p:cNvSpPr txBox="1"/>
            <p:nvPr/>
          </p:nvSpPr>
          <p:spPr>
            <a:xfrm>
              <a:off x="594360" y="666750"/>
              <a:ext cx="8107680"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十秒级步行时间误差，决定校巴能否真实登乘</a:t>
              </a:r>
            </a:p>
          </p:txBody>
        </p:sp>
        <p:sp>
          <p:nvSpPr>
            <p:cNvPr id="5" name="TextBox 5"/>
            <p:cNvSpPr txBox="1"/>
            <p:nvPr/>
          </p:nvSpPr>
          <p:spPr>
            <a:xfrm>
              <a:off x="601980" y="1171575"/>
              <a:ext cx="5134166" cy="293370"/>
            </a:xfrm>
            <a:prstGeom prst="rect">
              <a:avLst/>
            </a:prstGeom>
            <a:noFill/>
            <a:ln>
              <a:noFill/>
            </a:ln>
          </p:spPr>
          <p:txBody>
            <a:bodyPr wrap="none" lIns="0" tIns="0" rIns="0" bIns="0" anchor="t" anchorCtr="0">
              <a:spAutoFit/>
            </a:bodyPr>
            <a:lstStyle/>
            <a:p>
              <a:pPr algn="l"/>
              <a:r>
                <a:rPr lang="zh-CN" sz="1500" dirty="0">
                  <a:solidFill>
                    <a:srgbClr val="657174"/>
                  </a:solidFill>
                  <a:latin typeface="+mn-lt"/>
                  <a:ea typeface="+mn-ea"/>
                  <a:cs typeface="+mn-cs"/>
                </a:rPr>
                <a:t>真实行程 hk_person_00632810 · 从错过车辆到恢复登乘</a:t>
              </a:r>
            </a:p>
          </p:txBody>
        </p:sp>
        <p:sp>
          <p:nvSpPr>
            <p:cNvPr id="6" name="TextBox 6"/>
            <p:cNvSpPr txBox="1"/>
            <p:nvPr/>
          </p:nvSpPr>
          <p:spPr>
            <a:xfrm>
              <a:off x="10730332" y="384810"/>
              <a:ext cx="553364" cy="234696"/>
            </a:xfrm>
            <a:prstGeom prst="rect">
              <a:avLst/>
            </a:prstGeom>
            <a:noFill/>
            <a:ln>
              <a:noFill/>
            </a:ln>
          </p:spPr>
          <p:txBody>
            <a:bodyPr wrap="none" lIns="0" tIns="0" rIns="0" bIns="0" anchor="t" anchorCtr="0">
              <a:spAutoFit/>
            </a:bodyPr>
            <a:lstStyle/>
            <a:p>
              <a:pPr algn="r"/>
              <a:r>
                <a:rPr lang="zh-CN" sz="1200" dirty="0">
                  <a:solidFill>
                    <a:srgbClr val="657174"/>
                  </a:solidFill>
                  <a:latin typeface="+mn-lt"/>
                  <a:ea typeface="+mn-ea"/>
                  <a:cs typeface="+mn-cs"/>
                </a:rPr>
                <a:t>04 / 11</a:t>
              </a:r>
            </a:p>
          </p:txBody>
        </p:sp>
      </p:grpSp>
      <p:grpSp>
        <p:nvGrpSpPr>
          <p:cNvPr id="10" name="Group 10"/>
          <p:cNvGrpSpPr/>
          <p:nvPr/>
        </p:nvGrpSpPr>
        <p:grpSpPr>
          <a:xfrm>
            <a:off x="609600" y="1619250"/>
            <a:ext cx="7334250" cy="4400550"/>
            <a:chOff x="609600" y="1619250"/>
            <a:chExt cx="7334250" cy="4400550"/>
          </a:xfrm>
        </p:grpSpPr>
        <p:sp>
          <p:nvSpPr>
            <p:cNvPr id="8" name="Rectangle 8"/>
            <p:cNvSpPr/>
            <p:nvPr/>
          </p:nvSpPr>
          <p:spPr>
            <a:xfrm>
              <a:off x="609600" y="1619250"/>
              <a:ext cx="7334250" cy="4400550"/>
            </a:xfrm>
            <a:prstGeom prst="rect">
              <a:avLst/>
            </a:prstGeom>
            <a:solidFill>
              <a:schemeClr val="lt1"/>
            </a:solidFill>
            <a:ln w="9525">
              <a:solidFill>
                <a:srgbClr val="CBD2D0"/>
              </a:solidFill>
            </a:ln>
          </p:spPr>
        </p:sp>
        <p:pic>
          <p:nvPicPr>
            <p:cNvPr id="9" name="Image 9"/>
            <p:cNvPicPr>
              <a:picLocks noChangeAspect="1"/>
            </p:cNvPicPr>
            <p:nvPr/>
          </p:nvPicPr>
          <p:blipFill>
            <a:blip r:embed="rId2"/>
            <a:stretch>
              <a:fillRect/>
            </a:stretch>
          </p:blipFill>
          <p:spPr>
            <a:xfrm>
              <a:off x="625475" y="1628775"/>
              <a:ext cx="7302500" cy="4381500"/>
            </a:xfrm>
            <a:prstGeom prst="rect">
              <a:avLst/>
            </a:prstGeom>
          </p:spPr>
        </p:pic>
      </p:grpSp>
      <p:grpSp>
        <p:nvGrpSpPr>
          <p:cNvPr id="26" name="Group 26"/>
          <p:cNvGrpSpPr/>
          <p:nvPr/>
        </p:nvGrpSpPr>
        <p:grpSpPr>
          <a:xfrm>
            <a:off x="8229600" y="1619250"/>
            <a:ext cx="3352800" cy="4400550"/>
            <a:chOff x="8229600" y="1619250"/>
            <a:chExt cx="3352800" cy="4400550"/>
          </a:xfrm>
        </p:grpSpPr>
        <p:sp>
          <p:nvSpPr>
            <p:cNvPr id="11" name="Rectangle 11"/>
            <p:cNvSpPr/>
            <p:nvPr/>
          </p:nvSpPr>
          <p:spPr>
            <a:xfrm>
              <a:off x="8229600" y="1619250"/>
              <a:ext cx="3352800" cy="4400550"/>
            </a:xfrm>
            <a:prstGeom prst="rect">
              <a:avLst/>
            </a:prstGeom>
            <a:solidFill>
              <a:schemeClr val="accent5"/>
            </a:solidFill>
            <a:ln>
              <a:noFill/>
            </a:ln>
          </p:spPr>
        </p:sp>
        <p:sp>
          <p:nvSpPr>
            <p:cNvPr id="12" name="TextBox 12"/>
            <p:cNvSpPr txBox="1"/>
            <p:nvPr/>
          </p:nvSpPr>
          <p:spPr>
            <a:xfrm>
              <a:off x="8506968" y="1803082"/>
              <a:ext cx="1571625"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决定性事件时间</a:t>
              </a:r>
            </a:p>
          </p:txBody>
        </p:sp>
        <p:sp>
          <p:nvSpPr>
            <p:cNvPr id="13" name="Line 13"/>
            <p:cNvSpPr/>
            <p:nvPr/>
          </p:nvSpPr>
          <p:spPr>
            <a:xfrm>
              <a:off x="8705850" y="2400300"/>
              <a:ext cx="9525" cy="2324100"/>
            </a:xfrm>
            <a:custGeom>
              <a:avLst/>
              <a:gdLst/>
              <a:ahLst/>
              <a:cxnLst/>
              <a:rect l="l" t="t" r="r" b="b"/>
              <a:pathLst>
                <a:path w="9525" h="2324100">
                  <a:moveTo>
                    <a:pt x="0" y="0"/>
                  </a:moveTo>
                  <a:lnTo>
                    <a:pt x="0" y="2324100"/>
                  </a:lnTo>
                </a:path>
              </a:pathLst>
            </a:custGeom>
            <a:noFill/>
            <a:ln w="28575">
              <a:solidFill>
                <a:srgbClr val="CBD2D0"/>
              </a:solidFill>
            </a:ln>
          </p:spPr>
        </p:sp>
        <p:sp>
          <p:nvSpPr>
            <p:cNvPr id="14" name="Ellipse 14"/>
            <p:cNvSpPr/>
            <p:nvPr/>
          </p:nvSpPr>
          <p:spPr>
            <a:xfrm>
              <a:off x="8610600" y="2533650"/>
              <a:ext cx="190500" cy="190500"/>
            </a:xfrm>
            <a:prstGeom prst="ellipse">
              <a:avLst/>
            </a:prstGeom>
            <a:solidFill>
              <a:schemeClr val="accent2"/>
            </a:solidFill>
            <a:ln>
              <a:noFill/>
            </a:ln>
          </p:spPr>
        </p:sp>
        <p:sp>
          <p:nvSpPr>
            <p:cNvPr id="15" name="TextBox 15"/>
            <p:cNvSpPr txBox="1"/>
            <p:nvPr/>
          </p:nvSpPr>
          <p:spPr>
            <a:xfrm>
              <a:off x="8984742" y="2406968"/>
              <a:ext cx="1012721" cy="264033"/>
            </a:xfrm>
            <a:prstGeom prst="rect">
              <a:avLst/>
            </a:prstGeom>
            <a:noFill/>
            <a:ln>
              <a:noFill/>
            </a:ln>
          </p:spPr>
          <p:txBody>
            <a:bodyPr wrap="none" lIns="0" tIns="0" rIns="0" bIns="0" anchor="t" anchorCtr="0">
              <a:spAutoFit/>
            </a:bodyPr>
            <a:lstStyle/>
            <a:p>
              <a:pPr algn="l"/>
              <a:r>
                <a:rPr lang="zh-CN" sz="1350" b="1" dirty="0">
                  <a:solidFill>
                    <a:srgbClr val="657174"/>
                  </a:solidFill>
                  <a:latin typeface="+mn-lt"/>
                  <a:ea typeface="+mn-ea"/>
                  <a:cs typeface="+mn-cs"/>
                </a:rPr>
                <a:t>RUN56 到达</a:t>
              </a:r>
            </a:p>
          </p:txBody>
        </p:sp>
        <p:sp>
          <p:nvSpPr>
            <p:cNvPr id="16" name="TextBox 16"/>
            <p:cNvSpPr txBox="1"/>
            <p:nvPr/>
          </p:nvSpPr>
          <p:spPr>
            <a:xfrm>
              <a:off x="8976360" y="2571750"/>
              <a:ext cx="1896313" cy="586740"/>
            </a:xfrm>
            <a:prstGeom prst="rect">
              <a:avLst/>
            </a:prstGeom>
            <a:noFill/>
            <a:ln>
              <a:noFill/>
            </a:ln>
          </p:spPr>
          <p:txBody>
            <a:bodyPr wrap="none" lIns="0" tIns="0" rIns="0" bIns="0" anchor="t" anchorCtr="0">
              <a:spAutoFit/>
            </a:bodyPr>
            <a:lstStyle/>
            <a:p>
              <a:pPr algn="l"/>
              <a:r>
                <a:rPr lang="zh-CN" sz="3000" b="1" dirty="0">
                  <a:solidFill>
                    <a:schemeClr val="accent2"/>
                  </a:solidFill>
                  <a:latin typeface="+mn-lt"/>
                  <a:ea typeface="+mn-ea"/>
                  <a:cs typeface="+mn-cs"/>
                </a:rPr>
                <a:t>07:38:17</a:t>
              </a:r>
            </a:p>
          </p:txBody>
        </p:sp>
        <p:sp>
          <p:nvSpPr>
            <p:cNvPr id="17" name="Ellipse 17"/>
            <p:cNvSpPr/>
            <p:nvPr/>
          </p:nvSpPr>
          <p:spPr>
            <a:xfrm>
              <a:off x="8610600" y="3486150"/>
              <a:ext cx="190500" cy="190500"/>
            </a:xfrm>
            <a:prstGeom prst="ellipse">
              <a:avLst/>
            </a:prstGeom>
            <a:solidFill>
              <a:schemeClr val="dk1"/>
            </a:solidFill>
            <a:ln>
              <a:noFill/>
            </a:ln>
          </p:spPr>
        </p:sp>
        <p:sp>
          <p:nvSpPr>
            <p:cNvPr id="18" name="TextBox 18"/>
            <p:cNvSpPr txBox="1"/>
            <p:nvPr/>
          </p:nvSpPr>
          <p:spPr>
            <a:xfrm>
              <a:off x="8984742" y="3359468"/>
              <a:ext cx="1104138" cy="264033"/>
            </a:xfrm>
            <a:prstGeom prst="rect">
              <a:avLst/>
            </a:prstGeom>
            <a:noFill/>
            <a:ln>
              <a:noFill/>
            </a:ln>
          </p:spPr>
          <p:txBody>
            <a:bodyPr wrap="none" lIns="0" tIns="0" rIns="0" bIns="0" anchor="t" anchorCtr="0">
              <a:spAutoFit/>
            </a:bodyPr>
            <a:lstStyle/>
            <a:p>
              <a:pPr algn="l"/>
              <a:r>
                <a:rPr lang="zh-CN" sz="1350" b="1" dirty="0">
                  <a:solidFill>
                    <a:srgbClr val="657174"/>
                  </a:solidFill>
                  <a:latin typeface="+mn-lt"/>
                  <a:ea typeface="+mn-ea"/>
                  <a:cs typeface="+mn-cs"/>
                </a:rPr>
                <a:t>车辆登乘事件</a:t>
              </a:r>
            </a:p>
          </p:txBody>
        </p:sp>
        <p:sp>
          <p:nvSpPr>
            <p:cNvPr id="19" name="TextBox 19"/>
            <p:cNvSpPr txBox="1"/>
            <p:nvPr/>
          </p:nvSpPr>
          <p:spPr>
            <a:xfrm>
              <a:off x="8976360" y="3524250"/>
              <a:ext cx="1896313"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07:38:14</a:t>
              </a:r>
            </a:p>
          </p:txBody>
        </p:sp>
        <p:sp>
          <p:nvSpPr>
            <p:cNvPr id="20" name="Ellipse 20"/>
            <p:cNvSpPr/>
            <p:nvPr/>
          </p:nvSpPr>
          <p:spPr>
            <a:xfrm>
              <a:off x="8610600" y="4438650"/>
              <a:ext cx="190500" cy="190500"/>
            </a:xfrm>
            <a:prstGeom prst="ellipse">
              <a:avLst/>
            </a:prstGeom>
            <a:solidFill>
              <a:schemeClr val="accent1"/>
            </a:solidFill>
            <a:ln>
              <a:noFill/>
            </a:ln>
          </p:spPr>
        </p:sp>
        <p:sp>
          <p:nvSpPr>
            <p:cNvPr id="21" name="TextBox 21"/>
            <p:cNvSpPr txBox="1"/>
            <p:nvPr/>
          </p:nvSpPr>
          <p:spPr>
            <a:xfrm>
              <a:off x="8984742" y="4311968"/>
              <a:ext cx="1588793" cy="264033"/>
            </a:xfrm>
            <a:prstGeom prst="rect">
              <a:avLst/>
            </a:prstGeom>
            <a:noFill/>
            <a:ln>
              <a:noFill/>
            </a:ln>
          </p:spPr>
          <p:txBody>
            <a:bodyPr wrap="none" lIns="0" tIns="0" rIns="0" bIns="0" anchor="t" anchorCtr="0">
              <a:spAutoFit/>
            </a:bodyPr>
            <a:lstStyle/>
            <a:p>
              <a:pPr algn="l"/>
              <a:r>
                <a:rPr lang="zh-CN" sz="1350" b="1" dirty="0">
                  <a:solidFill>
                    <a:srgbClr val="657174"/>
                  </a:solidFill>
                  <a:latin typeface="+mn-lt"/>
                  <a:ea typeface="+mn-ea"/>
                  <a:cs typeface="+mn-cs"/>
                </a:rPr>
                <a:t>RUN57 修复后到达</a:t>
              </a:r>
            </a:p>
          </p:txBody>
        </p:sp>
        <p:sp>
          <p:nvSpPr>
            <p:cNvPr id="22" name="TextBox 22"/>
            <p:cNvSpPr txBox="1"/>
            <p:nvPr/>
          </p:nvSpPr>
          <p:spPr>
            <a:xfrm>
              <a:off x="8976360" y="4476750"/>
              <a:ext cx="1896313"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07:38:07</a:t>
              </a:r>
            </a:p>
          </p:txBody>
        </p:sp>
        <p:sp>
          <p:nvSpPr>
            <p:cNvPr id="23" name="Line 23"/>
            <p:cNvSpPr/>
            <p:nvPr/>
          </p:nvSpPr>
          <p:spPr>
            <a:xfrm>
              <a:off x="8515350" y="5181600"/>
              <a:ext cx="2781300" cy="9525"/>
            </a:xfrm>
            <a:custGeom>
              <a:avLst/>
              <a:gdLst/>
              <a:ahLst/>
              <a:cxnLst/>
              <a:rect l="l" t="t" r="r" b="b"/>
              <a:pathLst>
                <a:path w="2781300" h="9525">
                  <a:moveTo>
                    <a:pt x="0" y="0"/>
                  </a:moveTo>
                  <a:lnTo>
                    <a:pt x="2781300" y="0"/>
                  </a:lnTo>
                </a:path>
              </a:pathLst>
            </a:custGeom>
            <a:noFill/>
            <a:ln w="9525">
              <a:solidFill>
                <a:srgbClr val="CBD2D0"/>
              </a:solidFill>
            </a:ln>
          </p:spPr>
        </p:sp>
        <p:sp>
          <p:nvSpPr>
            <p:cNvPr id="24" name="TextBox 24"/>
            <p:cNvSpPr txBox="1"/>
            <p:nvPr/>
          </p:nvSpPr>
          <p:spPr>
            <a:xfrm>
              <a:off x="8506968" y="5327332"/>
              <a:ext cx="3063736"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20 links → 修复 10 s 累积误差</a:t>
              </a:r>
            </a:p>
          </p:txBody>
        </p:sp>
        <p:sp>
          <p:nvSpPr>
            <p:cNvPr id="25" name="TextBox 25"/>
            <p:cNvSpPr txBox="1"/>
            <p:nvPr/>
          </p:nvSpPr>
          <p:spPr>
            <a:xfrm>
              <a:off x="8509254" y="5680710"/>
              <a:ext cx="2112264" cy="234696"/>
            </a:xfrm>
            <a:prstGeom prst="rect">
              <a:avLst/>
            </a:prstGeom>
            <a:noFill/>
            <a:ln>
              <a:noFill/>
            </a:ln>
          </p:spPr>
          <p:txBody>
            <a:bodyPr wrap="none" lIns="0" tIns="0" rIns="0" bIns="0" anchor="t" anchorCtr="0">
              <a:spAutoFit/>
            </a:bodyPr>
            <a:lstStyle/>
            <a:p>
              <a:pPr algn="l"/>
              <a:r>
                <a:rPr lang="zh-CN" sz="1200" dirty="0">
                  <a:solidFill>
                    <a:srgbClr val="657174"/>
                  </a:solidFill>
                  <a:latin typeface="+mn-lt"/>
                  <a:ea typeface="+mn-ea"/>
                  <a:cs typeface="+mn-cs"/>
                </a:rPr>
                <a:t>连续时长替代逐链接整数取整</a:t>
              </a:r>
            </a:p>
          </p:txBody>
        </p:sp>
      </p:grpSp>
      <p:sp>
        <p:nvSpPr>
          <p:cNvPr id="27" name="TextBox 27"/>
          <p:cNvSpPr txBox="1"/>
          <p:nvPr/>
        </p:nvSpPr>
        <p:spPr>
          <a:xfrm>
            <a:off x="603504" y="6309360"/>
            <a:ext cx="5940857" cy="234696"/>
          </a:xfrm>
          <a:prstGeom prst="rect">
            <a:avLst/>
          </a:prstGeom>
          <a:noFill/>
          <a:ln>
            <a:noFill/>
          </a:ln>
        </p:spPr>
        <p:txBody>
          <a:bodyPr wrap="none" lIns="0" tIns="0" rIns="0" bIns="0" anchor="t" anchorCtr="0">
            <a:spAutoFit/>
          </a:bodyPr>
          <a:lstStyle/>
          <a:p>
            <a:pPr algn="l"/>
            <a:r>
              <a:rPr lang="zh-CN" sz="1200" dirty="0">
                <a:solidFill>
                  <a:srgbClr val="657174"/>
                </a:solidFill>
                <a:latin typeface="+mn-lt"/>
                <a:ea typeface="+mn-ea"/>
                <a:cs typeface="+mn-cs"/>
              </a:rPr>
              <a:t>图中路线与事件来自实际选中行程；下方面板展示误差如何沿 20 条步行链接累积。</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14300" cy="6858000"/>
          </a:xfrm>
          <a:prstGeom prst="rect">
            <a:avLst/>
          </a:prstGeom>
          <a:solidFill>
            <a:schemeClr val="accent1"/>
          </a:solidFill>
          <a:ln>
            <a:noFill/>
          </a:ln>
        </p:spPr>
      </p:sp>
      <p:grpSp>
        <p:nvGrpSpPr>
          <p:cNvPr id="7" name="Group 7"/>
          <p:cNvGrpSpPr/>
          <p:nvPr/>
        </p:nvGrpSpPr>
        <p:grpSpPr>
          <a:xfrm>
            <a:off x="594360" y="384810"/>
            <a:ext cx="10689336" cy="1080135"/>
            <a:chOff x="594360" y="384810"/>
            <a:chExt cx="10689336" cy="1080135"/>
          </a:xfrm>
        </p:grpSpPr>
        <p:sp>
          <p:nvSpPr>
            <p:cNvPr id="3" name="TextBox 3"/>
            <p:cNvSpPr txBox="1"/>
            <p:nvPr/>
          </p:nvSpPr>
          <p:spPr>
            <a:xfrm>
              <a:off x="603504" y="384810"/>
              <a:ext cx="2297278" cy="234696"/>
            </a:xfrm>
            <a:prstGeom prst="rect">
              <a:avLst/>
            </a:prstGeom>
            <a:noFill/>
            <a:ln>
              <a:noFill/>
            </a:ln>
          </p:spPr>
          <p:txBody>
            <a:bodyPr wrap="none" lIns="0" tIns="0" rIns="0" bIns="0" anchor="t" anchorCtr="0">
              <a:spAutoFit/>
            </a:bodyPr>
            <a:lstStyle/>
            <a:p>
              <a:pPr algn="l"/>
              <a:r>
                <a:rPr lang="zh-CN" sz="1200" b="1" spc="75" dirty="0">
                  <a:solidFill>
                    <a:schemeClr val="accent1"/>
                  </a:solidFill>
                  <a:latin typeface="+mn-lt"/>
                  <a:ea typeface="+mn-ea"/>
                  <a:cs typeface="+mn-cs"/>
                </a:rPr>
                <a:t>04 · HOUSEHOLD VEHICLE</a:t>
              </a:r>
            </a:p>
          </p:txBody>
        </p:sp>
        <p:sp>
          <p:nvSpPr>
            <p:cNvPr id="4" name="TextBox 4"/>
            <p:cNvSpPr txBox="1"/>
            <p:nvPr/>
          </p:nvSpPr>
          <p:spPr>
            <a:xfrm>
              <a:off x="594360" y="666750"/>
              <a:ext cx="6492240"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私家车成为家庭共享的稀缺物理资源</a:t>
              </a:r>
            </a:p>
          </p:txBody>
        </p:sp>
        <p:sp>
          <p:nvSpPr>
            <p:cNvPr id="5" name="TextBox 5"/>
            <p:cNvSpPr txBox="1"/>
            <p:nvPr/>
          </p:nvSpPr>
          <p:spPr>
            <a:xfrm>
              <a:off x="601980" y="1171575"/>
              <a:ext cx="3851910" cy="293370"/>
            </a:xfrm>
            <a:prstGeom prst="rect">
              <a:avLst/>
            </a:prstGeom>
            <a:noFill/>
            <a:ln>
              <a:noFill/>
            </a:ln>
          </p:spPr>
          <p:txBody>
            <a:bodyPr wrap="none" lIns="0" tIns="0" rIns="0" bIns="0" anchor="t" anchorCtr="0">
              <a:spAutoFit/>
            </a:bodyPr>
            <a:lstStyle/>
            <a:p>
              <a:pPr algn="l"/>
              <a:r>
                <a:rPr lang="zh-CN" sz="1500" dirty="0">
                  <a:solidFill>
                    <a:srgbClr val="657174"/>
                  </a:solidFill>
                  <a:latin typeface="+mn-lt"/>
                  <a:ea typeface="+mn-ea"/>
                  <a:cs typeface="+mn-cs"/>
                </a:rPr>
                <a:t>同一辆车完成送学、上班、接人和共同返程</a:t>
              </a:r>
            </a:p>
          </p:txBody>
        </p:sp>
        <p:sp>
          <p:nvSpPr>
            <p:cNvPr id="6" name="TextBox 6"/>
            <p:cNvSpPr txBox="1"/>
            <p:nvPr/>
          </p:nvSpPr>
          <p:spPr>
            <a:xfrm>
              <a:off x="10730332" y="384810"/>
              <a:ext cx="553364" cy="234696"/>
            </a:xfrm>
            <a:prstGeom prst="rect">
              <a:avLst/>
            </a:prstGeom>
            <a:noFill/>
            <a:ln>
              <a:noFill/>
            </a:ln>
          </p:spPr>
          <p:txBody>
            <a:bodyPr wrap="none" lIns="0" tIns="0" rIns="0" bIns="0" anchor="t" anchorCtr="0">
              <a:spAutoFit/>
            </a:bodyPr>
            <a:lstStyle/>
            <a:p>
              <a:pPr algn="r"/>
              <a:r>
                <a:rPr lang="zh-CN" sz="1200" dirty="0">
                  <a:solidFill>
                    <a:srgbClr val="657174"/>
                  </a:solidFill>
                  <a:latin typeface="+mn-lt"/>
                  <a:ea typeface="+mn-ea"/>
                  <a:cs typeface="+mn-cs"/>
                </a:rPr>
                <a:t>05 / 11</a:t>
              </a:r>
            </a:p>
          </p:txBody>
        </p:sp>
      </p:grpSp>
      <p:grpSp>
        <p:nvGrpSpPr>
          <p:cNvPr id="10" name="Group 10"/>
          <p:cNvGrpSpPr/>
          <p:nvPr/>
        </p:nvGrpSpPr>
        <p:grpSpPr>
          <a:xfrm>
            <a:off x="609600" y="1695450"/>
            <a:ext cx="8096250" cy="4324350"/>
            <a:chOff x="609600" y="1695450"/>
            <a:chExt cx="8096250" cy="4324350"/>
          </a:xfrm>
        </p:grpSpPr>
        <p:sp>
          <p:nvSpPr>
            <p:cNvPr id="8" name="Rectangle 8"/>
            <p:cNvSpPr/>
            <p:nvPr/>
          </p:nvSpPr>
          <p:spPr>
            <a:xfrm>
              <a:off x="609600" y="1695450"/>
              <a:ext cx="8096250" cy="4324350"/>
            </a:xfrm>
            <a:prstGeom prst="rect">
              <a:avLst/>
            </a:prstGeom>
            <a:solidFill>
              <a:schemeClr val="lt1"/>
            </a:solidFill>
            <a:ln w="9525">
              <a:solidFill>
                <a:srgbClr val="CBD2D0"/>
              </a:solidFill>
            </a:ln>
          </p:spPr>
        </p:sp>
        <p:pic>
          <p:nvPicPr>
            <p:cNvPr id="9" name="Image 9"/>
            <p:cNvPicPr>
              <a:picLocks noChangeAspect="1"/>
            </p:cNvPicPr>
            <p:nvPr/>
          </p:nvPicPr>
          <p:blipFill>
            <a:blip r:embed="rId2"/>
            <a:stretch>
              <a:fillRect/>
            </a:stretch>
          </p:blipFill>
          <p:spPr>
            <a:xfrm>
              <a:off x="619125" y="1712119"/>
              <a:ext cx="8077200" cy="4291012"/>
            </a:xfrm>
            <a:prstGeom prst="rect">
              <a:avLst/>
            </a:prstGeom>
          </p:spPr>
        </p:pic>
      </p:grpSp>
      <p:grpSp>
        <p:nvGrpSpPr>
          <p:cNvPr id="26" name="Group 26"/>
          <p:cNvGrpSpPr/>
          <p:nvPr/>
        </p:nvGrpSpPr>
        <p:grpSpPr>
          <a:xfrm>
            <a:off x="8991600" y="1695450"/>
            <a:ext cx="2657856" cy="4324350"/>
            <a:chOff x="8991600" y="1695450"/>
            <a:chExt cx="2657856" cy="4324350"/>
          </a:xfrm>
        </p:grpSpPr>
        <p:sp>
          <p:nvSpPr>
            <p:cNvPr id="11" name="Rectangle 11"/>
            <p:cNvSpPr/>
            <p:nvPr/>
          </p:nvSpPr>
          <p:spPr>
            <a:xfrm>
              <a:off x="8991600" y="1695450"/>
              <a:ext cx="2590800" cy="4324350"/>
            </a:xfrm>
            <a:prstGeom prst="rect">
              <a:avLst/>
            </a:prstGeom>
            <a:solidFill>
              <a:schemeClr val="accent5"/>
            </a:solidFill>
            <a:ln>
              <a:noFill/>
            </a:ln>
          </p:spPr>
        </p:sp>
        <p:sp>
          <p:nvSpPr>
            <p:cNvPr id="12" name="TextBox 12"/>
            <p:cNvSpPr txBox="1"/>
            <p:nvPr/>
          </p:nvSpPr>
          <p:spPr>
            <a:xfrm>
              <a:off x="9212580" y="1857375"/>
              <a:ext cx="1428750"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命名主体与车辆</a:t>
              </a:r>
            </a:p>
          </p:txBody>
        </p:sp>
        <p:sp>
          <p:nvSpPr>
            <p:cNvPr id="13" name="Line 13"/>
            <p:cNvSpPr/>
            <p:nvPr/>
          </p:nvSpPr>
          <p:spPr>
            <a:xfrm>
              <a:off x="9220200" y="2209800"/>
              <a:ext cx="2133600" cy="9525"/>
            </a:xfrm>
            <a:custGeom>
              <a:avLst/>
              <a:gdLst/>
              <a:ahLst/>
              <a:cxnLst/>
              <a:rect l="l" t="t" r="r" b="b"/>
              <a:pathLst>
                <a:path w="2133600" h="9525">
                  <a:moveTo>
                    <a:pt x="0" y="0"/>
                  </a:moveTo>
                  <a:lnTo>
                    <a:pt x="2133600" y="0"/>
                  </a:lnTo>
                </a:path>
              </a:pathLst>
            </a:custGeom>
            <a:noFill/>
            <a:ln w="9525">
              <a:solidFill>
                <a:srgbClr val="CBD2D0"/>
              </a:solidFill>
            </a:ln>
          </p:spPr>
        </p:sp>
        <p:sp>
          <p:nvSpPr>
            <p:cNvPr id="14" name="TextBox 14"/>
            <p:cNvSpPr txBox="1"/>
            <p:nvPr/>
          </p:nvSpPr>
          <p:spPr>
            <a:xfrm>
              <a:off x="9214104" y="2366010"/>
              <a:ext cx="971032" cy="234696"/>
            </a:xfrm>
            <a:prstGeom prst="rect">
              <a:avLst/>
            </a:prstGeom>
            <a:noFill/>
            <a:ln>
              <a:noFill/>
            </a:ln>
          </p:spPr>
          <p:txBody>
            <a:bodyPr wrap="none" lIns="0" tIns="0" rIns="0" bIns="0" anchor="t" anchorCtr="0">
              <a:spAutoFit/>
            </a:bodyPr>
            <a:lstStyle/>
            <a:p>
              <a:pPr algn="l"/>
              <a:r>
                <a:rPr lang="zh-CN" sz="1200" b="1" dirty="0">
                  <a:solidFill>
                    <a:srgbClr val="657174"/>
                  </a:solidFill>
                  <a:latin typeface="+mn-lt"/>
                  <a:ea typeface="+mn-ea"/>
                  <a:cs typeface="+mn-cs"/>
                </a:rPr>
                <a:t>HOUSEHOLD</a:t>
              </a:r>
            </a:p>
          </p:txBody>
        </p:sp>
        <p:sp>
          <p:nvSpPr>
            <p:cNvPr id="15" name="TextBox 15"/>
            <p:cNvSpPr txBox="1"/>
            <p:nvPr/>
          </p:nvSpPr>
          <p:spPr>
            <a:xfrm>
              <a:off x="9214104" y="2594610"/>
              <a:ext cx="1167232"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hk_hh_1251667</a:t>
              </a:r>
            </a:p>
          </p:txBody>
        </p:sp>
        <p:sp>
          <p:nvSpPr>
            <p:cNvPr id="16" name="TextBox 16"/>
            <p:cNvSpPr txBox="1"/>
            <p:nvPr/>
          </p:nvSpPr>
          <p:spPr>
            <a:xfrm>
              <a:off x="9214104" y="2918460"/>
              <a:ext cx="558820" cy="234696"/>
            </a:xfrm>
            <a:prstGeom prst="rect">
              <a:avLst/>
            </a:prstGeom>
            <a:noFill/>
            <a:ln>
              <a:noFill/>
            </a:ln>
          </p:spPr>
          <p:txBody>
            <a:bodyPr wrap="none" lIns="0" tIns="0" rIns="0" bIns="0" anchor="t" anchorCtr="0">
              <a:spAutoFit/>
            </a:bodyPr>
            <a:lstStyle/>
            <a:p>
              <a:pPr algn="l"/>
              <a:r>
                <a:rPr lang="zh-CN" sz="1200" b="1" dirty="0">
                  <a:solidFill>
                    <a:srgbClr val="657174"/>
                  </a:solidFill>
                  <a:latin typeface="+mn-lt"/>
                  <a:ea typeface="+mn-ea"/>
                  <a:cs typeface="+mn-cs"/>
                </a:rPr>
                <a:t>DRIVER</a:t>
              </a:r>
            </a:p>
          </p:txBody>
        </p:sp>
        <p:sp>
          <p:nvSpPr>
            <p:cNvPr id="17" name="TextBox 17"/>
            <p:cNvSpPr txBox="1"/>
            <p:nvPr/>
          </p:nvSpPr>
          <p:spPr>
            <a:xfrm>
              <a:off x="9214104" y="3147060"/>
              <a:ext cx="1611478"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hk_person_03051340</a:t>
              </a:r>
            </a:p>
          </p:txBody>
        </p:sp>
        <p:sp>
          <p:nvSpPr>
            <p:cNvPr id="18" name="TextBox 18"/>
            <p:cNvSpPr txBox="1"/>
            <p:nvPr/>
          </p:nvSpPr>
          <p:spPr>
            <a:xfrm>
              <a:off x="9214104" y="3470910"/>
              <a:ext cx="702198" cy="234696"/>
            </a:xfrm>
            <a:prstGeom prst="rect">
              <a:avLst/>
            </a:prstGeom>
            <a:noFill/>
            <a:ln>
              <a:noFill/>
            </a:ln>
          </p:spPr>
          <p:txBody>
            <a:bodyPr wrap="none" lIns="0" tIns="0" rIns="0" bIns="0" anchor="t" anchorCtr="0">
              <a:spAutoFit/>
            </a:bodyPr>
            <a:lstStyle/>
            <a:p>
              <a:pPr algn="l"/>
              <a:r>
                <a:rPr lang="zh-CN" sz="1200" b="1" dirty="0">
                  <a:solidFill>
                    <a:srgbClr val="657174"/>
                  </a:solidFill>
                  <a:latin typeface="+mn-lt"/>
                  <a:ea typeface="+mn-ea"/>
                  <a:cs typeface="+mn-cs"/>
                </a:rPr>
                <a:t>STUDENT</a:t>
              </a:r>
            </a:p>
          </p:txBody>
        </p:sp>
        <p:sp>
          <p:nvSpPr>
            <p:cNvPr id="19" name="TextBox 19"/>
            <p:cNvSpPr txBox="1"/>
            <p:nvPr/>
          </p:nvSpPr>
          <p:spPr>
            <a:xfrm>
              <a:off x="9214104" y="3699510"/>
              <a:ext cx="1611478"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hk_person_03051341</a:t>
              </a:r>
            </a:p>
          </p:txBody>
        </p:sp>
        <p:sp>
          <p:nvSpPr>
            <p:cNvPr id="20" name="TextBox 20"/>
            <p:cNvSpPr txBox="1"/>
            <p:nvPr/>
          </p:nvSpPr>
          <p:spPr>
            <a:xfrm>
              <a:off x="9214104" y="4023360"/>
              <a:ext cx="657393" cy="234696"/>
            </a:xfrm>
            <a:prstGeom prst="rect">
              <a:avLst/>
            </a:prstGeom>
            <a:noFill/>
            <a:ln>
              <a:noFill/>
            </a:ln>
          </p:spPr>
          <p:txBody>
            <a:bodyPr wrap="none" lIns="0" tIns="0" rIns="0" bIns="0" anchor="t" anchorCtr="0">
              <a:spAutoFit/>
            </a:bodyPr>
            <a:lstStyle/>
            <a:p>
              <a:pPr algn="l"/>
              <a:r>
                <a:rPr lang="zh-CN" sz="1200" b="1" dirty="0">
                  <a:solidFill>
                    <a:srgbClr val="657174"/>
                  </a:solidFill>
                  <a:latin typeface="+mn-lt"/>
                  <a:ea typeface="+mn-ea"/>
                  <a:cs typeface="+mn-cs"/>
                </a:rPr>
                <a:t>VEHICLE</a:t>
              </a:r>
            </a:p>
          </p:txBody>
        </p:sp>
        <p:sp>
          <p:nvSpPr>
            <p:cNvPr id="21" name="TextBox 21"/>
            <p:cNvSpPr txBox="1"/>
            <p:nvPr/>
          </p:nvSpPr>
          <p:spPr>
            <a:xfrm>
              <a:off x="9214104" y="4251960"/>
              <a:ext cx="1530706"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hk_vehicle_0210204</a:t>
              </a:r>
            </a:p>
          </p:txBody>
        </p:sp>
        <p:sp>
          <p:nvSpPr>
            <p:cNvPr id="22" name="Line 22"/>
            <p:cNvSpPr/>
            <p:nvPr/>
          </p:nvSpPr>
          <p:spPr>
            <a:xfrm>
              <a:off x="9220200" y="4629150"/>
              <a:ext cx="2133600" cy="9525"/>
            </a:xfrm>
            <a:custGeom>
              <a:avLst/>
              <a:gdLst/>
              <a:ahLst/>
              <a:cxnLst/>
              <a:rect l="l" t="t" r="r" b="b"/>
              <a:pathLst>
                <a:path w="2133600" h="9525">
                  <a:moveTo>
                    <a:pt x="0" y="0"/>
                  </a:moveTo>
                  <a:lnTo>
                    <a:pt x="2133600" y="0"/>
                  </a:lnTo>
                </a:path>
              </a:pathLst>
            </a:custGeom>
            <a:noFill/>
            <a:ln w="28575">
              <a:solidFill>
                <a:schemeClr val="accent2"/>
              </a:solidFill>
            </a:ln>
          </p:spPr>
        </p:sp>
        <p:sp>
          <p:nvSpPr>
            <p:cNvPr id="23" name="TextBox 23"/>
            <p:cNvSpPr txBox="1"/>
            <p:nvPr/>
          </p:nvSpPr>
          <p:spPr>
            <a:xfrm>
              <a:off x="9213342" y="4769168"/>
              <a:ext cx="960111"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送学 → 上班</a:t>
              </a:r>
            </a:p>
          </p:txBody>
        </p:sp>
        <p:sp>
          <p:nvSpPr>
            <p:cNvPr id="24" name="TextBox 24"/>
            <p:cNvSpPr txBox="1"/>
            <p:nvPr/>
          </p:nvSpPr>
          <p:spPr>
            <a:xfrm>
              <a:off x="9213342" y="5073968"/>
              <a:ext cx="1323585"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接人 → 共同返程</a:t>
              </a:r>
            </a:p>
          </p:txBody>
        </p:sp>
        <p:sp>
          <p:nvSpPr>
            <p:cNvPr id="25" name="TextBox 25"/>
            <p:cNvSpPr txBox="1"/>
            <p:nvPr/>
          </p:nvSpPr>
          <p:spPr>
            <a:xfrm>
              <a:off x="9214104" y="5528310"/>
              <a:ext cx="2435352" cy="234696"/>
            </a:xfrm>
            <a:prstGeom prst="rect">
              <a:avLst/>
            </a:prstGeom>
            <a:noFill/>
            <a:ln>
              <a:noFill/>
            </a:ln>
          </p:spPr>
          <p:txBody>
            <a:bodyPr wrap="none" lIns="0" tIns="0" rIns="0" bIns="0" anchor="t" anchorCtr="0">
              <a:spAutoFit/>
            </a:bodyPr>
            <a:lstStyle/>
            <a:p>
              <a:pPr algn="l"/>
              <a:r>
                <a:rPr lang="zh-CN" sz="1200" dirty="0">
                  <a:solidFill>
                    <a:srgbClr val="657174"/>
                  </a:solidFill>
                  <a:latin typeface="+mn-lt"/>
                  <a:ea typeface="+mn-ea"/>
                  <a:cs typeface="+mn-cs"/>
                </a:rPr>
                <a:t>车辆可用性开始约束家庭联合计划</a:t>
              </a:r>
            </a:p>
          </p:txBody>
        </p:sp>
      </p:grpSp>
      <p:sp>
        <p:nvSpPr>
          <p:cNvPr id="27" name="TextBox 27"/>
          <p:cNvSpPr txBox="1"/>
          <p:nvPr/>
        </p:nvSpPr>
        <p:spPr>
          <a:xfrm>
            <a:off x="603504" y="6309360"/>
            <a:ext cx="5304490" cy="234696"/>
          </a:xfrm>
          <a:prstGeom prst="rect">
            <a:avLst/>
          </a:prstGeom>
          <a:noFill/>
          <a:ln>
            <a:noFill/>
          </a:ln>
        </p:spPr>
        <p:txBody>
          <a:bodyPr wrap="none" lIns="0" tIns="0" rIns="0" bIns="0" anchor="t" anchorCtr="0">
            <a:spAutoFit/>
          </a:bodyPr>
          <a:lstStyle/>
          <a:p>
            <a:pPr algn="l"/>
            <a:r>
              <a:rPr lang="zh-CN" sz="1200" dirty="0">
                <a:solidFill>
                  <a:srgbClr val="657174"/>
                </a:solidFill>
                <a:latin typeface="+mn-lt"/>
                <a:ea typeface="+mn-ea"/>
                <a:cs typeface="+mn-cs"/>
              </a:rPr>
              <a:t>图中 MATSim score 是效用，不是金额，也不是对真实家庭偏好的观测。</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14300" cy="6858000"/>
          </a:xfrm>
          <a:prstGeom prst="rect">
            <a:avLst/>
          </a:prstGeom>
          <a:solidFill>
            <a:schemeClr val="accent1"/>
          </a:solidFill>
          <a:ln>
            <a:noFill/>
          </a:ln>
        </p:spPr>
      </p:sp>
      <p:grpSp>
        <p:nvGrpSpPr>
          <p:cNvPr id="7" name="Group 7"/>
          <p:cNvGrpSpPr/>
          <p:nvPr/>
        </p:nvGrpSpPr>
        <p:grpSpPr>
          <a:xfrm>
            <a:off x="594360" y="384810"/>
            <a:ext cx="10689336" cy="1080135"/>
            <a:chOff x="594360" y="384810"/>
            <a:chExt cx="10689336" cy="1080135"/>
          </a:xfrm>
        </p:grpSpPr>
        <p:sp>
          <p:nvSpPr>
            <p:cNvPr id="3" name="TextBox 3"/>
            <p:cNvSpPr txBox="1"/>
            <p:nvPr/>
          </p:nvSpPr>
          <p:spPr>
            <a:xfrm>
              <a:off x="603504" y="384810"/>
              <a:ext cx="2091172" cy="234696"/>
            </a:xfrm>
            <a:prstGeom prst="rect">
              <a:avLst/>
            </a:prstGeom>
            <a:noFill/>
            <a:ln>
              <a:noFill/>
            </a:ln>
          </p:spPr>
          <p:txBody>
            <a:bodyPr wrap="none" lIns="0" tIns="0" rIns="0" bIns="0" anchor="t" anchorCtr="0">
              <a:spAutoFit/>
            </a:bodyPr>
            <a:lstStyle/>
            <a:p>
              <a:pPr algn="l"/>
              <a:r>
                <a:rPr lang="zh-CN" sz="1200" b="1" spc="75" dirty="0">
                  <a:solidFill>
                    <a:schemeClr val="accent1"/>
                  </a:solidFill>
                  <a:latin typeface="+mn-lt"/>
                  <a:ea typeface="+mn-ea"/>
                  <a:cs typeface="+mn-cs"/>
                </a:rPr>
                <a:t>05 · FINITE TAXI FLEET</a:t>
              </a:r>
            </a:p>
          </p:txBody>
        </p:sp>
        <p:sp>
          <p:nvSpPr>
            <p:cNvPr id="4" name="TextBox 4"/>
            <p:cNvSpPr txBox="1"/>
            <p:nvPr/>
          </p:nvSpPr>
          <p:spPr>
            <a:xfrm>
              <a:off x="594360" y="666750"/>
              <a:ext cx="7299960"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出租车从抽象方式选择变成有限车队运营</a:t>
              </a:r>
            </a:p>
          </p:txBody>
        </p:sp>
        <p:sp>
          <p:nvSpPr>
            <p:cNvPr id="5" name="TextBox 5"/>
            <p:cNvSpPr txBox="1"/>
            <p:nvPr/>
          </p:nvSpPr>
          <p:spPr>
            <a:xfrm>
              <a:off x="601980" y="1171575"/>
              <a:ext cx="4053840" cy="293370"/>
            </a:xfrm>
            <a:prstGeom prst="rect">
              <a:avLst/>
            </a:prstGeom>
            <a:noFill/>
            <a:ln>
              <a:noFill/>
            </a:ln>
          </p:spPr>
          <p:txBody>
            <a:bodyPr wrap="none" lIns="0" tIns="0" rIns="0" bIns="0" anchor="t" anchorCtr="0">
              <a:spAutoFit/>
            </a:bodyPr>
            <a:lstStyle/>
            <a:p>
              <a:pPr algn="l"/>
              <a:r>
                <a:rPr lang="zh-CN" sz="1500" dirty="0">
                  <a:solidFill>
                    <a:srgbClr val="657174"/>
                  </a:solidFill>
                  <a:latin typeface="+mn-lt"/>
                  <a:ea typeface="+mn-ea"/>
                  <a:cs typeface="+mn-cs"/>
                </a:rPr>
                <a:t>请求、在役车辆、等待与空驶开始同时可观测</a:t>
              </a:r>
            </a:p>
          </p:txBody>
        </p:sp>
        <p:sp>
          <p:nvSpPr>
            <p:cNvPr id="6" name="TextBox 6"/>
            <p:cNvSpPr txBox="1"/>
            <p:nvPr/>
          </p:nvSpPr>
          <p:spPr>
            <a:xfrm>
              <a:off x="10730332" y="384810"/>
              <a:ext cx="553364" cy="234696"/>
            </a:xfrm>
            <a:prstGeom prst="rect">
              <a:avLst/>
            </a:prstGeom>
            <a:noFill/>
            <a:ln>
              <a:noFill/>
            </a:ln>
          </p:spPr>
          <p:txBody>
            <a:bodyPr wrap="none" lIns="0" tIns="0" rIns="0" bIns="0" anchor="t" anchorCtr="0">
              <a:spAutoFit/>
            </a:bodyPr>
            <a:lstStyle/>
            <a:p>
              <a:pPr algn="r"/>
              <a:r>
                <a:rPr lang="zh-CN" sz="1200" dirty="0">
                  <a:solidFill>
                    <a:srgbClr val="657174"/>
                  </a:solidFill>
                  <a:latin typeface="+mn-lt"/>
                  <a:ea typeface="+mn-ea"/>
                  <a:cs typeface="+mn-cs"/>
                </a:rPr>
                <a:t>06 / 11</a:t>
              </a:r>
            </a:p>
          </p:txBody>
        </p:sp>
      </p:grpSp>
      <p:grpSp>
        <p:nvGrpSpPr>
          <p:cNvPr id="10" name="Group 10"/>
          <p:cNvGrpSpPr/>
          <p:nvPr/>
        </p:nvGrpSpPr>
        <p:grpSpPr>
          <a:xfrm>
            <a:off x="609600" y="1676400"/>
            <a:ext cx="5676900" cy="4362450"/>
            <a:chOff x="609600" y="1676400"/>
            <a:chExt cx="5676900" cy="4362450"/>
          </a:xfrm>
        </p:grpSpPr>
        <p:sp>
          <p:nvSpPr>
            <p:cNvPr id="8" name="Rectangle 8"/>
            <p:cNvSpPr/>
            <p:nvPr/>
          </p:nvSpPr>
          <p:spPr>
            <a:xfrm>
              <a:off x="609600" y="1676400"/>
              <a:ext cx="5676900" cy="4362450"/>
            </a:xfrm>
            <a:prstGeom prst="rect">
              <a:avLst/>
            </a:prstGeom>
            <a:solidFill>
              <a:schemeClr val="lt1"/>
            </a:solidFill>
            <a:ln w="9525">
              <a:solidFill>
                <a:srgbClr val="CBD2D0"/>
              </a:solidFill>
            </a:ln>
          </p:spPr>
        </p:sp>
        <p:pic>
          <p:nvPicPr>
            <p:cNvPr id="9" name="Image 9"/>
            <p:cNvPicPr>
              <a:picLocks noChangeAspect="1"/>
            </p:cNvPicPr>
            <p:nvPr/>
          </p:nvPicPr>
          <p:blipFill>
            <a:blip r:embed="rId2"/>
            <a:stretch>
              <a:fillRect/>
            </a:stretch>
          </p:blipFill>
          <p:spPr>
            <a:xfrm>
              <a:off x="621638" y="1685925"/>
              <a:ext cx="5652824" cy="4343400"/>
            </a:xfrm>
            <a:prstGeom prst="rect">
              <a:avLst/>
            </a:prstGeom>
          </p:spPr>
        </p:pic>
      </p:grpSp>
      <p:grpSp>
        <p:nvGrpSpPr>
          <p:cNvPr id="29" name="Group 29"/>
          <p:cNvGrpSpPr/>
          <p:nvPr/>
        </p:nvGrpSpPr>
        <p:grpSpPr>
          <a:xfrm>
            <a:off x="6572250" y="1676400"/>
            <a:ext cx="5010150" cy="4362450"/>
            <a:chOff x="6572250" y="1676400"/>
            <a:chExt cx="5010150" cy="4362450"/>
          </a:xfrm>
        </p:grpSpPr>
        <p:sp>
          <p:nvSpPr>
            <p:cNvPr id="11" name="Rectangle 11"/>
            <p:cNvSpPr/>
            <p:nvPr/>
          </p:nvSpPr>
          <p:spPr>
            <a:xfrm>
              <a:off x="6572250" y="1676400"/>
              <a:ext cx="5010150" cy="4362450"/>
            </a:xfrm>
            <a:prstGeom prst="rect">
              <a:avLst/>
            </a:prstGeom>
            <a:solidFill>
              <a:schemeClr val="accent5"/>
            </a:solidFill>
            <a:ln>
              <a:noFill/>
            </a:ln>
          </p:spPr>
        </p:sp>
        <p:sp>
          <p:nvSpPr>
            <p:cNvPr id="12" name="TextBox 12"/>
            <p:cNvSpPr txBox="1"/>
            <p:nvPr/>
          </p:nvSpPr>
          <p:spPr>
            <a:xfrm>
              <a:off x="6849618" y="1841182"/>
              <a:ext cx="2460117"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运行账本给出的四个事实</a:t>
              </a:r>
            </a:p>
          </p:txBody>
        </p:sp>
        <p:sp>
          <p:nvSpPr>
            <p:cNvPr id="13" name="Line 13"/>
            <p:cNvSpPr/>
            <p:nvPr/>
          </p:nvSpPr>
          <p:spPr>
            <a:xfrm>
              <a:off x="6858000" y="2247900"/>
              <a:ext cx="4438650" cy="9525"/>
            </a:xfrm>
            <a:custGeom>
              <a:avLst/>
              <a:gdLst/>
              <a:ahLst/>
              <a:cxnLst/>
              <a:rect l="l" t="t" r="r" b="b"/>
              <a:pathLst>
                <a:path w="4438650" h="9525">
                  <a:moveTo>
                    <a:pt x="0" y="0"/>
                  </a:moveTo>
                  <a:lnTo>
                    <a:pt x="4438650" y="0"/>
                  </a:lnTo>
                </a:path>
              </a:pathLst>
            </a:custGeom>
            <a:noFill/>
            <a:ln w="9525">
              <a:solidFill>
                <a:srgbClr val="CBD2D0"/>
              </a:solidFill>
            </a:ln>
          </p:spPr>
        </p:sp>
        <p:sp>
          <p:nvSpPr>
            <p:cNvPr id="14" name="Line 14"/>
            <p:cNvSpPr/>
            <p:nvPr/>
          </p:nvSpPr>
          <p:spPr>
            <a:xfrm>
              <a:off x="9077325" y="2476500"/>
              <a:ext cx="9525" cy="2419350"/>
            </a:xfrm>
            <a:custGeom>
              <a:avLst/>
              <a:gdLst/>
              <a:ahLst/>
              <a:cxnLst/>
              <a:rect l="l" t="t" r="r" b="b"/>
              <a:pathLst>
                <a:path w="9525" h="2419350">
                  <a:moveTo>
                    <a:pt x="0" y="0"/>
                  </a:moveTo>
                  <a:lnTo>
                    <a:pt x="0" y="2419350"/>
                  </a:lnTo>
                </a:path>
              </a:pathLst>
            </a:custGeom>
            <a:noFill/>
            <a:ln w="9525">
              <a:solidFill>
                <a:srgbClr val="CBD2D0"/>
              </a:solidFill>
            </a:ln>
          </p:spPr>
        </p:sp>
        <p:sp>
          <p:nvSpPr>
            <p:cNvPr id="15" name="Line 15"/>
            <p:cNvSpPr/>
            <p:nvPr/>
          </p:nvSpPr>
          <p:spPr>
            <a:xfrm>
              <a:off x="6858000" y="3733800"/>
              <a:ext cx="4438650" cy="9525"/>
            </a:xfrm>
            <a:custGeom>
              <a:avLst/>
              <a:gdLst/>
              <a:ahLst/>
              <a:cxnLst/>
              <a:rect l="l" t="t" r="r" b="b"/>
              <a:pathLst>
                <a:path w="4438650" h="9525">
                  <a:moveTo>
                    <a:pt x="0" y="0"/>
                  </a:moveTo>
                  <a:lnTo>
                    <a:pt x="4438650" y="0"/>
                  </a:lnTo>
                </a:path>
              </a:pathLst>
            </a:custGeom>
            <a:noFill/>
            <a:ln w="9525">
              <a:solidFill>
                <a:srgbClr val="CBD2D0"/>
              </a:solidFill>
            </a:ln>
          </p:spPr>
        </p:sp>
        <p:sp>
          <p:nvSpPr>
            <p:cNvPr id="16" name="TextBox 16"/>
            <p:cNvSpPr txBox="1"/>
            <p:nvPr/>
          </p:nvSpPr>
          <p:spPr>
            <a:xfrm>
              <a:off x="6842760" y="2533650"/>
              <a:ext cx="1429855"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15,500</a:t>
              </a:r>
            </a:p>
          </p:txBody>
        </p:sp>
        <p:sp>
          <p:nvSpPr>
            <p:cNvPr id="17" name="TextBox 17"/>
            <p:cNvSpPr txBox="1"/>
            <p:nvPr/>
          </p:nvSpPr>
          <p:spPr>
            <a:xfrm>
              <a:off x="6851142" y="3035618"/>
              <a:ext cx="922401"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实体出租车</a:t>
              </a:r>
            </a:p>
          </p:txBody>
        </p:sp>
        <p:sp>
          <p:nvSpPr>
            <p:cNvPr id="18" name="TextBox 18"/>
            <p:cNvSpPr txBox="1"/>
            <p:nvPr/>
          </p:nvSpPr>
          <p:spPr>
            <a:xfrm>
              <a:off x="6851904" y="3337560"/>
              <a:ext cx="1789176" cy="234696"/>
            </a:xfrm>
            <a:prstGeom prst="rect">
              <a:avLst/>
            </a:prstGeom>
            <a:noFill/>
            <a:ln>
              <a:noFill/>
            </a:ln>
          </p:spPr>
          <p:txBody>
            <a:bodyPr wrap="none" lIns="0" tIns="0" rIns="0" bIns="0" anchor="t" anchorCtr="0">
              <a:spAutoFit/>
            </a:bodyPr>
            <a:lstStyle/>
            <a:p>
              <a:pPr algn="l"/>
              <a:r>
                <a:rPr lang="zh-CN" sz="1200" dirty="0">
                  <a:solidFill>
                    <a:srgbClr val="657174"/>
                  </a:solidFill>
                  <a:latin typeface="+mn-lt"/>
                  <a:ea typeface="+mn-ea"/>
                  <a:cs typeface="+mn-cs"/>
                </a:rPr>
                <a:t>有限车队，而非无限供给</a:t>
              </a:r>
            </a:p>
          </p:txBody>
        </p:sp>
        <p:sp>
          <p:nvSpPr>
            <p:cNvPr id="19" name="TextBox 19"/>
            <p:cNvSpPr txBox="1"/>
            <p:nvPr/>
          </p:nvSpPr>
          <p:spPr>
            <a:xfrm>
              <a:off x="9338310" y="2533650"/>
              <a:ext cx="1663084"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186,144</a:t>
              </a:r>
            </a:p>
          </p:txBody>
        </p:sp>
        <p:sp>
          <p:nvSpPr>
            <p:cNvPr id="20" name="TextBox 20"/>
            <p:cNvSpPr txBox="1"/>
            <p:nvPr/>
          </p:nvSpPr>
          <p:spPr>
            <a:xfrm>
              <a:off x="9346692" y="3035618"/>
              <a:ext cx="740664"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完成请求</a:t>
              </a:r>
            </a:p>
          </p:txBody>
        </p:sp>
        <p:sp>
          <p:nvSpPr>
            <p:cNvPr id="21" name="TextBox 21"/>
            <p:cNvSpPr txBox="1"/>
            <p:nvPr/>
          </p:nvSpPr>
          <p:spPr>
            <a:xfrm>
              <a:off x="9347454" y="3337560"/>
              <a:ext cx="1466088" cy="234696"/>
            </a:xfrm>
            <a:prstGeom prst="rect">
              <a:avLst/>
            </a:prstGeom>
            <a:noFill/>
            <a:ln>
              <a:noFill/>
            </a:ln>
          </p:spPr>
          <p:txBody>
            <a:bodyPr wrap="none" lIns="0" tIns="0" rIns="0" bIns="0" anchor="t" anchorCtr="0">
              <a:spAutoFit/>
            </a:bodyPr>
            <a:lstStyle/>
            <a:p>
              <a:pPr algn="l"/>
              <a:r>
                <a:rPr lang="zh-CN" sz="1200" dirty="0">
                  <a:solidFill>
                    <a:srgbClr val="657174"/>
                  </a:solidFill>
                  <a:latin typeface="+mn-lt"/>
                  <a:ea typeface="+mn-ea"/>
                  <a:cs typeface="+mn-cs"/>
                </a:rPr>
                <a:t>与车辆账本逐项匹配</a:t>
              </a:r>
            </a:p>
          </p:txBody>
        </p:sp>
        <p:sp>
          <p:nvSpPr>
            <p:cNvPr id="22" name="TextBox 22"/>
            <p:cNvSpPr txBox="1"/>
            <p:nvPr/>
          </p:nvSpPr>
          <p:spPr>
            <a:xfrm>
              <a:off x="6842760" y="3981450"/>
              <a:ext cx="496938" cy="586740"/>
            </a:xfrm>
            <a:prstGeom prst="rect">
              <a:avLst/>
            </a:prstGeom>
            <a:noFill/>
            <a:ln>
              <a:noFill/>
            </a:ln>
          </p:spPr>
          <p:txBody>
            <a:bodyPr wrap="none" lIns="0" tIns="0" rIns="0" bIns="0" anchor="t" anchorCtr="0">
              <a:spAutoFit/>
            </a:bodyPr>
            <a:lstStyle/>
            <a:p>
              <a:pPr algn="l"/>
              <a:r>
                <a:rPr lang="zh-CN" sz="3000" b="1" dirty="0">
                  <a:solidFill>
                    <a:schemeClr val="accent2"/>
                  </a:solidFill>
                  <a:latin typeface="+mn-lt"/>
                  <a:ea typeface="+mn-ea"/>
                  <a:cs typeface="+mn-cs"/>
                </a:rPr>
                <a:t>17</a:t>
              </a:r>
            </a:p>
          </p:txBody>
        </p:sp>
        <p:sp>
          <p:nvSpPr>
            <p:cNvPr id="23" name="TextBox 23"/>
            <p:cNvSpPr txBox="1"/>
            <p:nvPr/>
          </p:nvSpPr>
          <p:spPr>
            <a:xfrm>
              <a:off x="6851142" y="4483418"/>
              <a:ext cx="1467612"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仿真终点仍在等待</a:t>
              </a:r>
            </a:p>
          </p:txBody>
        </p:sp>
        <p:sp>
          <p:nvSpPr>
            <p:cNvPr id="24" name="TextBox 24"/>
            <p:cNvSpPr txBox="1"/>
            <p:nvPr/>
          </p:nvSpPr>
          <p:spPr>
            <a:xfrm>
              <a:off x="9338310" y="3981450"/>
              <a:ext cx="1281436" cy="586740"/>
            </a:xfrm>
            <a:prstGeom prst="rect">
              <a:avLst/>
            </a:prstGeom>
            <a:noFill/>
            <a:ln>
              <a:noFill/>
            </a:ln>
          </p:spPr>
          <p:txBody>
            <a:bodyPr wrap="none" lIns="0" tIns="0" rIns="0" bIns="0" anchor="t" anchorCtr="0">
              <a:spAutoFit/>
            </a:bodyPr>
            <a:lstStyle/>
            <a:p>
              <a:pPr algn="l"/>
              <a:r>
                <a:rPr lang="zh-CN" sz="3000" b="1" dirty="0">
                  <a:solidFill>
                    <a:schemeClr val="accent2"/>
                  </a:solidFill>
                  <a:latin typeface="+mn-lt"/>
                  <a:ea typeface="+mn-ea"/>
                  <a:cs typeface="+mn-cs"/>
                </a:rPr>
                <a:t>16.5%</a:t>
              </a:r>
            </a:p>
          </p:txBody>
        </p:sp>
        <p:sp>
          <p:nvSpPr>
            <p:cNvPr id="25" name="TextBox 25"/>
            <p:cNvSpPr txBox="1"/>
            <p:nvPr/>
          </p:nvSpPr>
          <p:spPr>
            <a:xfrm>
              <a:off x="9346692" y="4483418"/>
              <a:ext cx="1174981"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车队空驶 VKT</a:t>
              </a:r>
            </a:p>
          </p:txBody>
        </p:sp>
        <p:sp>
          <p:nvSpPr>
            <p:cNvPr id="26" name="Line 26"/>
            <p:cNvSpPr/>
            <p:nvPr/>
          </p:nvSpPr>
          <p:spPr>
            <a:xfrm>
              <a:off x="6858000" y="5181600"/>
              <a:ext cx="4438650" cy="9525"/>
            </a:xfrm>
            <a:custGeom>
              <a:avLst/>
              <a:gdLst/>
              <a:ahLst/>
              <a:cxnLst/>
              <a:rect l="l" t="t" r="r" b="b"/>
              <a:pathLst>
                <a:path w="4438650" h="9525">
                  <a:moveTo>
                    <a:pt x="0" y="0"/>
                  </a:moveTo>
                  <a:lnTo>
                    <a:pt x="4438650" y="0"/>
                  </a:lnTo>
                </a:path>
              </a:pathLst>
            </a:custGeom>
            <a:noFill/>
            <a:ln w="28575">
              <a:solidFill>
                <a:schemeClr val="accent2"/>
              </a:solidFill>
            </a:ln>
          </p:spPr>
        </p:sp>
        <p:sp>
          <p:nvSpPr>
            <p:cNvPr id="27" name="TextBox 27"/>
            <p:cNvSpPr txBox="1"/>
            <p:nvPr/>
          </p:nvSpPr>
          <p:spPr>
            <a:xfrm>
              <a:off x="6850380" y="5343525"/>
              <a:ext cx="2438400"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有限资源让运营代价显性化</a:t>
              </a:r>
            </a:p>
          </p:txBody>
        </p:sp>
        <p:sp>
          <p:nvSpPr>
            <p:cNvPr id="28" name="TextBox 28"/>
            <p:cNvSpPr txBox="1"/>
            <p:nvPr/>
          </p:nvSpPr>
          <p:spPr>
            <a:xfrm>
              <a:off x="6851904" y="5680710"/>
              <a:ext cx="3243072" cy="234696"/>
            </a:xfrm>
            <a:prstGeom prst="rect">
              <a:avLst/>
            </a:prstGeom>
            <a:noFill/>
            <a:ln>
              <a:noFill/>
            </a:ln>
          </p:spPr>
          <p:txBody>
            <a:bodyPr wrap="none" lIns="0" tIns="0" rIns="0" bIns="0" anchor="t" anchorCtr="0">
              <a:spAutoFit/>
            </a:bodyPr>
            <a:lstStyle/>
            <a:p>
              <a:pPr algn="l"/>
              <a:r>
                <a:rPr lang="zh-CN" sz="1200" dirty="0">
                  <a:solidFill>
                    <a:srgbClr val="657174"/>
                  </a:solidFill>
                  <a:latin typeface="+mn-lt"/>
                  <a:ea typeface="+mn-ea"/>
                  <a:cs typeface="+mn-cs"/>
                </a:rPr>
                <a:t>流量地图与逐小时车队活动来自同一执行结果</a:t>
              </a:r>
            </a:p>
          </p:txBody>
        </p:sp>
      </p:grpSp>
      <p:sp>
        <p:nvSpPr>
          <p:cNvPr id="30" name="TextBox 30"/>
          <p:cNvSpPr txBox="1"/>
          <p:nvPr/>
        </p:nvSpPr>
        <p:spPr>
          <a:xfrm>
            <a:off x="603504" y="6309360"/>
            <a:ext cx="5787200" cy="234696"/>
          </a:xfrm>
          <a:prstGeom prst="rect">
            <a:avLst/>
          </a:prstGeom>
          <a:noFill/>
          <a:ln>
            <a:noFill/>
          </a:ln>
        </p:spPr>
        <p:txBody>
          <a:bodyPr wrap="none" lIns="0" tIns="0" rIns="0" bIns="0" anchor="t" anchorCtr="0">
            <a:spAutoFit/>
          </a:bodyPr>
          <a:lstStyle/>
          <a:p>
            <a:pPr algn="l"/>
            <a:r>
              <a:rPr lang="zh-CN" sz="1200" dirty="0">
                <a:solidFill>
                  <a:srgbClr val="657174"/>
                </a:solidFill>
                <a:latin typeface="+mn-lt"/>
                <a:ea typeface="+mn-ea"/>
                <a:cs typeface="+mn-cs"/>
              </a:rPr>
              <a:t>成本边界：Taxi 金额模型目前按实际载客距离计价；等待效用尚未折算为港币。</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14300" cy="6858000"/>
          </a:xfrm>
          <a:prstGeom prst="rect">
            <a:avLst/>
          </a:prstGeom>
          <a:solidFill>
            <a:schemeClr val="accent2"/>
          </a:solidFill>
          <a:ln>
            <a:noFill/>
          </a:ln>
        </p:spPr>
      </p:sp>
      <p:grpSp>
        <p:nvGrpSpPr>
          <p:cNvPr id="6" name="Group 6"/>
          <p:cNvGrpSpPr/>
          <p:nvPr/>
        </p:nvGrpSpPr>
        <p:grpSpPr>
          <a:xfrm>
            <a:off x="594360" y="384810"/>
            <a:ext cx="7299960" cy="1080135"/>
            <a:chOff x="594360" y="384810"/>
            <a:chExt cx="7299960" cy="1080135"/>
          </a:xfrm>
        </p:grpSpPr>
        <p:sp>
          <p:nvSpPr>
            <p:cNvPr id="3" name="TextBox 3"/>
            <p:cNvSpPr txBox="1"/>
            <p:nvPr/>
          </p:nvSpPr>
          <p:spPr>
            <a:xfrm>
              <a:off x="603504" y="384810"/>
              <a:ext cx="2152193" cy="234696"/>
            </a:xfrm>
            <a:prstGeom prst="rect">
              <a:avLst/>
            </a:prstGeom>
            <a:noFill/>
            <a:ln>
              <a:noFill/>
            </a:ln>
          </p:spPr>
          <p:txBody>
            <a:bodyPr wrap="none" lIns="0" tIns="0" rIns="0" bIns="0" anchor="t" anchorCtr="0">
              <a:spAutoFit/>
            </a:bodyPr>
            <a:lstStyle/>
            <a:p>
              <a:pPr algn="l"/>
              <a:r>
                <a:rPr lang="zh-CN" sz="1200" b="1" spc="75" dirty="0">
                  <a:solidFill>
                    <a:schemeClr val="accent2"/>
                  </a:solidFill>
                  <a:latin typeface="+mn-lt"/>
                  <a:ea typeface="+mn-ea"/>
                  <a:cs typeface="+mn-cs"/>
                </a:rPr>
                <a:t>06 · PRIVATE-CAR COST</a:t>
              </a:r>
            </a:p>
          </p:txBody>
        </p:sp>
        <p:sp>
          <p:nvSpPr>
            <p:cNvPr id="4" name="TextBox 4"/>
            <p:cNvSpPr txBox="1"/>
            <p:nvPr/>
          </p:nvSpPr>
          <p:spPr>
            <a:xfrm>
              <a:off x="594360" y="666750"/>
              <a:ext cx="7299960"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私家车出行成本可以拆解到具体执行事件</a:t>
              </a:r>
            </a:p>
          </p:txBody>
        </p:sp>
        <p:sp>
          <p:nvSpPr>
            <p:cNvPr id="5" name="TextBox 5"/>
            <p:cNvSpPr txBox="1"/>
            <p:nvPr/>
          </p:nvSpPr>
          <p:spPr>
            <a:xfrm>
              <a:off x="601980" y="1171575"/>
              <a:ext cx="5729859" cy="293370"/>
            </a:xfrm>
            <a:prstGeom prst="rect">
              <a:avLst/>
            </a:prstGeom>
            <a:noFill/>
            <a:ln>
              <a:noFill/>
            </a:ln>
          </p:spPr>
          <p:txBody>
            <a:bodyPr wrap="none" lIns="0" tIns="0" rIns="0" bIns="0" anchor="t" anchorCtr="0">
              <a:spAutoFit/>
            </a:bodyPr>
            <a:lstStyle/>
            <a:p>
              <a:pPr algn="l"/>
              <a:r>
                <a:rPr lang="zh-CN" sz="1500" dirty="0">
                  <a:solidFill>
                    <a:srgbClr val="657174"/>
                  </a:solidFill>
                  <a:latin typeface="+mn-lt"/>
                  <a:ea typeface="+mn-ea"/>
                  <a:cs typeface="+mn-cs"/>
                </a:rPr>
                <a:t>hk_person_01925581 · median-cost complete 8–35 km case</a:t>
              </a:r>
            </a:p>
          </p:txBody>
        </p:sp>
      </p:grpSp>
      <p:grpSp>
        <p:nvGrpSpPr>
          <p:cNvPr id="10" name="Group 10"/>
          <p:cNvGrpSpPr/>
          <p:nvPr/>
        </p:nvGrpSpPr>
        <p:grpSpPr>
          <a:xfrm>
            <a:off x="9595714" y="384810"/>
            <a:ext cx="2001926" cy="1149096"/>
            <a:chOff x="9595714" y="384810"/>
            <a:chExt cx="2001926" cy="1149096"/>
          </a:xfrm>
        </p:grpSpPr>
        <p:sp>
          <p:nvSpPr>
            <p:cNvPr id="7" name="TextBox 7"/>
            <p:cNvSpPr txBox="1"/>
            <p:nvPr/>
          </p:nvSpPr>
          <p:spPr>
            <a:xfrm>
              <a:off x="11035132" y="384810"/>
              <a:ext cx="553364" cy="234696"/>
            </a:xfrm>
            <a:prstGeom prst="rect">
              <a:avLst/>
            </a:prstGeom>
            <a:noFill/>
            <a:ln>
              <a:noFill/>
            </a:ln>
          </p:spPr>
          <p:txBody>
            <a:bodyPr wrap="none" lIns="0" tIns="0" rIns="0" bIns="0" anchor="t" anchorCtr="0">
              <a:spAutoFit/>
            </a:bodyPr>
            <a:lstStyle/>
            <a:p>
              <a:pPr algn="r"/>
              <a:r>
                <a:rPr lang="zh-CN" sz="1200" dirty="0">
                  <a:solidFill>
                    <a:srgbClr val="657174"/>
                  </a:solidFill>
                  <a:latin typeface="+mn-lt"/>
                  <a:ea typeface="+mn-ea"/>
                  <a:cs typeface="+mn-cs"/>
                </a:rPr>
                <a:t>07 / 11</a:t>
              </a:r>
            </a:p>
          </p:txBody>
        </p:sp>
        <p:sp>
          <p:nvSpPr>
            <p:cNvPr id="8" name="TextBox 8"/>
            <p:cNvSpPr txBox="1"/>
            <p:nvPr/>
          </p:nvSpPr>
          <p:spPr>
            <a:xfrm>
              <a:off x="9595714" y="685800"/>
              <a:ext cx="2001926" cy="586740"/>
            </a:xfrm>
            <a:prstGeom prst="rect">
              <a:avLst/>
            </a:prstGeom>
            <a:noFill/>
            <a:ln>
              <a:noFill/>
            </a:ln>
          </p:spPr>
          <p:txBody>
            <a:bodyPr wrap="none" lIns="0" tIns="0" rIns="0" bIns="0" anchor="t" anchorCtr="0">
              <a:spAutoFit/>
            </a:bodyPr>
            <a:lstStyle/>
            <a:p>
              <a:pPr algn="r"/>
              <a:r>
                <a:rPr lang="zh-CN" sz="3000" b="1" dirty="0">
                  <a:solidFill>
                    <a:schemeClr val="accent2"/>
                  </a:solidFill>
                  <a:latin typeface="+mn-lt"/>
                  <a:ea typeface="+mn-ea"/>
                  <a:cs typeface="+mn-cs"/>
                </a:rPr>
                <a:t>HK$122.7</a:t>
              </a:r>
            </a:p>
          </p:txBody>
        </p:sp>
        <p:sp>
          <p:nvSpPr>
            <p:cNvPr id="9" name="TextBox 9"/>
            <p:cNvSpPr txBox="1"/>
            <p:nvPr/>
          </p:nvSpPr>
          <p:spPr>
            <a:xfrm>
              <a:off x="9877044" y="1070610"/>
              <a:ext cx="1711452" cy="463296"/>
            </a:xfrm>
            <a:prstGeom prst="rect">
              <a:avLst/>
            </a:prstGeom>
            <a:noFill/>
            <a:ln>
              <a:noFill/>
            </a:ln>
          </p:spPr>
          <p:txBody>
            <a:bodyPr wrap="none" lIns="0" tIns="0" rIns="0" bIns="0" anchor="t" anchorCtr="0">
              <a:spAutoFit/>
            </a:bodyPr>
            <a:lstStyle/>
            <a:p>
              <a:pPr algn="r">
                <a:lnSpc>
                  <a:spcPts val="1800"/>
                </a:lnSpc>
              </a:pPr>
              <a:r>
                <a:rPr lang="zh-CN" sz="1200" dirty="0">
                  <a:solidFill>
                    <a:srgbClr val="657174"/>
                  </a:solidFill>
                  <a:latin typeface="+mn-lt"/>
                  <a:ea typeface="+mn-ea"/>
                  <a:cs typeface="+mn-cs"/>
                </a:rPr>
                <a:t>20.7 能耗 + 30.0 过海费</a:t>
              </a:r>
              <a:br/>
              <a:r>
                <a:rPr lang="zh-CN" sz="1200" dirty="0">
                  <a:solidFill>
                    <a:srgbClr val="657174"/>
                  </a:solidFill>
                  <a:latin typeface="+mn-lt"/>
                  <a:ea typeface="+mn-ea"/>
                  <a:cs typeface="+mn-cs"/>
                </a:rPr>
                <a:t>+ 72.0 目的地停车</a:t>
              </a:r>
            </a:p>
          </p:txBody>
        </p:sp>
      </p:grpSp>
      <p:grpSp>
        <p:nvGrpSpPr>
          <p:cNvPr id="13" name="Group 13"/>
          <p:cNvGrpSpPr/>
          <p:nvPr/>
        </p:nvGrpSpPr>
        <p:grpSpPr>
          <a:xfrm>
            <a:off x="609600" y="1790700"/>
            <a:ext cx="10972800" cy="4286250"/>
            <a:chOff x="609600" y="1790700"/>
            <a:chExt cx="10972800" cy="4286250"/>
          </a:xfrm>
        </p:grpSpPr>
        <p:sp>
          <p:nvSpPr>
            <p:cNvPr id="11" name="Rectangle 11"/>
            <p:cNvSpPr/>
            <p:nvPr/>
          </p:nvSpPr>
          <p:spPr>
            <a:xfrm>
              <a:off x="609600" y="1790700"/>
              <a:ext cx="10972800" cy="4286250"/>
            </a:xfrm>
            <a:prstGeom prst="rect">
              <a:avLst/>
            </a:prstGeom>
            <a:solidFill>
              <a:schemeClr val="lt1"/>
            </a:solidFill>
            <a:ln w="9525">
              <a:solidFill>
                <a:srgbClr val="CBD2D0"/>
              </a:solidFill>
            </a:ln>
          </p:spPr>
        </p:sp>
        <p:pic>
          <p:nvPicPr>
            <p:cNvPr id="12" name="Image 12"/>
            <p:cNvPicPr>
              <a:picLocks noChangeAspect="1"/>
            </p:cNvPicPr>
            <p:nvPr/>
          </p:nvPicPr>
          <p:blipFill>
            <a:blip r:embed="rId2"/>
            <a:stretch>
              <a:fillRect/>
            </a:stretch>
          </p:blipFill>
          <p:spPr>
            <a:xfrm>
              <a:off x="619125" y="1809397"/>
              <a:ext cx="10953750" cy="4248857"/>
            </a:xfrm>
            <a:prstGeom prst="rect">
              <a:avLst/>
            </a:prstGeom>
          </p:spPr>
        </p:pic>
      </p:grpSp>
      <p:sp>
        <p:nvSpPr>
          <p:cNvPr id="14" name="TextBox 14"/>
          <p:cNvSpPr txBox="1"/>
          <p:nvPr/>
        </p:nvSpPr>
        <p:spPr>
          <a:xfrm>
            <a:off x="603504" y="6309360"/>
            <a:ext cx="7370111" cy="234696"/>
          </a:xfrm>
          <a:prstGeom prst="rect">
            <a:avLst/>
          </a:prstGeom>
          <a:noFill/>
          <a:ln>
            <a:noFill/>
          </a:ln>
        </p:spPr>
        <p:txBody>
          <a:bodyPr wrap="none" lIns="0" tIns="0" rIns="0" bIns="0" anchor="t" anchorCtr="0">
            <a:spAutoFit/>
          </a:bodyPr>
          <a:lstStyle/>
          <a:p>
            <a:pPr algn="l"/>
            <a:r>
              <a:rPr lang="zh-CN" sz="1200" dirty="0">
                <a:solidFill>
                  <a:srgbClr val="657174"/>
                </a:solidFill>
                <a:latin typeface="+mn-lt"/>
                <a:ea typeface="+mn-ea"/>
                <a:cs typeface="+mn-cs"/>
              </a:rPr>
              <a:t>固定拥有成本保留在 vehicle-day sidecar 中，未分摊到本次行程；隧道费使用实际 LinkEnter 时间。</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14300" cy="6858000"/>
          </a:xfrm>
          <a:prstGeom prst="rect">
            <a:avLst/>
          </a:prstGeom>
          <a:solidFill>
            <a:schemeClr val="accent1"/>
          </a:solidFill>
          <a:ln>
            <a:noFill/>
          </a:ln>
        </p:spPr>
      </p:sp>
      <p:grpSp>
        <p:nvGrpSpPr>
          <p:cNvPr id="7" name="Group 7"/>
          <p:cNvGrpSpPr/>
          <p:nvPr/>
        </p:nvGrpSpPr>
        <p:grpSpPr>
          <a:xfrm>
            <a:off x="594360" y="384810"/>
            <a:ext cx="10689336" cy="1080135"/>
            <a:chOff x="594360" y="384810"/>
            <a:chExt cx="10689336" cy="1080135"/>
          </a:xfrm>
        </p:grpSpPr>
        <p:sp>
          <p:nvSpPr>
            <p:cNvPr id="3" name="TextBox 3"/>
            <p:cNvSpPr txBox="1"/>
            <p:nvPr/>
          </p:nvSpPr>
          <p:spPr>
            <a:xfrm>
              <a:off x="603504" y="384810"/>
              <a:ext cx="2399264" cy="234696"/>
            </a:xfrm>
            <a:prstGeom prst="rect">
              <a:avLst/>
            </a:prstGeom>
            <a:noFill/>
            <a:ln>
              <a:noFill/>
            </a:ln>
          </p:spPr>
          <p:txBody>
            <a:bodyPr wrap="none" lIns="0" tIns="0" rIns="0" bIns="0" anchor="t" anchorCtr="0">
              <a:spAutoFit/>
            </a:bodyPr>
            <a:lstStyle/>
            <a:p>
              <a:pPr algn="l"/>
              <a:r>
                <a:rPr lang="zh-CN" sz="1200" b="1" spc="75" dirty="0">
                  <a:solidFill>
                    <a:schemeClr val="accent1"/>
                  </a:solidFill>
                  <a:latin typeface="+mn-lt"/>
                  <a:ea typeface="+mn-ea"/>
                  <a:cs typeface="+mn-cs"/>
                </a:rPr>
                <a:t>07 · EXPERIENCED PT FARE</a:t>
              </a:r>
            </a:p>
          </p:txBody>
        </p:sp>
        <p:sp>
          <p:nvSpPr>
            <p:cNvPr id="4" name="TextBox 4"/>
            <p:cNvSpPr txBox="1"/>
            <p:nvPr/>
          </p:nvSpPr>
          <p:spPr>
            <a:xfrm>
              <a:off x="594360" y="666750"/>
              <a:ext cx="8765438"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PT 票价由实际乘降链严格解析，而非距离近似</a:t>
              </a:r>
            </a:p>
          </p:txBody>
        </p:sp>
        <p:sp>
          <p:nvSpPr>
            <p:cNvPr id="5" name="TextBox 5"/>
            <p:cNvSpPr txBox="1"/>
            <p:nvPr/>
          </p:nvSpPr>
          <p:spPr>
            <a:xfrm>
              <a:off x="601980" y="1171575"/>
              <a:ext cx="4928841" cy="293370"/>
            </a:xfrm>
            <a:prstGeom prst="rect">
              <a:avLst/>
            </a:prstGeom>
            <a:noFill/>
            <a:ln>
              <a:noFill/>
            </a:ln>
          </p:spPr>
          <p:txBody>
            <a:bodyPr wrap="none" lIns="0" tIns="0" rIns="0" bIns="0" anchor="t" anchorCtr="0">
              <a:spAutoFit/>
            </a:bodyPr>
            <a:lstStyle/>
            <a:p>
              <a:pPr algn="l"/>
              <a:r>
                <a:rPr lang="zh-CN" sz="1500" dirty="0">
                  <a:solidFill>
                    <a:srgbClr val="657174"/>
                  </a:solidFill>
                  <a:latin typeface="+mn-lt"/>
                  <a:ea typeface="+mn-ea"/>
                  <a:cs typeface="+mn-cs"/>
                </a:rPr>
                <a:t>Central–Admiralty 出发行程 · exact-key fare logic</a:t>
              </a:r>
            </a:p>
          </p:txBody>
        </p:sp>
        <p:sp>
          <p:nvSpPr>
            <p:cNvPr id="6" name="TextBox 6"/>
            <p:cNvSpPr txBox="1"/>
            <p:nvPr/>
          </p:nvSpPr>
          <p:spPr>
            <a:xfrm>
              <a:off x="10730332" y="384810"/>
              <a:ext cx="553364" cy="234696"/>
            </a:xfrm>
            <a:prstGeom prst="rect">
              <a:avLst/>
            </a:prstGeom>
            <a:noFill/>
            <a:ln>
              <a:noFill/>
            </a:ln>
          </p:spPr>
          <p:txBody>
            <a:bodyPr wrap="none" lIns="0" tIns="0" rIns="0" bIns="0" anchor="t" anchorCtr="0">
              <a:spAutoFit/>
            </a:bodyPr>
            <a:lstStyle/>
            <a:p>
              <a:pPr algn="r"/>
              <a:r>
                <a:rPr lang="zh-CN" sz="1200" dirty="0">
                  <a:solidFill>
                    <a:srgbClr val="657174"/>
                  </a:solidFill>
                  <a:latin typeface="+mn-lt"/>
                  <a:ea typeface="+mn-ea"/>
                  <a:cs typeface="+mn-cs"/>
                </a:rPr>
                <a:t>08 / 11</a:t>
              </a:r>
            </a:p>
          </p:txBody>
        </p:sp>
      </p:grpSp>
      <p:grpSp>
        <p:nvGrpSpPr>
          <p:cNvPr id="10" name="Group 10"/>
          <p:cNvGrpSpPr/>
          <p:nvPr/>
        </p:nvGrpSpPr>
        <p:grpSpPr>
          <a:xfrm>
            <a:off x="609600" y="1676400"/>
            <a:ext cx="7162800" cy="4362450"/>
            <a:chOff x="609600" y="1676400"/>
            <a:chExt cx="7162800" cy="4362450"/>
          </a:xfrm>
        </p:grpSpPr>
        <p:sp>
          <p:nvSpPr>
            <p:cNvPr id="8" name="Rectangle 8"/>
            <p:cNvSpPr/>
            <p:nvPr/>
          </p:nvSpPr>
          <p:spPr>
            <a:xfrm>
              <a:off x="609600" y="1676400"/>
              <a:ext cx="7162800" cy="4362450"/>
            </a:xfrm>
            <a:prstGeom prst="rect">
              <a:avLst/>
            </a:prstGeom>
            <a:solidFill>
              <a:schemeClr val="lt1"/>
            </a:solidFill>
            <a:ln w="9525">
              <a:solidFill>
                <a:srgbClr val="CBD2D0"/>
              </a:solidFill>
            </a:ln>
          </p:spPr>
        </p:sp>
        <p:pic>
          <p:nvPicPr>
            <p:cNvPr id="9" name="Image 9"/>
            <p:cNvPicPr>
              <a:picLocks noChangeAspect="1"/>
            </p:cNvPicPr>
            <p:nvPr/>
          </p:nvPicPr>
          <p:blipFill>
            <a:blip r:embed="rId2"/>
            <a:stretch>
              <a:fillRect/>
            </a:stretch>
          </p:blipFill>
          <p:spPr>
            <a:xfrm>
              <a:off x="619125" y="1693571"/>
              <a:ext cx="7143750" cy="4328108"/>
            </a:xfrm>
            <a:prstGeom prst="rect">
              <a:avLst/>
            </a:prstGeom>
          </p:spPr>
        </p:pic>
      </p:grpSp>
      <p:grpSp>
        <p:nvGrpSpPr>
          <p:cNvPr id="26" name="Group 26"/>
          <p:cNvGrpSpPr/>
          <p:nvPr/>
        </p:nvGrpSpPr>
        <p:grpSpPr>
          <a:xfrm>
            <a:off x="8058150" y="1676400"/>
            <a:ext cx="3556716" cy="4362450"/>
            <a:chOff x="8058150" y="1676400"/>
            <a:chExt cx="3556716" cy="4362450"/>
          </a:xfrm>
        </p:grpSpPr>
        <p:sp>
          <p:nvSpPr>
            <p:cNvPr id="11" name="Rectangle 11"/>
            <p:cNvSpPr/>
            <p:nvPr/>
          </p:nvSpPr>
          <p:spPr>
            <a:xfrm>
              <a:off x="8058150" y="1676400"/>
              <a:ext cx="3524250" cy="4362450"/>
            </a:xfrm>
            <a:prstGeom prst="rect">
              <a:avLst/>
            </a:prstGeom>
            <a:solidFill>
              <a:schemeClr val="accent5"/>
            </a:solidFill>
            <a:ln>
              <a:noFill/>
            </a:ln>
          </p:spPr>
        </p:sp>
        <p:sp>
          <p:nvSpPr>
            <p:cNvPr id="12" name="TextBox 12"/>
            <p:cNvSpPr txBox="1"/>
            <p:nvPr/>
          </p:nvSpPr>
          <p:spPr>
            <a:xfrm>
              <a:off x="8335518" y="1841182"/>
              <a:ext cx="1349502"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严格解析覆盖</a:t>
              </a:r>
            </a:p>
          </p:txBody>
        </p:sp>
        <p:sp>
          <p:nvSpPr>
            <p:cNvPr id="13" name="Line 13"/>
            <p:cNvSpPr/>
            <p:nvPr/>
          </p:nvSpPr>
          <p:spPr>
            <a:xfrm>
              <a:off x="8343900" y="2247900"/>
              <a:ext cx="2952750" cy="9525"/>
            </a:xfrm>
            <a:custGeom>
              <a:avLst/>
              <a:gdLst/>
              <a:ahLst/>
              <a:cxnLst/>
              <a:rect l="l" t="t" r="r" b="b"/>
              <a:pathLst>
                <a:path w="2952750" h="9525">
                  <a:moveTo>
                    <a:pt x="0" y="0"/>
                  </a:moveTo>
                  <a:lnTo>
                    <a:pt x="2952750" y="0"/>
                  </a:lnTo>
                </a:path>
              </a:pathLst>
            </a:custGeom>
            <a:noFill/>
            <a:ln w="9525">
              <a:solidFill>
                <a:srgbClr val="CBD2D0"/>
              </a:solidFill>
            </a:ln>
          </p:spPr>
        </p:sp>
        <p:sp>
          <p:nvSpPr>
            <p:cNvPr id="14" name="TextBox 14"/>
            <p:cNvSpPr txBox="1"/>
            <p:nvPr/>
          </p:nvSpPr>
          <p:spPr>
            <a:xfrm>
              <a:off x="8328660" y="2495550"/>
              <a:ext cx="1196626"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9,792</a:t>
              </a:r>
            </a:p>
          </p:txBody>
        </p:sp>
        <p:sp>
          <p:nvSpPr>
            <p:cNvPr id="15" name="TextBox 15"/>
            <p:cNvSpPr txBox="1"/>
            <p:nvPr/>
          </p:nvSpPr>
          <p:spPr>
            <a:xfrm>
              <a:off x="8337042" y="2997518"/>
              <a:ext cx="1104138"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完整严格票价</a:t>
              </a:r>
            </a:p>
          </p:txBody>
        </p:sp>
        <p:sp>
          <p:nvSpPr>
            <p:cNvPr id="16" name="TextBox 16"/>
            <p:cNvSpPr txBox="1"/>
            <p:nvPr/>
          </p:nvSpPr>
          <p:spPr>
            <a:xfrm>
              <a:off x="9797225" y="2495550"/>
              <a:ext cx="1514666" cy="586740"/>
            </a:xfrm>
            <a:prstGeom prst="rect">
              <a:avLst/>
            </a:prstGeom>
            <a:noFill/>
            <a:ln>
              <a:noFill/>
            </a:ln>
          </p:spPr>
          <p:txBody>
            <a:bodyPr wrap="none" lIns="0" tIns="0" rIns="0" bIns="0" anchor="t" anchorCtr="0">
              <a:spAutoFit/>
            </a:bodyPr>
            <a:lstStyle/>
            <a:p>
              <a:pPr algn="r"/>
              <a:r>
                <a:rPr lang="zh-CN" sz="3000" b="1" dirty="0">
                  <a:solidFill>
                    <a:schemeClr val="accent2"/>
                  </a:solidFill>
                  <a:latin typeface="+mn-lt"/>
                  <a:ea typeface="+mn-ea"/>
                  <a:cs typeface="+mn-cs"/>
                </a:rPr>
                <a:t>97.28%</a:t>
              </a:r>
            </a:p>
          </p:txBody>
        </p:sp>
        <p:sp>
          <p:nvSpPr>
            <p:cNvPr id="17" name="TextBox 17"/>
            <p:cNvSpPr txBox="1"/>
            <p:nvPr/>
          </p:nvSpPr>
          <p:spPr>
            <a:xfrm>
              <a:off x="9324306" y="2997518"/>
              <a:ext cx="1979202" cy="264033"/>
            </a:xfrm>
            <a:prstGeom prst="rect">
              <a:avLst/>
            </a:prstGeom>
            <a:noFill/>
            <a:ln>
              <a:noFill/>
            </a:ln>
          </p:spPr>
          <p:txBody>
            <a:bodyPr wrap="none" lIns="0" tIns="0" rIns="0" bIns="0" anchor="t" anchorCtr="0">
              <a:spAutoFit/>
            </a:bodyPr>
            <a:lstStyle/>
            <a:p>
              <a:pPr algn="r"/>
              <a:r>
                <a:rPr lang="zh-CN" sz="1350" b="1" dirty="0">
                  <a:solidFill>
                    <a:schemeClr val="dk1"/>
                  </a:solidFill>
                  <a:latin typeface="+mn-lt"/>
                  <a:ea typeface="+mn-ea"/>
                  <a:cs typeface="+mn-cs"/>
                </a:rPr>
                <a:t>of 10,066 itineraries</a:t>
              </a:r>
            </a:p>
          </p:txBody>
        </p:sp>
        <p:sp>
          <p:nvSpPr>
            <p:cNvPr id="18" name="Line 18"/>
            <p:cNvSpPr/>
            <p:nvPr/>
          </p:nvSpPr>
          <p:spPr>
            <a:xfrm>
              <a:off x="8343900" y="3467100"/>
              <a:ext cx="2952750" cy="9525"/>
            </a:xfrm>
            <a:custGeom>
              <a:avLst/>
              <a:gdLst/>
              <a:ahLst/>
              <a:cxnLst/>
              <a:rect l="l" t="t" r="r" b="b"/>
              <a:pathLst>
                <a:path w="2952750" h="9525">
                  <a:moveTo>
                    <a:pt x="0" y="0"/>
                  </a:moveTo>
                  <a:lnTo>
                    <a:pt x="2952750" y="0"/>
                  </a:lnTo>
                </a:path>
              </a:pathLst>
            </a:custGeom>
            <a:noFill/>
            <a:ln w="9525">
              <a:solidFill>
                <a:srgbClr val="CBD2D0"/>
              </a:solidFill>
            </a:ln>
          </p:spPr>
        </p:sp>
        <p:sp>
          <p:nvSpPr>
            <p:cNvPr id="19" name="TextBox 19"/>
            <p:cNvSpPr txBox="1"/>
            <p:nvPr/>
          </p:nvSpPr>
          <p:spPr>
            <a:xfrm>
              <a:off x="8337042" y="3683318"/>
              <a:ext cx="1734765"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42 个主要目的地站点</a:t>
              </a:r>
            </a:p>
          </p:txBody>
        </p:sp>
        <p:sp>
          <p:nvSpPr>
            <p:cNvPr id="20" name="TextBox 20"/>
            <p:cNvSpPr txBox="1"/>
            <p:nvPr/>
          </p:nvSpPr>
          <p:spPr>
            <a:xfrm>
              <a:off x="8337042" y="4007168"/>
              <a:ext cx="1811549"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4 条真实行程逐段展开</a:t>
              </a:r>
            </a:p>
          </p:txBody>
        </p:sp>
        <p:sp>
          <p:nvSpPr>
            <p:cNvPr id="21" name="TextBox 21"/>
            <p:cNvSpPr txBox="1"/>
            <p:nvPr/>
          </p:nvSpPr>
          <p:spPr>
            <a:xfrm>
              <a:off x="8337042" y="4331018"/>
              <a:ext cx="3277824"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10 张票价表／crosswalk 通过 SHA256</a:t>
              </a:r>
            </a:p>
          </p:txBody>
        </p:sp>
        <p:sp>
          <p:nvSpPr>
            <p:cNvPr id="22" name="Line 22"/>
            <p:cNvSpPr/>
            <p:nvPr/>
          </p:nvSpPr>
          <p:spPr>
            <a:xfrm>
              <a:off x="8343900" y="4800600"/>
              <a:ext cx="2952750" cy="9525"/>
            </a:xfrm>
            <a:custGeom>
              <a:avLst/>
              <a:gdLst/>
              <a:ahLst/>
              <a:cxnLst/>
              <a:rect l="l" t="t" r="r" b="b"/>
              <a:pathLst>
                <a:path w="2952750" h="9525">
                  <a:moveTo>
                    <a:pt x="0" y="0"/>
                  </a:moveTo>
                  <a:lnTo>
                    <a:pt x="2952750" y="0"/>
                  </a:lnTo>
                </a:path>
              </a:pathLst>
            </a:custGeom>
            <a:noFill/>
            <a:ln w="28575">
              <a:solidFill>
                <a:schemeClr val="accent2"/>
              </a:solidFill>
            </a:ln>
          </p:spPr>
        </p:sp>
        <p:sp>
          <p:nvSpPr>
            <p:cNvPr id="23" name="TextBox 23"/>
            <p:cNvSpPr txBox="1"/>
            <p:nvPr/>
          </p:nvSpPr>
          <p:spPr>
            <a:xfrm>
              <a:off x="8337042" y="4978718"/>
              <a:ext cx="2739771"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无距离、反向、全线路或零值回退</a:t>
              </a:r>
            </a:p>
          </p:txBody>
        </p:sp>
        <p:sp>
          <p:nvSpPr>
            <p:cNvPr id="24" name="TextBox 24"/>
            <p:cNvSpPr txBox="1"/>
            <p:nvPr/>
          </p:nvSpPr>
          <p:spPr>
            <a:xfrm>
              <a:off x="8337804" y="5299710"/>
              <a:ext cx="2435352" cy="234696"/>
            </a:xfrm>
            <a:prstGeom prst="rect">
              <a:avLst/>
            </a:prstGeom>
            <a:noFill/>
            <a:ln>
              <a:noFill/>
            </a:ln>
          </p:spPr>
          <p:txBody>
            <a:bodyPr wrap="none" lIns="0" tIns="0" rIns="0" bIns="0" anchor="t" anchorCtr="0">
              <a:spAutoFit/>
            </a:bodyPr>
            <a:lstStyle/>
            <a:p>
              <a:pPr algn="l"/>
              <a:r>
                <a:rPr lang="zh-CN" sz="1200" dirty="0">
                  <a:solidFill>
                    <a:srgbClr val="657174"/>
                  </a:solidFill>
                  <a:latin typeface="+mn-lt"/>
                  <a:ea typeface="+mn-ea"/>
                  <a:cs typeface="+mn-cs"/>
                </a:rPr>
                <a:t>未解析链保持缺失，不被静默改写</a:t>
              </a:r>
            </a:p>
          </p:txBody>
        </p:sp>
        <p:sp>
          <p:nvSpPr>
            <p:cNvPr id="25" name="TextBox 25"/>
            <p:cNvSpPr txBox="1"/>
            <p:nvPr/>
          </p:nvSpPr>
          <p:spPr>
            <a:xfrm>
              <a:off x="8337804" y="5642610"/>
              <a:ext cx="1950720" cy="234696"/>
            </a:xfrm>
            <a:prstGeom prst="rect">
              <a:avLst/>
            </a:prstGeom>
            <a:noFill/>
            <a:ln>
              <a:noFill/>
            </a:ln>
          </p:spPr>
          <p:txBody>
            <a:bodyPr wrap="none" lIns="0" tIns="0" rIns="0" bIns="0" anchor="t" anchorCtr="0">
              <a:spAutoFit/>
            </a:bodyPr>
            <a:lstStyle/>
            <a:p>
              <a:pPr algn="l"/>
              <a:r>
                <a:rPr lang="zh-CN" sz="1200" dirty="0">
                  <a:solidFill>
                    <a:srgbClr val="657174"/>
                  </a:solidFill>
                  <a:latin typeface="+mn-lt"/>
                  <a:ea typeface="+mn-ea"/>
                  <a:cs typeface="+mn-cs"/>
                </a:rPr>
                <a:t>成人参考／基础八达通规则</a:t>
              </a:r>
            </a:p>
          </p:txBody>
        </p:sp>
      </p:grpSp>
      <p:sp>
        <p:nvSpPr>
          <p:cNvPr id="27" name="TextBox 27"/>
          <p:cNvSpPr txBox="1"/>
          <p:nvPr/>
        </p:nvSpPr>
        <p:spPr>
          <a:xfrm>
            <a:off x="603504" y="6309360"/>
            <a:ext cx="6150864" cy="234696"/>
          </a:xfrm>
          <a:prstGeom prst="rect">
            <a:avLst/>
          </a:prstGeom>
          <a:noFill/>
          <a:ln>
            <a:noFill/>
          </a:ln>
        </p:spPr>
        <p:txBody>
          <a:bodyPr wrap="none" lIns="0" tIns="0" rIns="0" bIns="0" anchor="t" anchorCtr="0">
            <a:spAutoFit/>
          </a:bodyPr>
          <a:lstStyle/>
          <a:p>
            <a:pPr algn="l"/>
            <a:r>
              <a:rPr lang="zh-CN" sz="1200" dirty="0">
                <a:solidFill>
                  <a:srgbClr val="657174"/>
                </a:solidFill>
                <a:latin typeface="+mn-lt"/>
                <a:ea typeface="+mn-ea"/>
                <a:cs typeface="+mn-cs"/>
              </a:rPr>
              <a:t>模型边界：尚未加入个人优惠与换乘折扣；图中金额来自实际乘降链及严格键值匹配。</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14300" cy="6858000"/>
          </a:xfrm>
          <a:prstGeom prst="rect">
            <a:avLst/>
          </a:prstGeom>
          <a:solidFill>
            <a:schemeClr val="accent2"/>
          </a:solidFill>
          <a:ln>
            <a:noFill/>
          </a:ln>
        </p:spPr>
      </p:sp>
      <p:grpSp>
        <p:nvGrpSpPr>
          <p:cNvPr id="7" name="Group 7"/>
          <p:cNvGrpSpPr/>
          <p:nvPr/>
        </p:nvGrpSpPr>
        <p:grpSpPr>
          <a:xfrm>
            <a:off x="594360" y="384810"/>
            <a:ext cx="10689336" cy="1080135"/>
            <a:chOff x="594360" y="384810"/>
            <a:chExt cx="10689336" cy="1080135"/>
          </a:xfrm>
        </p:grpSpPr>
        <p:sp>
          <p:nvSpPr>
            <p:cNvPr id="3" name="TextBox 3"/>
            <p:cNvSpPr txBox="1"/>
            <p:nvPr/>
          </p:nvSpPr>
          <p:spPr>
            <a:xfrm>
              <a:off x="603504" y="384810"/>
              <a:ext cx="3024408" cy="234696"/>
            </a:xfrm>
            <a:prstGeom prst="rect">
              <a:avLst/>
            </a:prstGeom>
            <a:noFill/>
            <a:ln>
              <a:noFill/>
            </a:ln>
          </p:spPr>
          <p:txBody>
            <a:bodyPr wrap="none" lIns="0" tIns="0" rIns="0" bIns="0" anchor="t" anchorCtr="0">
              <a:spAutoFit/>
            </a:bodyPr>
            <a:lstStyle/>
            <a:p>
              <a:pPr algn="l"/>
              <a:r>
                <a:rPr lang="zh-CN" sz="1200" b="1" spc="75" dirty="0">
                  <a:solidFill>
                    <a:schemeClr val="accent2"/>
                  </a:solidFill>
                  <a:latin typeface="+mn-lt"/>
                  <a:ea typeface="+mn-ea"/>
                  <a:cs typeface="+mn-cs"/>
                </a:rPr>
                <a:t>08 · MONETARY COST GEOGRAPHY</a:t>
              </a:r>
            </a:p>
          </p:txBody>
        </p:sp>
        <p:sp>
          <p:nvSpPr>
            <p:cNvPr id="4" name="TextBox 4"/>
            <p:cNvSpPr txBox="1"/>
            <p:nvPr/>
          </p:nvSpPr>
          <p:spPr>
            <a:xfrm>
              <a:off x="594360" y="666750"/>
              <a:ext cx="7703820"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全港出行成本首次以真实港币呈现空间差异</a:t>
              </a:r>
            </a:p>
          </p:txBody>
        </p:sp>
        <p:sp>
          <p:nvSpPr>
            <p:cNvPr id="5" name="TextBox 5"/>
            <p:cNvSpPr txBox="1"/>
            <p:nvPr/>
          </p:nvSpPr>
          <p:spPr>
            <a:xfrm>
              <a:off x="601980" y="1171575"/>
              <a:ext cx="4930560" cy="293370"/>
            </a:xfrm>
            <a:prstGeom prst="rect">
              <a:avLst/>
            </a:prstGeom>
            <a:noFill/>
            <a:ln>
              <a:noFill/>
            </a:ln>
          </p:spPr>
          <p:txBody>
            <a:bodyPr wrap="none" lIns="0" tIns="0" rIns="0" bIns="0" anchor="t" anchorCtr="0">
              <a:spAutoFit/>
            </a:bodyPr>
            <a:lstStyle/>
            <a:p>
              <a:pPr algn="l"/>
              <a:r>
                <a:rPr lang="zh-CN" sz="1500" dirty="0">
                  <a:solidFill>
                    <a:srgbClr val="657174"/>
                  </a:solidFill>
                  <a:latin typeface="+mn-lt"/>
                  <a:ea typeface="+mn-ea"/>
                  <a:cs typeface="+mn-cs"/>
                </a:rPr>
                <a:t>总体成本 + PT + private car + Taxi · fixed-link grid</a:t>
              </a:r>
            </a:p>
          </p:txBody>
        </p:sp>
        <p:sp>
          <p:nvSpPr>
            <p:cNvPr id="6" name="TextBox 6"/>
            <p:cNvSpPr txBox="1"/>
            <p:nvPr/>
          </p:nvSpPr>
          <p:spPr>
            <a:xfrm>
              <a:off x="10730332" y="384810"/>
              <a:ext cx="553364" cy="234696"/>
            </a:xfrm>
            <a:prstGeom prst="rect">
              <a:avLst/>
            </a:prstGeom>
            <a:noFill/>
            <a:ln>
              <a:noFill/>
            </a:ln>
          </p:spPr>
          <p:txBody>
            <a:bodyPr wrap="none" lIns="0" tIns="0" rIns="0" bIns="0" anchor="t" anchorCtr="0">
              <a:spAutoFit/>
            </a:bodyPr>
            <a:lstStyle/>
            <a:p>
              <a:pPr algn="r"/>
              <a:r>
                <a:rPr lang="zh-CN" sz="1200" dirty="0">
                  <a:solidFill>
                    <a:srgbClr val="657174"/>
                  </a:solidFill>
                  <a:latin typeface="+mn-lt"/>
                  <a:ea typeface="+mn-ea"/>
                  <a:cs typeface="+mn-cs"/>
                </a:rPr>
                <a:t>09 / 11</a:t>
              </a:r>
            </a:p>
          </p:txBody>
        </p:sp>
      </p:grpSp>
      <p:grpSp>
        <p:nvGrpSpPr>
          <p:cNvPr id="10" name="Group 10"/>
          <p:cNvGrpSpPr/>
          <p:nvPr/>
        </p:nvGrpSpPr>
        <p:grpSpPr>
          <a:xfrm>
            <a:off x="609600" y="1676400"/>
            <a:ext cx="8572500" cy="4362450"/>
            <a:chOff x="609600" y="1676400"/>
            <a:chExt cx="8572500" cy="4362450"/>
          </a:xfrm>
        </p:grpSpPr>
        <p:sp>
          <p:nvSpPr>
            <p:cNvPr id="8" name="Rectangle 8"/>
            <p:cNvSpPr/>
            <p:nvPr/>
          </p:nvSpPr>
          <p:spPr>
            <a:xfrm>
              <a:off x="609600" y="1676400"/>
              <a:ext cx="8572500" cy="4362450"/>
            </a:xfrm>
            <a:prstGeom prst="rect">
              <a:avLst/>
            </a:prstGeom>
            <a:solidFill>
              <a:schemeClr val="lt1"/>
            </a:solidFill>
            <a:ln w="9525">
              <a:solidFill>
                <a:srgbClr val="CBD2D0"/>
              </a:solidFill>
            </a:ln>
          </p:spPr>
        </p:sp>
        <p:pic>
          <p:nvPicPr>
            <p:cNvPr id="9" name="Image 9"/>
            <p:cNvPicPr>
              <a:picLocks noChangeAspect="1"/>
            </p:cNvPicPr>
            <p:nvPr/>
          </p:nvPicPr>
          <p:blipFill>
            <a:blip r:embed="rId2"/>
            <a:stretch>
              <a:fillRect/>
            </a:stretch>
          </p:blipFill>
          <p:spPr>
            <a:xfrm>
              <a:off x="645428" y="1685925"/>
              <a:ext cx="8500844" cy="4343400"/>
            </a:xfrm>
            <a:prstGeom prst="rect">
              <a:avLst/>
            </a:prstGeom>
          </p:spPr>
        </p:pic>
      </p:grpSp>
      <p:grpSp>
        <p:nvGrpSpPr>
          <p:cNvPr id="26" name="Group 26"/>
          <p:cNvGrpSpPr/>
          <p:nvPr/>
        </p:nvGrpSpPr>
        <p:grpSpPr>
          <a:xfrm>
            <a:off x="9448800" y="1676400"/>
            <a:ext cx="2133600" cy="4362450"/>
            <a:chOff x="9448800" y="1676400"/>
            <a:chExt cx="2133600" cy="4362450"/>
          </a:xfrm>
        </p:grpSpPr>
        <p:sp>
          <p:nvSpPr>
            <p:cNvPr id="11" name="Rectangle 11"/>
            <p:cNvSpPr/>
            <p:nvPr/>
          </p:nvSpPr>
          <p:spPr>
            <a:xfrm>
              <a:off x="9448800" y="1676400"/>
              <a:ext cx="2133600" cy="4362450"/>
            </a:xfrm>
            <a:prstGeom prst="rect">
              <a:avLst/>
            </a:prstGeom>
            <a:solidFill>
              <a:schemeClr val="accent5"/>
            </a:solidFill>
            <a:ln>
              <a:noFill/>
            </a:ln>
          </p:spPr>
        </p:sp>
        <p:sp>
          <p:nvSpPr>
            <p:cNvPr id="12" name="TextBox 12"/>
            <p:cNvSpPr txBox="1"/>
            <p:nvPr/>
          </p:nvSpPr>
          <p:spPr>
            <a:xfrm>
              <a:off x="9670542" y="1854518"/>
              <a:ext cx="1525905" cy="264033"/>
            </a:xfrm>
            <a:prstGeom prst="rect">
              <a:avLst/>
            </a:prstGeom>
            <a:noFill/>
            <a:ln>
              <a:noFill/>
            </a:ln>
          </p:spPr>
          <p:txBody>
            <a:bodyPr wrap="none" lIns="0" tIns="0" rIns="0" bIns="0" anchor="t" anchorCtr="0">
              <a:spAutoFit/>
            </a:bodyPr>
            <a:lstStyle/>
            <a:p>
              <a:pPr algn="l"/>
              <a:r>
                <a:rPr lang="zh-CN" sz="1350" b="1" dirty="0">
                  <a:solidFill>
                    <a:srgbClr val="657174"/>
                  </a:solidFill>
                  <a:latin typeface="+mn-lt"/>
                  <a:ea typeface="+mn-ea"/>
                  <a:cs typeface="+mn-cs"/>
                </a:rPr>
                <a:t>PRICED UNIVERSE</a:t>
              </a:r>
            </a:p>
          </p:txBody>
        </p:sp>
        <p:sp>
          <p:nvSpPr>
            <p:cNvPr id="13" name="TextBox 13"/>
            <p:cNvSpPr txBox="1"/>
            <p:nvPr/>
          </p:nvSpPr>
          <p:spPr>
            <a:xfrm>
              <a:off x="9662160" y="2133600"/>
              <a:ext cx="1663084" cy="586740"/>
            </a:xfrm>
            <a:prstGeom prst="rect">
              <a:avLst/>
            </a:prstGeom>
            <a:noFill/>
            <a:ln>
              <a:noFill/>
            </a:ln>
          </p:spPr>
          <p:txBody>
            <a:bodyPr wrap="none" lIns="0" tIns="0" rIns="0" bIns="0" anchor="t" anchorCtr="0">
              <a:spAutoFit/>
            </a:bodyPr>
            <a:lstStyle/>
            <a:p>
              <a:pPr algn="l"/>
              <a:r>
                <a:rPr lang="zh-CN" sz="3000" b="1" dirty="0">
                  <a:solidFill>
                    <a:schemeClr val="accent2"/>
                  </a:solidFill>
                  <a:latin typeface="+mn-lt"/>
                  <a:ea typeface="+mn-ea"/>
                  <a:cs typeface="+mn-cs"/>
                </a:rPr>
                <a:t>566,437</a:t>
              </a:r>
            </a:p>
          </p:txBody>
        </p:sp>
        <p:sp>
          <p:nvSpPr>
            <p:cNvPr id="14" name="TextBox 14"/>
            <p:cNvSpPr txBox="1"/>
            <p:nvPr/>
          </p:nvSpPr>
          <p:spPr>
            <a:xfrm>
              <a:off x="9670542" y="2597468"/>
              <a:ext cx="9224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已定价行程</a:t>
              </a:r>
            </a:p>
          </p:txBody>
        </p:sp>
        <p:sp>
          <p:nvSpPr>
            <p:cNvPr id="15" name="Line 15"/>
            <p:cNvSpPr/>
            <p:nvPr/>
          </p:nvSpPr>
          <p:spPr>
            <a:xfrm>
              <a:off x="9677400" y="3009900"/>
              <a:ext cx="1676400" cy="9525"/>
            </a:xfrm>
            <a:custGeom>
              <a:avLst/>
              <a:gdLst/>
              <a:ahLst/>
              <a:cxnLst/>
              <a:rect l="l" t="t" r="r" b="b"/>
              <a:pathLst>
                <a:path w="1676400" h="9525">
                  <a:moveTo>
                    <a:pt x="0" y="0"/>
                  </a:moveTo>
                  <a:lnTo>
                    <a:pt x="1676400" y="0"/>
                  </a:lnTo>
                </a:path>
              </a:pathLst>
            </a:custGeom>
            <a:noFill/>
            <a:ln w="9525">
              <a:solidFill>
                <a:srgbClr val="CBD2D0"/>
              </a:solidFill>
            </a:ln>
          </p:spPr>
        </p:sp>
        <p:sp>
          <p:nvSpPr>
            <p:cNvPr id="16" name="TextBox 16"/>
            <p:cNvSpPr txBox="1"/>
            <p:nvPr/>
          </p:nvSpPr>
          <p:spPr>
            <a:xfrm>
              <a:off x="9671304" y="3261360"/>
              <a:ext cx="209337" cy="234696"/>
            </a:xfrm>
            <a:prstGeom prst="rect">
              <a:avLst/>
            </a:prstGeom>
            <a:noFill/>
            <a:ln>
              <a:noFill/>
            </a:ln>
          </p:spPr>
          <p:txBody>
            <a:bodyPr wrap="none" lIns="0" tIns="0" rIns="0" bIns="0" anchor="t" anchorCtr="0">
              <a:spAutoFit/>
            </a:bodyPr>
            <a:lstStyle/>
            <a:p>
              <a:pPr algn="l"/>
              <a:r>
                <a:rPr lang="zh-CN" sz="1200" b="1" dirty="0">
                  <a:solidFill>
                    <a:srgbClr val="657174"/>
                  </a:solidFill>
                  <a:latin typeface="+mn-lt"/>
                  <a:ea typeface="+mn-ea"/>
                  <a:cs typeface="+mn-cs"/>
                </a:rPr>
                <a:t>PT</a:t>
              </a:r>
            </a:p>
          </p:txBody>
        </p:sp>
        <p:sp>
          <p:nvSpPr>
            <p:cNvPr id="17" name="TextBox 17"/>
            <p:cNvSpPr txBox="1"/>
            <p:nvPr/>
          </p:nvSpPr>
          <p:spPr>
            <a:xfrm>
              <a:off x="10200309" y="3164205"/>
              <a:ext cx="1164159" cy="410718"/>
            </a:xfrm>
            <a:prstGeom prst="rect">
              <a:avLst/>
            </a:prstGeom>
            <a:noFill/>
            <a:ln>
              <a:noFill/>
            </a:ln>
          </p:spPr>
          <p:txBody>
            <a:bodyPr wrap="none" lIns="0" tIns="0" rIns="0" bIns="0" anchor="t" anchorCtr="0">
              <a:spAutoFit/>
            </a:bodyPr>
            <a:lstStyle/>
            <a:p>
              <a:pPr algn="r"/>
              <a:r>
                <a:rPr lang="zh-CN" sz="2100" b="1" dirty="0">
                  <a:solidFill>
                    <a:schemeClr val="accent1"/>
                  </a:solidFill>
                  <a:latin typeface="+mn-lt"/>
                  <a:ea typeface="+mn-ea"/>
                  <a:cs typeface="+mn-cs"/>
                </a:rPr>
                <a:t>364,160</a:t>
              </a:r>
            </a:p>
          </p:txBody>
        </p:sp>
        <p:sp>
          <p:nvSpPr>
            <p:cNvPr id="18" name="TextBox 18"/>
            <p:cNvSpPr txBox="1"/>
            <p:nvPr/>
          </p:nvSpPr>
          <p:spPr>
            <a:xfrm>
              <a:off x="9671304" y="3775710"/>
              <a:ext cx="1006876" cy="234696"/>
            </a:xfrm>
            <a:prstGeom prst="rect">
              <a:avLst/>
            </a:prstGeom>
            <a:noFill/>
            <a:ln>
              <a:noFill/>
            </a:ln>
          </p:spPr>
          <p:txBody>
            <a:bodyPr wrap="none" lIns="0" tIns="0" rIns="0" bIns="0" anchor="t" anchorCtr="0">
              <a:spAutoFit/>
            </a:bodyPr>
            <a:lstStyle/>
            <a:p>
              <a:pPr algn="l"/>
              <a:r>
                <a:rPr lang="zh-CN" sz="1200" b="1" dirty="0">
                  <a:solidFill>
                    <a:srgbClr val="657174"/>
                  </a:solidFill>
                  <a:latin typeface="+mn-lt"/>
                  <a:ea typeface="+mn-ea"/>
                  <a:cs typeface="+mn-cs"/>
                </a:rPr>
                <a:t>PRIVATE CAR</a:t>
              </a:r>
            </a:p>
          </p:txBody>
        </p:sp>
        <p:sp>
          <p:nvSpPr>
            <p:cNvPr id="19" name="TextBox 19"/>
            <p:cNvSpPr txBox="1"/>
            <p:nvPr/>
          </p:nvSpPr>
          <p:spPr>
            <a:xfrm>
              <a:off x="10363570" y="3678555"/>
              <a:ext cx="1000898" cy="410718"/>
            </a:xfrm>
            <a:prstGeom prst="rect">
              <a:avLst/>
            </a:prstGeom>
            <a:noFill/>
            <a:ln>
              <a:noFill/>
            </a:ln>
          </p:spPr>
          <p:txBody>
            <a:bodyPr wrap="none" lIns="0" tIns="0" rIns="0" bIns="0" anchor="t" anchorCtr="0">
              <a:spAutoFit/>
            </a:bodyPr>
            <a:lstStyle/>
            <a:p>
              <a:pPr algn="r"/>
              <a:r>
                <a:rPr lang="zh-CN" sz="2100" b="1" dirty="0">
                  <a:solidFill>
                    <a:schemeClr val="accent1"/>
                  </a:solidFill>
                  <a:latin typeface="+mn-lt"/>
                  <a:ea typeface="+mn-ea"/>
                  <a:cs typeface="+mn-cs"/>
                </a:rPr>
                <a:t>16,133</a:t>
              </a:r>
            </a:p>
          </p:txBody>
        </p:sp>
        <p:sp>
          <p:nvSpPr>
            <p:cNvPr id="20" name="TextBox 20"/>
            <p:cNvSpPr txBox="1"/>
            <p:nvPr/>
          </p:nvSpPr>
          <p:spPr>
            <a:xfrm>
              <a:off x="9671304" y="4290060"/>
              <a:ext cx="361676" cy="234696"/>
            </a:xfrm>
            <a:prstGeom prst="rect">
              <a:avLst/>
            </a:prstGeom>
            <a:noFill/>
            <a:ln>
              <a:noFill/>
            </a:ln>
          </p:spPr>
          <p:txBody>
            <a:bodyPr wrap="none" lIns="0" tIns="0" rIns="0" bIns="0" anchor="t" anchorCtr="0">
              <a:spAutoFit/>
            </a:bodyPr>
            <a:lstStyle/>
            <a:p>
              <a:pPr algn="l"/>
              <a:r>
                <a:rPr lang="zh-CN" sz="1200" b="1" dirty="0">
                  <a:solidFill>
                    <a:srgbClr val="657174"/>
                  </a:solidFill>
                  <a:latin typeface="+mn-lt"/>
                  <a:ea typeface="+mn-ea"/>
                  <a:cs typeface="+mn-cs"/>
                </a:rPr>
                <a:t>TAXI</a:t>
              </a:r>
            </a:p>
          </p:txBody>
        </p:sp>
        <p:sp>
          <p:nvSpPr>
            <p:cNvPr id="21" name="TextBox 21"/>
            <p:cNvSpPr txBox="1"/>
            <p:nvPr/>
          </p:nvSpPr>
          <p:spPr>
            <a:xfrm>
              <a:off x="10200309" y="4192905"/>
              <a:ext cx="1164159" cy="410718"/>
            </a:xfrm>
            <a:prstGeom prst="rect">
              <a:avLst/>
            </a:prstGeom>
            <a:noFill/>
            <a:ln>
              <a:noFill/>
            </a:ln>
          </p:spPr>
          <p:txBody>
            <a:bodyPr wrap="none" lIns="0" tIns="0" rIns="0" bIns="0" anchor="t" anchorCtr="0">
              <a:spAutoFit/>
            </a:bodyPr>
            <a:lstStyle/>
            <a:p>
              <a:pPr algn="r"/>
              <a:r>
                <a:rPr lang="zh-CN" sz="2100" b="1" dirty="0">
                  <a:solidFill>
                    <a:schemeClr val="accent1"/>
                  </a:solidFill>
                  <a:latin typeface="+mn-lt"/>
                  <a:ea typeface="+mn-ea"/>
                  <a:cs typeface="+mn-cs"/>
                </a:rPr>
                <a:t>186,144</a:t>
              </a:r>
            </a:p>
          </p:txBody>
        </p:sp>
        <p:sp>
          <p:nvSpPr>
            <p:cNvPr id="22" name="Line 22"/>
            <p:cNvSpPr/>
            <p:nvPr/>
          </p:nvSpPr>
          <p:spPr>
            <a:xfrm>
              <a:off x="9677400" y="4762500"/>
              <a:ext cx="1676400" cy="9525"/>
            </a:xfrm>
            <a:custGeom>
              <a:avLst/>
              <a:gdLst/>
              <a:ahLst/>
              <a:cxnLst/>
              <a:rect l="l" t="t" r="r" b="b"/>
              <a:pathLst>
                <a:path w="1676400" h="9525">
                  <a:moveTo>
                    <a:pt x="0" y="0"/>
                  </a:moveTo>
                  <a:lnTo>
                    <a:pt x="1676400" y="0"/>
                  </a:lnTo>
                </a:path>
              </a:pathLst>
            </a:custGeom>
            <a:noFill/>
            <a:ln w="28575">
              <a:solidFill>
                <a:schemeClr val="accent2"/>
              </a:solidFill>
            </a:ln>
          </p:spPr>
        </p:sp>
        <p:sp>
          <p:nvSpPr>
            <p:cNvPr id="23" name="TextBox 23"/>
            <p:cNvSpPr txBox="1"/>
            <p:nvPr/>
          </p:nvSpPr>
          <p:spPr>
            <a:xfrm>
              <a:off x="9669780" y="4943475"/>
              <a:ext cx="1106176"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null ≠ HK$0</a:t>
              </a:r>
            </a:p>
          </p:txBody>
        </p:sp>
        <p:sp>
          <p:nvSpPr>
            <p:cNvPr id="24" name="TextBox 24"/>
            <p:cNvSpPr txBox="1"/>
            <p:nvPr/>
          </p:nvSpPr>
          <p:spPr>
            <a:xfrm>
              <a:off x="9671304" y="5299710"/>
              <a:ext cx="1304544" cy="234696"/>
            </a:xfrm>
            <a:prstGeom prst="rect">
              <a:avLst/>
            </a:prstGeom>
            <a:noFill/>
            <a:ln>
              <a:noFill/>
            </a:ln>
          </p:spPr>
          <p:txBody>
            <a:bodyPr wrap="none" lIns="0" tIns="0" rIns="0" bIns="0" anchor="t" anchorCtr="0">
              <a:spAutoFit/>
            </a:bodyPr>
            <a:lstStyle/>
            <a:p>
              <a:pPr algn="l"/>
              <a:r>
                <a:rPr lang="zh-CN" sz="1200" dirty="0">
                  <a:solidFill>
                    <a:srgbClr val="657174"/>
                  </a:solidFill>
                  <a:latin typeface="+mn-lt"/>
                  <a:ea typeface="+mn-ea"/>
                  <a:cs typeface="+mn-cs"/>
                </a:rPr>
                <a:t>未解析链保持 null</a:t>
              </a:r>
            </a:p>
          </p:txBody>
        </p:sp>
        <p:sp>
          <p:nvSpPr>
            <p:cNvPr id="25" name="TextBox 25"/>
            <p:cNvSpPr txBox="1"/>
            <p:nvPr/>
          </p:nvSpPr>
          <p:spPr>
            <a:xfrm>
              <a:off x="9671304" y="5585460"/>
              <a:ext cx="1466088" cy="234696"/>
            </a:xfrm>
            <a:prstGeom prst="rect">
              <a:avLst/>
            </a:prstGeom>
            <a:noFill/>
            <a:ln>
              <a:noFill/>
            </a:ln>
          </p:spPr>
          <p:txBody>
            <a:bodyPr wrap="none" lIns="0" tIns="0" rIns="0" bIns="0" anchor="t" anchorCtr="0">
              <a:spAutoFit/>
            </a:bodyPr>
            <a:lstStyle/>
            <a:p>
              <a:pPr algn="l"/>
              <a:r>
                <a:rPr lang="zh-CN" sz="1200" dirty="0">
                  <a:solidFill>
                    <a:srgbClr val="657174"/>
                  </a:solidFill>
                  <a:latin typeface="+mn-lt"/>
                  <a:ea typeface="+mn-ea"/>
                  <a:cs typeface="+mn-cs"/>
                </a:rPr>
                <a:t>避免制造零成本出行</a:t>
              </a:r>
            </a:p>
          </p:txBody>
        </p:sp>
      </p:grpSp>
      <p:grpSp>
        <p:nvGrpSpPr>
          <p:cNvPr id="29" name="Group 29"/>
          <p:cNvGrpSpPr/>
          <p:nvPr/>
        </p:nvGrpSpPr>
        <p:grpSpPr>
          <a:xfrm>
            <a:off x="603504" y="6233160"/>
            <a:ext cx="5623370" cy="482346"/>
            <a:chOff x="603504" y="6233160"/>
            <a:chExt cx="5623370" cy="482346"/>
          </a:xfrm>
        </p:grpSpPr>
        <p:sp>
          <p:nvSpPr>
            <p:cNvPr id="27" name="TextBox 27"/>
            <p:cNvSpPr txBox="1"/>
            <p:nvPr/>
          </p:nvSpPr>
          <p:spPr>
            <a:xfrm>
              <a:off x="603504" y="6233160"/>
              <a:ext cx="5623370" cy="234696"/>
            </a:xfrm>
            <a:prstGeom prst="rect">
              <a:avLst/>
            </a:prstGeom>
            <a:noFill/>
            <a:ln>
              <a:noFill/>
            </a:ln>
          </p:spPr>
          <p:txBody>
            <a:bodyPr wrap="none" lIns="0" tIns="0" rIns="0" bIns="0" anchor="t" anchorCtr="0">
              <a:spAutoFit/>
            </a:bodyPr>
            <a:lstStyle/>
            <a:p>
              <a:pPr algn="l"/>
              <a:r>
                <a:rPr lang="zh-CN" sz="1200" dirty="0">
                  <a:solidFill>
                    <a:srgbClr val="657174"/>
                  </a:solidFill>
                  <a:latin typeface="+mn-lt"/>
                  <a:ea typeface="+mn-ea"/>
                  <a:cs typeface="+mn-cs"/>
                </a:rPr>
                <a:t>私家车：能耗 + 精确时刻过路费 + 已结算目的地停车；Taxi：实际载客距离。</a:t>
              </a:r>
            </a:p>
          </p:txBody>
        </p:sp>
        <p:sp>
          <p:nvSpPr>
            <p:cNvPr id="28" name="TextBox 28"/>
            <p:cNvSpPr txBox="1"/>
            <p:nvPr/>
          </p:nvSpPr>
          <p:spPr>
            <a:xfrm>
              <a:off x="603504" y="6480810"/>
              <a:ext cx="4050792" cy="234696"/>
            </a:xfrm>
            <a:prstGeom prst="rect">
              <a:avLst/>
            </a:prstGeom>
            <a:noFill/>
            <a:ln>
              <a:noFill/>
            </a:ln>
          </p:spPr>
          <p:txBody>
            <a:bodyPr wrap="none" lIns="0" tIns="0" rIns="0" bIns="0" anchor="t" anchorCtr="0">
              <a:spAutoFit/>
            </a:bodyPr>
            <a:lstStyle/>
            <a:p>
              <a:pPr algn="l"/>
              <a:r>
                <a:rPr lang="zh-CN" sz="1200" dirty="0">
                  <a:solidFill>
                    <a:srgbClr val="657174"/>
                  </a:solidFill>
                  <a:latin typeface="+mn-lt"/>
                  <a:ea typeface="+mn-ea"/>
                  <a:cs typeface="+mn-cs"/>
                </a:rPr>
                <a:t>排除项和未解析状态保留在图下注释中，不被静默补零。</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14300" cy="6858000"/>
          </a:xfrm>
          <a:prstGeom prst="rect">
            <a:avLst/>
          </a:prstGeom>
          <a:solidFill>
            <a:schemeClr val="accent3"/>
          </a:solidFill>
          <a:ln>
            <a:noFill/>
          </a:ln>
        </p:spPr>
      </p:sp>
      <p:grpSp>
        <p:nvGrpSpPr>
          <p:cNvPr id="7" name="Group 7"/>
          <p:cNvGrpSpPr/>
          <p:nvPr/>
        </p:nvGrpSpPr>
        <p:grpSpPr>
          <a:xfrm>
            <a:off x="594360" y="384810"/>
            <a:ext cx="10689336" cy="1080135"/>
            <a:chOff x="594360" y="384810"/>
            <a:chExt cx="10689336" cy="1080135"/>
          </a:xfrm>
        </p:grpSpPr>
        <p:sp>
          <p:nvSpPr>
            <p:cNvPr id="3" name="TextBox 3"/>
            <p:cNvSpPr txBox="1"/>
            <p:nvPr/>
          </p:nvSpPr>
          <p:spPr>
            <a:xfrm>
              <a:off x="603504" y="384810"/>
              <a:ext cx="2718024" cy="234696"/>
            </a:xfrm>
            <a:prstGeom prst="rect">
              <a:avLst/>
            </a:prstGeom>
            <a:noFill/>
            <a:ln>
              <a:noFill/>
            </a:ln>
          </p:spPr>
          <p:txBody>
            <a:bodyPr wrap="none" lIns="0" tIns="0" rIns="0" bIns="0" anchor="t" anchorCtr="0">
              <a:spAutoFit/>
            </a:bodyPr>
            <a:lstStyle/>
            <a:p>
              <a:pPr algn="l"/>
              <a:r>
                <a:rPr lang="zh-CN" sz="1200" b="1" spc="75" dirty="0">
                  <a:solidFill>
                    <a:schemeClr val="accent3"/>
                  </a:solidFill>
                  <a:latin typeface="+mn-lt"/>
                  <a:ea typeface="+mn-ea"/>
                  <a:cs typeface="+mn-cs"/>
                </a:rPr>
                <a:t>09 · SIGNALS AND GREEN WAVE</a:t>
              </a:r>
            </a:p>
          </p:txBody>
        </p:sp>
        <p:sp>
          <p:nvSpPr>
            <p:cNvPr id="4" name="TextBox 4"/>
            <p:cNvSpPr txBox="1"/>
            <p:nvPr/>
          </p:nvSpPr>
          <p:spPr>
            <a:xfrm>
              <a:off x="594360" y="666750"/>
              <a:ext cx="8107680"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信号系统已进入全港网络，并可验证绿波协调</a:t>
              </a:r>
            </a:p>
          </p:txBody>
        </p:sp>
        <p:sp>
          <p:nvSpPr>
            <p:cNvPr id="5" name="TextBox 5"/>
            <p:cNvSpPr txBox="1"/>
            <p:nvPr/>
          </p:nvSpPr>
          <p:spPr>
            <a:xfrm>
              <a:off x="601980" y="1171575"/>
              <a:ext cx="4333240" cy="293370"/>
            </a:xfrm>
            <a:prstGeom prst="rect">
              <a:avLst/>
            </a:prstGeom>
            <a:noFill/>
            <a:ln>
              <a:noFill/>
            </a:ln>
          </p:spPr>
          <p:txBody>
            <a:bodyPr wrap="none" lIns="0" tIns="0" rIns="0" bIns="0" anchor="t" anchorCtr="0">
              <a:spAutoFit/>
            </a:bodyPr>
            <a:lstStyle/>
            <a:p>
              <a:pPr algn="l"/>
              <a:r>
                <a:rPr lang="zh-CN" sz="1500" dirty="0">
                  <a:solidFill>
                    <a:srgbClr val="657174"/>
                  </a:solidFill>
                  <a:latin typeface="+mn-lt"/>
                  <a:ea typeface="+mn-ea"/>
                  <a:cs typeface="+mn-cs"/>
                </a:rPr>
                <a:t>Candidate11 · 全局分布 + 局部走廊 + 时空协调</a:t>
              </a:r>
            </a:p>
          </p:txBody>
        </p:sp>
        <p:sp>
          <p:nvSpPr>
            <p:cNvPr id="6" name="TextBox 6"/>
            <p:cNvSpPr txBox="1"/>
            <p:nvPr/>
          </p:nvSpPr>
          <p:spPr>
            <a:xfrm>
              <a:off x="10730332" y="384810"/>
              <a:ext cx="553364" cy="234696"/>
            </a:xfrm>
            <a:prstGeom prst="rect">
              <a:avLst/>
            </a:prstGeom>
            <a:noFill/>
            <a:ln>
              <a:noFill/>
            </a:ln>
          </p:spPr>
          <p:txBody>
            <a:bodyPr wrap="none" lIns="0" tIns="0" rIns="0" bIns="0" anchor="t" anchorCtr="0">
              <a:spAutoFit/>
            </a:bodyPr>
            <a:lstStyle/>
            <a:p>
              <a:pPr algn="r"/>
              <a:r>
                <a:rPr lang="zh-CN" sz="1200" dirty="0">
                  <a:solidFill>
                    <a:srgbClr val="657174"/>
                  </a:solidFill>
                  <a:latin typeface="+mn-lt"/>
                  <a:ea typeface="+mn-ea"/>
                  <a:cs typeface="+mn-cs"/>
                </a:rPr>
                <a:t>10 / 11</a:t>
              </a:r>
            </a:p>
          </p:txBody>
        </p:sp>
      </p:grpSp>
      <p:grpSp>
        <p:nvGrpSpPr>
          <p:cNvPr id="10" name="Group 10"/>
          <p:cNvGrpSpPr/>
          <p:nvPr/>
        </p:nvGrpSpPr>
        <p:grpSpPr>
          <a:xfrm>
            <a:off x="609600" y="1676400"/>
            <a:ext cx="6343650" cy="4362450"/>
            <a:chOff x="609600" y="1676400"/>
            <a:chExt cx="6343650" cy="4362450"/>
          </a:xfrm>
        </p:grpSpPr>
        <p:sp>
          <p:nvSpPr>
            <p:cNvPr id="8" name="Rectangle 8"/>
            <p:cNvSpPr/>
            <p:nvPr/>
          </p:nvSpPr>
          <p:spPr>
            <a:xfrm>
              <a:off x="609600" y="1676400"/>
              <a:ext cx="6343650" cy="4362450"/>
            </a:xfrm>
            <a:prstGeom prst="rect">
              <a:avLst/>
            </a:prstGeom>
            <a:solidFill>
              <a:schemeClr val="lt1"/>
            </a:solidFill>
            <a:ln w="9525">
              <a:solidFill>
                <a:srgbClr val="CBD2D0"/>
              </a:solidFill>
            </a:ln>
          </p:spPr>
        </p:sp>
        <p:pic>
          <p:nvPicPr>
            <p:cNvPr id="9" name="Image 9"/>
            <p:cNvPicPr>
              <a:picLocks noChangeAspect="1"/>
            </p:cNvPicPr>
            <p:nvPr/>
          </p:nvPicPr>
          <p:blipFill>
            <a:blip r:embed="rId2"/>
            <a:stretch>
              <a:fillRect/>
            </a:stretch>
          </p:blipFill>
          <p:spPr>
            <a:xfrm>
              <a:off x="626174" y="1685925"/>
              <a:ext cx="6310502" cy="4343400"/>
            </a:xfrm>
            <a:prstGeom prst="rect">
              <a:avLst/>
            </a:prstGeom>
          </p:spPr>
        </p:pic>
      </p:grpSp>
      <p:grpSp>
        <p:nvGrpSpPr>
          <p:cNvPr id="28" name="Group 28"/>
          <p:cNvGrpSpPr/>
          <p:nvPr/>
        </p:nvGrpSpPr>
        <p:grpSpPr>
          <a:xfrm>
            <a:off x="7239000" y="1676400"/>
            <a:ext cx="4343400" cy="4362450"/>
            <a:chOff x="7239000" y="1676400"/>
            <a:chExt cx="4343400" cy="4362450"/>
          </a:xfrm>
        </p:grpSpPr>
        <p:sp>
          <p:nvSpPr>
            <p:cNvPr id="11" name="Rectangle 11"/>
            <p:cNvSpPr/>
            <p:nvPr/>
          </p:nvSpPr>
          <p:spPr>
            <a:xfrm>
              <a:off x="7239000" y="1676400"/>
              <a:ext cx="4343400" cy="4362450"/>
            </a:xfrm>
            <a:prstGeom prst="rect">
              <a:avLst/>
            </a:prstGeom>
            <a:solidFill>
              <a:schemeClr val="accent5"/>
            </a:solidFill>
            <a:ln>
              <a:noFill/>
            </a:ln>
          </p:spPr>
        </p:sp>
        <p:sp>
          <p:nvSpPr>
            <p:cNvPr id="12" name="TextBox 12"/>
            <p:cNvSpPr txBox="1"/>
            <p:nvPr/>
          </p:nvSpPr>
          <p:spPr>
            <a:xfrm>
              <a:off x="7516368" y="1841182"/>
              <a:ext cx="2237994" cy="322707"/>
            </a:xfrm>
            <a:prstGeom prst="rect">
              <a:avLst/>
            </a:prstGeom>
            <a:noFill/>
            <a:ln>
              <a:noFill/>
            </a:ln>
          </p:spPr>
          <p:txBody>
            <a:bodyPr wrap="none" lIns="0" tIns="0" rIns="0" bIns="0" anchor="t" anchorCtr="0">
              <a:spAutoFit/>
            </a:bodyPr>
            <a:lstStyle/>
            <a:p>
              <a:pPr algn="l"/>
              <a:r>
                <a:rPr lang="zh-CN" sz="1650" b="1" dirty="0">
                  <a:solidFill>
                    <a:schemeClr val="dk1"/>
                  </a:solidFill>
                  <a:latin typeface="+mn-lt"/>
                  <a:ea typeface="+mn-ea"/>
                  <a:cs typeface="+mn-cs"/>
                </a:rPr>
                <a:t>编译后的全港控制规模</a:t>
              </a:r>
            </a:p>
          </p:txBody>
        </p:sp>
        <p:sp>
          <p:nvSpPr>
            <p:cNvPr id="13" name="Line 13"/>
            <p:cNvSpPr/>
            <p:nvPr/>
          </p:nvSpPr>
          <p:spPr>
            <a:xfrm>
              <a:off x="7524750" y="2247900"/>
              <a:ext cx="3771900" cy="9525"/>
            </a:xfrm>
            <a:custGeom>
              <a:avLst/>
              <a:gdLst/>
              <a:ahLst/>
              <a:cxnLst/>
              <a:rect l="l" t="t" r="r" b="b"/>
              <a:pathLst>
                <a:path w="3771900" h="9525">
                  <a:moveTo>
                    <a:pt x="0" y="0"/>
                  </a:moveTo>
                  <a:lnTo>
                    <a:pt x="3771900" y="0"/>
                  </a:lnTo>
                </a:path>
              </a:pathLst>
            </a:custGeom>
            <a:noFill/>
            <a:ln w="9525">
              <a:solidFill>
                <a:srgbClr val="CBD2D0"/>
              </a:solidFill>
            </a:ln>
          </p:spPr>
        </p:sp>
        <p:sp>
          <p:nvSpPr>
            <p:cNvPr id="14" name="TextBox 14"/>
            <p:cNvSpPr txBox="1"/>
            <p:nvPr/>
          </p:nvSpPr>
          <p:spPr>
            <a:xfrm>
              <a:off x="7509510" y="2419350"/>
              <a:ext cx="1196626"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1,445</a:t>
              </a:r>
            </a:p>
          </p:txBody>
        </p:sp>
        <p:sp>
          <p:nvSpPr>
            <p:cNvPr id="15" name="TextBox 15"/>
            <p:cNvSpPr txBox="1"/>
            <p:nvPr/>
          </p:nvSpPr>
          <p:spPr>
            <a:xfrm>
              <a:off x="7517892" y="2902268"/>
              <a:ext cx="131313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signal systems</a:t>
              </a:r>
            </a:p>
          </p:txBody>
        </p:sp>
        <p:sp>
          <p:nvSpPr>
            <p:cNvPr id="16" name="TextBox 16"/>
            <p:cNvSpPr txBox="1"/>
            <p:nvPr/>
          </p:nvSpPr>
          <p:spPr>
            <a:xfrm>
              <a:off x="9700260" y="2419350"/>
              <a:ext cx="1196626"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3,243</a:t>
              </a:r>
            </a:p>
          </p:txBody>
        </p:sp>
        <p:sp>
          <p:nvSpPr>
            <p:cNvPr id="17" name="TextBox 17"/>
            <p:cNvSpPr txBox="1"/>
            <p:nvPr/>
          </p:nvSpPr>
          <p:spPr>
            <a:xfrm>
              <a:off x="9708642" y="2902268"/>
              <a:ext cx="117683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signal groups</a:t>
              </a:r>
            </a:p>
          </p:txBody>
        </p:sp>
        <p:sp>
          <p:nvSpPr>
            <p:cNvPr id="18" name="Line 18"/>
            <p:cNvSpPr/>
            <p:nvPr/>
          </p:nvSpPr>
          <p:spPr>
            <a:xfrm>
              <a:off x="7524750" y="3314700"/>
              <a:ext cx="3771900" cy="9525"/>
            </a:xfrm>
            <a:custGeom>
              <a:avLst/>
              <a:gdLst/>
              <a:ahLst/>
              <a:cxnLst/>
              <a:rect l="l" t="t" r="r" b="b"/>
              <a:pathLst>
                <a:path w="3771900" h="9525">
                  <a:moveTo>
                    <a:pt x="0" y="0"/>
                  </a:moveTo>
                  <a:lnTo>
                    <a:pt x="3771900" y="0"/>
                  </a:lnTo>
                </a:path>
              </a:pathLst>
            </a:custGeom>
            <a:noFill/>
            <a:ln w="9525">
              <a:solidFill>
                <a:srgbClr val="CBD2D0"/>
              </a:solidFill>
            </a:ln>
          </p:spPr>
        </p:sp>
        <p:sp>
          <p:nvSpPr>
            <p:cNvPr id="19" name="TextBox 19"/>
            <p:cNvSpPr txBox="1"/>
            <p:nvPr/>
          </p:nvSpPr>
          <p:spPr>
            <a:xfrm>
              <a:off x="7509510" y="3448050"/>
              <a:ext cx="1196626" cy="586740"/>
            </a:xfrm>
            <a:prstGeom prst="rect">
              <a:avLst/>
            </a:prstGeom>
            <a:noFill/>
            <a:ln>
              <a:noFill/>
            </a:ln>
          </p:spPr>
          <p:txBody>
            <a:bodyPr wrap="none" lIns="0" tIns="0" rIns="0" bIns="0" anchor="t" anchorCtr="0">
              <a:spAutoFit/>
            </a:bodyPr>
            <a:lstStyle/>
            <a:p>
              <a:pPr algn="l"/>
              <a:r>
                <a:rPr lang="zh-CN" sz="3000" b="1" dirty="0">
                  <a:solidFill>
                    <a:schemeClr val="accent2"/>
                  </a:solidFill>
                  <a:latin typeface="+mn-lt"/>
                  <a:ea typeface="+mn-ea"/>
                  <a:cs typeface="+mn-cs"/>
                </a:rPr>
                <a:t>6,941</a:t>
              </a:r>
            </a:p>
          </p:txBody>
        </p:sp>
        <p:sp>
          <p:nvSpPr>
            <p:cNvPr id="20" name="TextBox 20"/>
            <p:cNvSpPr txBox="1"/>
            <p:nvPr/>
          </p:nvSpPr>
          <p:spPr>
            <a:xfrm>
              <a:off x="7517892" y="3930968"/>
              <a:ext cx="147669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controlled turns</a:t>
              </a:r>
            </a:p>
          </p:txBody>
        </p:sp>
        <p:sp>
          <p:nvSpPr>
            <p:cNvPr id="21" name="TextBox 21"/>
            <p:cNvSpPr txBox="1"/>
            <p:nvPr/>
          </p:nvSpPr>
          <p:spPr>
            <a:xfrm>
              <a:off x="9700260" y="3448050"/>
              <a:ext cx="1451058" cy="586740"/>
            </a:xfrm>
            <a:prstGeom prst="rect">
              <a:avLst/>
            </a:prstGeom>
            <a:noFill/>
            <a:ln>
              <a:noFill/>
            </a:ln>
          </p:spPr>
          <p:txBody>
            <a:bodyPr wrap="none" lIns="0" tIns="0" rIns="0" bIns="0" anchor="t" anchorCtr="0">
              <a:spAutoFit/>
            </a:bodyPr>
            <a:lstStyle/>
            <a:p>
              <a:pPr algn="l"/>
              <a:r>
                <a:rPr lang="zh-CN" sz="3000" b="1" dirty="0">
                  <a:solidFill>
                    <a:schemeClr val="accent2"/>
                  </a:solidFill>
                  <a:latin typeface="+mn-lt"/>
                  <a:ea typeface="+mn-ea"/>
                  <a:cs typeface="+mn-cs"/>
                </a:rPr>
                <a:t>14 / 47</a:t>
              </a:r>
            </a:p>
          </p:txBody>
        </p:sp>
        <p:sp>
          <p:nvSpPr>
            <p:cNvPr id="22" name="TextBox 22"/>
            <p:cNvSpPr txBox="1"/>
            <p:nvPr/>
          </p:nvSpPr>
          <p:spPr>
            <a:xfrm>
              <a:off x="9708642" y="3930968"/>
              <a:ext cx="18129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corridors / systems</a:t>
              </a:r>
            </a:p>
          </p:txBody>
        </p:sp>
        <p:sp>
          <p:nvSpPr>
            <p:cNvPr id="23" name="Line 23"/>
            <p:cNvSpPr/>
            <p:nvPr/>
          </p:nvSpPr>
          <p:spPr>
            <a:xfrm>
              <a:off x="7524750" y="4400550"/>
              <a:ext cx="3771900" cy="9525"/>
            </a:xfrm>
            <a:custGeom>
              <a:avLst/>
              <a:gdLst/>
              <a:ahLst/>
              <a:cxnLst/>
              <a:rect l="l" t="t" r="r" b="b"/>
              <a:pathLst>
                <a:path w="3771900" h="9525">
                  <a:moveTo>
                    <a:pt x="0" y="0"/>
                  </a:moveTo>
                  <a:lnTo>
                    <a:pt x="3771900" y="0"/>
                  </a:lnTo>
                </a:path>
              </a:pathLst>
            </a:custGeom>
            <a:noFill/>
            <a:ln w="38100">
              <a:solidFill>
                <a:schemeClr val="accent3"/>
              </a:solidFill>
            </a:ln>
          </p:spPr>
        </p:sp>
        <p:sp>
          <p:nvSpPr>
            <p:cNvPr id="24" name="TextBox 24"/>
            <p:cNvSpPr txBox="1"/>
            <p:nvPr/>
          </p:nvSpPr>
          <p:spPr>
            <a:xfrm>
              <a:off x="7517892" y="4616768"/>
              <a:ext cx="3085980" cy="264033"/>
            </a:xfrm>
            <a:prstGeom prst="rect">
              <a:avLst/>
            </a:prstGeom>
            <a:noFill/>
            <a:ln>
              <a:noFill/>
            </a:ln>
          </p:spPr>
          <p:txBody>
            <a:bodyPr wrap="none" lIns="0" tIns="0" rIns="0" bIns="0" anchor="t" anchorCtr="0">
              <a:spAutoFit/>
            </a:bodyPr>
            <a:lstStyle/>
            <a:p>
              <a:pPr algn="l"/>
              <a:r>
                <a:rPr lang="zh-CN" sz="1350" b="1" dirty="0">
                  <a:solidFill>
                    <a:schemeClr val="dk1"/>
                  </a:solidFill>
                  <a:latin typeface="+mn-lt"/>
                  <a:ea typeface="+mn-ea"/>
                  <a:cs typeface="+mn-cs"/>
                </a:rPr>
                <a:t>corridor_002 · reverse direction</a:t>
              </a:r>
            </a:p>
          </p:txBody>
        </p:sp>
        <p:sp>
          <p:nvSpPr>
            <p:cNvPr id="25" name="TextBox 25"/>
            <p:cNvSpPr txBox="1"/>
            <p:nvPr/>
          </p:nvSpPr>
          <p:spPr>
            <a:xfrm>
              <a:off x="7514082" y="4954905"/>
              <a:ext cx="2114038"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0 · 3 · 8 · 12 s</a:t>
              </a:r>
            </a:p>
          </p:txBody>
        </p:sp>
        <p:sp>
          <p:nvSpPr>
            <p:cNvPr id="26" name="TextBox 26"/>
            <p:cNvSpPr txBox="1"/>
            <p:nvPr/>
          </p:nvSpPr>
          <p:spPr>
            <a:xfrm>
              <a:off x="7517892" y="5359718"/>
              <a:ext cx="3294069" cy="264033"/>
            </a:xfrm>
            <a:prstGeom prst="rect">
              <a:avLst/>
            </a:prstGeom>
            <a:noFill/>
            <a:ln>
              <a:noFill/>
            </a:ln>
          </p:spPr>
          <p:txBody>
            <a:bodyPr wrap="none" lIns="0" tIns="0" rIns="0" bIns="0" anchor="t" anchorCtr="0">
              <a:spAutoFit/>
            </a:bodyPr>
            <a:lstStyle/>
            <a:p>
              <a:pPr algn="l"/>
              <a:r>
                <a:rPr lang="zh-CN" sz="1350" dirty="0">
                  <a:solidFill>
                    <a:srgbClr val="657174"/>
                  </a:solidFill>
                  <a:latin typeface="+mn-lt"/>
                  <a:ea typeface="+mn-ea"/>
                  <a:cs typeface="+mn-cs"/>
                </a:rPr>
                <a:t>fixed offsets · 20:15–20:30 peak bin</a:t>
              </a:r>
            </a:p>
          </p:txBody>
        </p:sp>
        <p:sp>
          <p:nvSpPr>
            <p:cNvPr id="27" name="TextBox 27"/>
            <p:cNvSpPr txBox="1"/>
            <p:nvPr/>
          </p:nvSpPr>
          <p:spPr>
            <a:xfrm>
              <a:off x="7518654" y="5680710"/>
              <a:ext cx="2596896" cy="234696"/>
            </a:xfrm>
            <a:prstGeom prst="rect">
              <a:avLst/>
            </a:prstGeom>
            <a:noFill/>
            <a:ln>
              <a:noFill/>
            </a:ln>
          </p:spPr>
          <p:txBody>
            <a:bodyPr wrap="none" lIns="0" tIns="0" rIns="0" bIns="0" anchor="t" anchorCtr="0">
              <a:spAutoFit/>
            </a:bodyPr>
            <a:lstStyle/>
            <a:p>
              <a:pPr algn="l"/>
              <a:r>
                <a:rPr lang="zh-CN" sz="1200" dirty="0">
                  <a:solidFill>
                    <a:srgbClr val="657174"/>
                  </a:solidFill>
                  <a:latin typeface="+mn-lt"/>
                  <a:ea typeface="+mn-ea"/>
                  <a:cs typeface="+mn-cs"/>
                </a:rPr>
                <a:t>地图与时空图共享同一走廊系统定义</a:t>
              </a:r>
            </a:p>
          </p:txBody>
        </p:sp>
      </p:grpSp>
      <p:sp>
        <p:nvSpPr>
          <p:cNvPr id="29" name="TextBox 29"/>
          <p:cNvSpPr txBox="1"/>
          <p:nvPr/>
        </p:nvSpPr>
        <p:spPr>
          <a:xfrm>
            <a:off x="603504" y="6309360"/>
            <a:ext cx="5343144" cy="234696"/>
          </a:xfrm>
          <a:prstGeom prst="rect">
            <a:avLst/>
          </a:prstGeom>
          <a:noFill/>
          <a:ln>
            <a:noFill/>
          </a:ln>
        </p:spPr>
        <p:txBody>
          <a:bodyPr wrap="none" lIns="0" tIns="0" rIns="0" bIns="0" anchor="t" anchorCtr="0">
            <a:spAutoFit/>
          </a:bodyPr>
          <a:lstStyle/>
          <a:p>
            <a:pPr algn="l"/>
            <a:r>
              <a:rPr lang="zh-CN" sz="1200" dirty="0">
                <a:solidFill>
                  <a:srgbClr val="657174"/>
                </a:solidFill>
                <a:latin typeface="+mn-lt"/>
                <a:ea typeface="+mn-ea"/>
                <a:cs typeface="+mn-cs"/>
              </a:rPr>
              <a:t>边界：周期方案与走廊偏移是研究候选，不是对香港真实信号配时的观测。</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14300" cy="6858000"/>
          </a:xfrm>
          <a:prstGeom prst="rect">
            <a:avLst/>
          </a:prstGeom>
          <a:solidFill>
            <a:schemeClr val="dk1"/>
          </a:solidFill>
          <a:ln>
            <a:noFill/>
          </a:ln>
        </p:spPr>
      </p:sp>
      <p:grpSp>
        <p:nvGrpSpPr>
          <p:cNvPr id="7" name="Group 7"/>
          <p:cNvGrpSpPr/>
          <p:nvPr/>
        </p:nvGrpSpPr>
        <p:grpSpPr>
          <a:xfrm>
            <a:off x="594360" y="441960"/>
            <a:ext cx="10689336" cy="1150429"/>
            <a:chOff x="594360" y="441960"/>
            <a:chExt cx="10689336" cy="1150429"/>
          </a:xfrm>
        </p:grpSpPr>
        <p:sp>
          <p:nvSpPr>
            <p:cNvPr id="3" name="TextBox 3"/>
            <p:cNvSpPr txBox="1"/>
            <p:nvPr/>
          </p:nvSpPr>
          <p:spPr>
            <a:xfrm>
              <a:off x="603504" y="441960"/>
              <a:ext cx="2007108" cy="234696"/>
            </a:xfrm>
            <a:prstGeom prst="rect">
              <a:avLst/>
            </a:prstGeom>
            <a:noFill/>
            <a:ln>
              <a:noFill/>
            </a:ln>
          </p:spPr>
          <p:txBody>
            <a:bodyPr wrap="none" lIns="0" tIns="0" rIns="0" bIns="0" anchor="t" anchorCtr="0">
              <a:spAutoFit/>
            </a:bodyPr>
            <a:lstStyle/>
            <a:p>
              <a:pPr algn="l"/>
              <a:r>
                <a:rPr lang="zh-CN" sz="1200" b="1" spc="75" dirty="0">
                  <a:solidFill>
                    <a:schemeClr val="accent1"/>
                  </a:solidFill>
                  <a:latin typeface="+mn-lt"/>
                  <a:ea typeface="+mn-ea"/>
                  <a:cs typeface="+mn-cs"/>
                </a:rPr>
                <a:t>10 · STAGE SYNTHESIS</a:t>
              </a:r>
            </a:p>
          </p:txBody>
        </p:sp>
        <p:sp>
          <p:nvSpPr>
            <p:cNvPr id="4" name="TextBox 4"/>
            <p:cNvSpPr txBox="1"/>
            <p:nvPr/>
          </p:nvSpPr>
          <p:spPr>
            <a:xfrm>
              <a:off x="594360" y="762000"/>
              <a:ext cx="7299960"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n-lt"/>
                  <a:ea typeface="+mn-ea"/>
                  <a:cs typeface="+mn-cs"/>
                </a:rPr>
                <a:t>阶段性升级：货币化、实体化、可审计化</a:t>
              </a:r>
            </a:p>
          </p:txBody>
        </p:sp>
        <p:sp>
          <p:nvSpPr>
            <p:cNvPr id="5" name="TextBox 5"/>
            <p:cNvSpPr txBox="1"/>
            <p:nvPr/>
          </p:nvSpPr>
          <p:spPr>
            <a:xfrm>
              <a:off x="601218" y="1269682"/>
              <a:ext cx="7346823" cy="322707"/>
            </a:xfrm>
            <a:prstGeom prst="rect">
              <a:avLst/>
            </a:prstGeom>
            <a:noFill/>
            <a:ln>
              <a:noFill/>
            </a:ln>
          </p:spPr>
          <p:txBody>
            <a:bodyPr wrap="none" lIns="0" tIns="0" rIns="0" bIns="0" anchor="t" anchorCtr="0">
              <a:spAutoFit/>
            </a:bodyPr>
            <a:lstStyle/>
            <a:p>
              <a:pPr algn="l"/>
              <a:r>
                <a:rPr lang="zh-CN" sz="1650" dirty="0">
                  <a:solidFill>
                    <a:srgbClr val="657174"/>
                  </a:solidFill>
                  <a:latin typeface="+mn-lt"/>
                  <a:ea typeface="+mn-ea"/>
                  <a:cs typeface="+mn-cs"/>
                </a:rPr>
                <a:t>把模式选择背后的真实代价、稀缺资源和控制过程转化为可解释的运行结果</a:t>
              </a:r>
            </a:p>
          </p:txBody>
        </p:sp>
        <p:sp>
          <p:nvSpPr>
            <p:cNvPr id="6" name="TextBox 6"/>
            <p:cNvSpPr txBox="1"/>
            <p:nvPr/>
          </p:nvSpPr>
          <p:spPr>
            <a:xfrm>
              <a:off x="10730332" y="441960"/>
              <a:ext cx="553364" cy="234696"/>
            </a:xfrm>
            <a:prstGeom prst="rect">
              <a:avLst/>
            </a:prstGeom>
            <a:noFill/>
            <a:ln>
              <a:noFill/>
            </a:ln>
          </p:spPr>
          <p:txBody>
            <a:bodyPr wrap="none" lIns="0" tIns="0" rIns="0" bIns="0" anchor="t" anchorCtr="0">
              <a:spAutoFit/>
            </a:bodyPr>
            <a:lstStyle/>
            <a:p>
              <a:pPr algn="r"/>
              <a:r>
                <a:rPr lang="zh-CN" sz="1200" dirty="0">
                  <a:solidFill>
                    <a:srgbClr val="657174"/>
                  </a:solidFill>
                  <a:latin typeface="+mn-lt"/>
                  <a:ea typeface="+mn-ea"/>
                  <a:cs typeface="+mn-cs"/>
                </a:rPr>
                <a:t>11 / 11</a:t>
              </a:r>
            </a:p>
          </p:txBody>
        </p:sp>
      </p:grpSp>
      <p:grpSp>
        <p:nvGrpSpPr>
          <p:cNvPr id="13" name="Group 13"/>
          <p:cNvGrpSpPr/>
          <p:nvPr/>
        </p:nvGrpSpPr>
        <p:grpSpPr>
          <a:xfrm>
            <a:off x="594360" y="2076450"/>
            <a:ext cx="3006090" cy="2937701"/>
            <a:chOff x="594360" y="2076450"/>
            <a:chExt cx="3006090" cy="2937701"/>
          </a:xfrm>
        </p:grpSpPr>
        <p:sp>
          <p:nvSpPr>
            <p:cNvPr id="8" name="TextBox 8"/>
            <p:cNvSpPr txBox="1"/>
            <p:nvPr/>
          </p:nvSpPr>
          <p:spPr>
            <a:xfrm>
              <a:off x="594360" y="2076450"/>
              <a:ext cx="496938" cy="586740"/>
            </a:xfrm>
            <a:prstGeom prst="rect">
              <a:avLst/>
            </a:prstGeom>
            <a:noFill/>
            <a:ln>
              <a:noFill/>
            </a:ln>
          </p:spPr>
          <p:txBody>
            <a:bodyPr wrap="none" lIns="0" tIns="0" rIns="0" bIns="0" anchor="t" anchorCtr="0">
              <a:spAutoFit/>
            </a:bodyPr>
            <a:lstStyle/>
            <a:p>
              <a:pPr algn="l"/>
              <a:r>
                <a:rPr lang="zh-CN" sz="3000" b="1" dirty="0">
                  <a:solidFill>
                    <a:schemeClr val="accent2"/>
                  </a:solidFill>
                  <a:latin typeface="+mn-lt"/>
                  <a:ea typeface="+mn-ea"/>
                  <a:cs typeface="+mn-cs"/>
                </a:rPr>
                <a:t>01</a:t>
              </a:r>
            </a:p>
          </p:txBody>
        </p:sp>
        <p:sp>
          <p:nvSpPr>
            <p:cNvPr id="9" name="TextBox 9"/>
            <p:cNvSpPr txBox="1"/>
            <p:nvPr/>
          </p:nvSpPr>
          <p:spPr>
            <a:xfrm>
              <a:off x="598932" y="2668905"/>
              <a:ext cx="869442"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货币化</a:t>
              </a:r>
            </a:p>
          </p:txBody>
        </p:sp>
        <p:sp>
          <p:nvSpPr>
            <p:cNvPr id="10" name="Line 10"/>
            <p:cNvSpPr/>
            <p:nvPr/>
          </p:nvSpPr>
          <p:spPr>
            <a:xfrm>
              <a:off x="609600" y="3105150"/>
              <a:ext cx="2990850" cy="9525"/>
            </a:xfrm>
            <a:custGeom>
              <a:avLst/>
              <a:gdLst/>
              <a:ahLst/>
              <a:cxnLst/>
              <a:rect l="l" t="t" r="r" b="b"/>
              <a:pathLst>
                <a:path w="2990850" h="9525">
                  <a:moveTo>
                    <a:pt x="0" y="0"/>
                  </a:moveTo>
                  <a:lnTo>
                    <a:pt x="2990850" y="0"/>
                  </a:lnTo>
                </a:path>
              </a:pathLst>
            </a:custGeom>
            <a:noFill/>
            <a:ln w="38100">
              <a:solidFill>
                <a:schemeClr val="accent2"/>
              </a:solidFill>
            </a:ln>
          </p:spPr>
        </p:sp>
        <p:sp>
          <p:nvSpPr>
            <p:cNvPr id="11" name="TextBox 11"/>
            <p:cNvSpPr txBox="1"/>
            <p:nvPr/>
          </p:nvSpPr>
          <p:spPr>
            <a:xfrm>
              <a:off x="601980" y="3324225"/>
              <a:ext cx="2491740" cy="617220"/>
            </a:xfrm>
            <a:prstGeom prst="rect">
              <a:avLst/>
            </a:prstGeom>
            <a:noFill/>
            <a:ln>
              <a:noFill/>
            </a:ln>
          </p:spPr>
          <p:txBody>
            <a:bodyPr wrap="none" lIns="0" tIns="0" rIns="0" bIns="0" anchor="t" anchorCtr="0">
              <a:spAutoFit/>
            </a:bodyPr>
            <a:lstStyle/>
            <a:p>
              <a:pPr algn="l">
                <a:lnSpc>
                  <a:spcPts val="2550"/>
                </a:lnSpc>
              </a:pPr>
              <a:r>
                <a:rPr lang="zh-CN" sz="1500" dirty="0">
                  <a:solidFill>
                    <a:schemeClr val="dk1"/>
                  </a:solidFill>
                  <a:latin typeface="+mn-lt"/>
                  <a:ea typeface="+mn-ea"/>
                  <a:cs typeface="+mn-cs"/>
                </a:rPr>
                <a:t>出行代价进入真实港币口径，</a:t>
              </a:r>
              <a:br/>
              <a:r>
                <a:rPr lang="zh-CN" sz="1500" dirty="0">
                  <a:solidFill>
                    <a:schemeClr val="dk1"/>
                  </a:solidFill>
                  <a:latin typeface="+mn-lt"/>
                  <a:ea typeface="+mn-ea"/>
                  <a:cs typeface="+mn-cs"/>
                </a:rPr>
                <a:t>并可追溯到执行规则。</a:t>
              </a:r>
            </a:p>
          </p:txBody>
        </p:sp>
        <p:sp>
          <p:nvSpPr>
            <p:cNvPr id="12" name="TextBox 12"/>
            <p:cNvSpPr txBox="1"/>
            <p:nvPr/>
          </p:nvSpPr>
          <p:spPr>
            <a:xfrm>
              <a:off x="602742" y="4178618"/>
              <a:ext cx="1428178" cy="835533"/>
            </a:xfrm>
            <a:prstGeom prst="rect">
              <a:avLst/>
            </a:prstGeom>
            <a:noFill/>
            <a:ln>
              <a:noFill/>
            </a:ln>
          </p:spPr>
          <p:txBody>
            <a:bodyPr wrap="none" lIns="0" tIns="0" rIns="0" bIns="0" anchor="t" anchorCtr="0">
              <a:spAutoFit/>
            </a:bodyPr>
            <a:lstStyle/>
            <a:p>
              <a:pPr algn="l">
                <a:lnSpc>
                  <a:spcPts val="2250"/>
                </a:lnSpc>
              </a:pPr>
              <a:r>
                <a:rPr lang="zh-CN" sz="1350" dirty="0">
                  <a:solidFill>
                    <a:srgbClr val="657174"/>
                  </a:solidFill>
                  <a:latin typeface="+mn-lt"/>
                  <a:ea typeface="+mn-ea"/>
                  <a:cs typeface="+mn-cs"/>
                </a:rPr>
                <a:t>私家车成本构成</a:t>
              </a:r>
              <a:br/>
              <a:r>
                <a:rPr lang="zh-CN" sz="1350" dirty="0">
                  <a:solidFill>
                    <a:srgbClr val="657174"/>
                  </a:solidFill>
                  <a:latin typeface="+mn-lt"/>
                  <a:ea typeface="+mn-ea"/>
                  <a:cs typeface="+mn-cs"/>
                </a:rPr>
                <a:t>严格 PT 票价</a:t>
              </a:r>
              <a:br/>
              <a:r>
                <a:rPr lang="zh-CN" sz="1350" dirty="0">
                  <a:solidFill>
                    <a:srgbClr val="657174"/>
                  </a:solidFill>
                  <a:latin typeface="+mn-lt"/>
                  <a:ea typeface="+mn-ea"/>
                  <a:cs typeface="+mn-cs"/>
                </a:rPr>
                <a:t>全港 HKD 成本表面</a:t>
              </a:r>
            </a:p>
          </p:txBody>
        </p:sp>
      </p:grpSp>
      <p:sp>
        <p:nvSpPr>
          <p:cNvPr id="14" name="Line 14"/>
          <p:cNvSpPr/>
          <p:nvPr/>
        </p:nvSpPr>
        <p:spPr>
          <a:xfrm>
            <a:off x="4114800" y="2190750"/>
            <a:ext cx="9525" cy="2762250"/>
          </a:xfrm>
          <a:custGeom>
            <a:avLst/>
            <a:gdLst/>
            <a:ahLst/>
            <a:cxnLst/>
            <a:rect l="l" t="t" r="r" b="b"/>
            <a:pathLst>
              <a:path w="9525" h="2762250">
                <a:moveTo>
                  <a:pt x="0" y="0"/>
                </a:moveTo>
                <a:lnTo>
                  <a:pt x="0" y="2762250"/>
                </a:lnTo>
              </a:path>
            </a:pathLst>
          </a:custGeom>
          <a:noFill/>
          <a:ln w="9525">
            <a:solidFill>
              <a:srgbClr val="CBD2D0"/>
            </a:solidFill>
          </a:ln>
        </p:spPr>
      </p:sp>
      <p:grpSp>
        <p:nvGrpSpPr>
          <p:cNvPr id="20" name="Group 20"/>
          <p:cNvGrpSpPr/>
          <p:nvPr/>
        </p:nvGrpSpPr>
        <p:grpSpPr>
          <a:xfrm>
            <a:off x="4442460" y="2076450"/>
            <a:ext cx="3006090" cy="2937701"/>
            <a:chOff x="4442460" y="2076450"/>
            <a:chExt cx="3006090" cy="2937701"/>
          </a:xfrm>
        </p:grpSpPr>
        <p:sp>
          <p:nvSpPr>
            <p:cNvPr id="15" name="TextBox 15"/>
            <p:cNvSpPr txBox="1"/>
            <p:nvPr/>
          </p:nvSpPr>
          <p:spPr>
            <a:xfrm>
              <a:off x="4442460" y="2076450"/>
              <a:ext cx="496938"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02</a:t>
              </a:r>
            </a:p>
          </p:txBody>
        </p:sp>
        <p:sp>
          <p:nvSpPr>
            <p:cNvPr id="16" name="TextBox 16"/>
            <p:cNvSpPr txBox="1"/>
            <p:nvPr/>
          </p:nvSpPr>
          <p:spPr>
            <a:xfrm>
              <a:off x="4447032" y="2668905"/>
              <a:ext cx="869442"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实体化</a:t>
              </a:r>
            </a:p>
          </p:txBody>
        </p:sp>
        <p:sp>
          <p:nvSpPr>
            <p:cNvPr id="17" name="Line 17"/>
            <p:cNvSpPr/>
            <p:nvPr/>
          </p:nvSpPr>
          <p:spPr>
            <a:xfrm>
              <a:off x="4457700" y="3105150"/>
              <a:ext cx="2990850" cy="9525"/>
            </a:xfrm>
            <a:custGeom>
              <a:avLst/>
              <a:gdLst/>
              <a:ahLst/>
              <a:cxnLst/>
              <a:rect l="l" t="t" r="r" b="b"/>
              <a:pathLst>
                <a:path w="2990850" h="9525">
                  <a:moveTo>
                    <a:pt x="0" y="0"/>
                  </a:moveTo>
                  <a:lnTo>
                    <a:pt x="2990850" y="0"/>
                  </a:lnTo>
                </a:path>
              </a:pathLst>
            </a:custGeom>
            <a:noFill/>
            <a:ln w="38100">
              <a:solidFill>
                <a:schemeClr val="accent1"/>
              </a:solidFill>
            </a:ln>
          </p:spPr>
        </p:sp>
        <p:sp>
          <p:nvSpPr>
            <p:cNvPr id="18" name="TextBox 18"/>
            <p:cNvSpPr txBox="1"/>
            <p:nvPr/>
          </p:nvSpPr>
          <p:spPr>
            <a:xfrm>
              <a:off x="4450080" y="3324225"/>
              <a:ext cx="2301240" cy="617220"/>
            </a:xfrm>
            <a:prstGeom prst="rect">
              <a:avLst/>
            </a:prstGeom>
            <a:noFill/>
            <a:ln>
              <a:noFill/>
            </a:ln>
          </p:spPr>
          <p:txBody>
            <a:bodyPr wrap="none" lIns="0" tIns="0" rIns="0" bIns="0" anchor="t" anchorCtr="0">
              <a:spAutoFit/>
            </a:bodyPr>
            <a:lstStyle/>
            <a:p>
              <a:pPr algn="l">
                <a:lnSpc>
                  <a:spcPts val="2550"/>
                </a:lnSpc>
              </a:pPr>
              <a:r>
                <a:rPr lang="zh-CN" sz="1500" dirty="0">
                  <a:solidFill>
                    <a:schemeClr val="dk1"/>
                  </a:solidFill>
                  <a:latin typeface="+mn-lt"/>
                  <a:ea typeface="+mn-ea"/>
                  <a:cs typeface="+mn-cs"/>
                </a:rPr>
                <a:t>车辆不再是无限可选标签，</a:t>
              </a:r>
              <a:br/>
              <a:r>
                <a:rPr lang="zh-CN" sz="1500" dirty="0">
                  <a:solidFill>
                    <a:schemeClr val="dk1"/>
                  </a:solidFill>
                  <a:latin typeface="+mn-lt"/>
                  <a:ea typeface="+mn-ea"/>
                  <a:cs typeface="+mn-cs"/>
                </a:rPr>
                <a:t>而是有归属和时序的资源。</a:t>
              </a:r>
            </a:p>
          </p:txBody>
        </p:sp>
        <p:sp>
          <p:nvSpPr>
            <p:cNvPr id="19" name="TextBox 19"/>
            <p:cNvSpPr txBox="1"/>
            <p:nvPr/>
          </p:nvSpPr>
          <p:spPr>
            <a:xfrm>
              <a:off x="4450842" y="4178618"/>
              <a:ext cx="1385316" cy="835533"/>
            </a:xfrm>
            <a:prstGeom prst="rect">
              <a:avLst/>
            </a:prstGeom>
            <a:noFill/>
            <a:ln>
              <a:noFill/>
            </a:ln>
          </p:spPr>
          <p:txBody>
            <a:bodyPr wrap="none" lIns="0" tIns="0" rIns="0" bIns="0" anchor="t" anchorCtr="0">
              <a:spAutoFit/>
            </a:bodyPr>
            <a:lstStyle/>
            <a:p>
              <a:pPr algn="l">
                <a:lnSpc>
                  <a:spcPts val="2250"/>
                </a:lnSpc>
              </a:pPr>
              <a:r>
                <a:rPr lang="zh-CN" sz="1350" dirty="0">
                  <a:solidFill>
                    <a:srgbClr val="657174"/>
                  </a:solidFill>
                  <a:latin typeface="+mn-lt"/>
                  <a:ea typeface="+mn-ea"/>
                  <a:cs typeface="+mn-cs"/>
                </a:rPr>
                <a:t>家庭共享私家车</a:t>
              </a:r>
              <a:br/>
              <a:r>
                <a:rPr lang="zh-CN" sz="1350" dirty="0">
                  <a:solidFill>
                    <a:srgbClr val="657174"/>
                  </a:solidFill>
                  <a:latin typeface="+mn-lt"/>
                  <a:ea typeface="+mn-ea"/>
                  <a:cs typeface="+mn-cs"/>
                </a:rPr>
                <a:t>校巴登乘机械门槛</a:t>
              </a:r>
              <a:br/>
              <a:r>
                <a:rPr lang="zh-CN" sz="1350" dirty="0">
                  <a:solidFill>
                    <a:srgbClr val="657174"/>
                  </a:solidFill>
                  <a:latin typeface="+mn-lt"/>
                  <a:ea typeface="+mn-ea"/>
                  <a:cs typeface="+mn-cs"/>
                </a:rPr>
                <a:t>有限出租车队</a:t>
              </a:r>
            </a:p>
          </p:txBody>
        </p:sp>
      </p:grpSp>
      <p:sp>
        <p:nvSpPr>
          <p:cNvPr id="21" name="Line 21"/>
          <p:cNvSpPr/>
          <p:nvPr/>
        </p:nvSpPr>
        <p:spPr>
          <a:xfrm>
            <a:off x="7962900" y="2190750"/>
            <a:ext cx="9525" cy="2762250"/>
          </a:xfrm>
          <a:custGeom>
            <a:avLst/>
            <a:gdLst/>
            <a:ahLst/>
            <a:cxnLst/>
            <a:rect l="l" t="t" r="r" b="b"/>
            <a:pathLst>
              <a:path w="9525" h="2762250">
                <a:moveTo>
                  <a:pt x="0" y="0"/>
                </a:moveTo>
                <a:lnTo>
                  <a:pt x="0" y="2762250"/>
                </a:lnTo>
              </a:path>
            </a:pathLst>
          </a:custGeom>
          <a:noFill/>
          <a:ln w="9525">
            <a:solidFill>
              <a:srgbClr val="CBD2D0"/>
            </a:solidFill>
          </a:ln>
        </p:spPr>
      </p:sp>
      <p:grpSp>
        <p:nvGrpSpPr>
          <p:cNvPr id="27" name="Group 27"/>
          <p:cNvGrpSpPr/>
          <p:nvPr/>
        </p:nvGrpSpPr>
        <p:grpSpPr>
          <a:xfrm>
            <a:off x="8290560" y="2076450"/>
            <a:ext cx="3006090" cy="2937701"/>
            <a:chOff x="8290560" y="2076450"/>
            <a:chExt cx="3006090" cy="2937701"/>
          </a:xfrm>
        </p:grpSpPr>
        <p:sp>
          <p:nvSpPr>
            <p:cNvPr id="22" name="TextBox 22"/>
            <p:cNvSpPr txBox="1"/>
            <p:nvPr/>
          </p:nvSpPr>
          <p:spPr>
            <a:xfrm>
              <a:off x="8290560" y="2076450"/>
              <a:ext cx="496938" cy="586740"/>
            </a:xfrm>
            <a:prstGeom prst="rect">
              <a:avLst/>
            </a:prstGeom>
            <a:noFill/>
            <a:ln>
              <a:noFill/>
            </a:ln>
          </p:spPr>
          <p:txBody>
            <a:bodyPr wrap="none" lIns="0" tIns="0" rIns="0" bIns="0" anchor="t" anchorCtr="0">
              <a:spAutoFit/>
            </a:bodyPr>
            <a:lstStyle/>
            <a:p>
              <a:pPr algn="l"/>
              <a:r>
                <a:rPr lang="zh-CN" sz="3000" b="1" dirty="0">
                  <a:solidFill>
                    <a:schemeClr val="accent3"/>
                  </a:solidFill>
                  <a:latin typeface="+mn-lt"/>
                  <a:ea typeface="+mn-ea"/>
                  <a:cs typeface="+mn-cs"/>
                </a:rPr>
                <a:t>03</a:t>
              </a:r>
            </a:p>
          </p:txBody>
        </p:sp>
        <p:sp>
          <p:nvSpPr>
            <p:cNvPr id="23" name="TextBox 23"/>
            <p:cNvSpPr txBox="1"/>
            <p:nvPr/>
          </p:nvSpPr>
          <p:spPr>
            <a:xfrm>
              <a:off x="8295132" y="2668905"/>
              <a:ext cx="1152144"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可审计化</a:t>
              </a:r>
            </a:p>
          </p:txBody>
        </p:sp>
        <p:sp>
          <p:nvSpPr>
            <p:cNvPr id="24" name="Line 24"/>
            <p:cNvSpPr/>
            <p:nvPr/>
          </p:nvSpPr>
          <p:spPr>
            <a:xfrm>
              <a:off x="8305800" y="3105150"/>
              <a:ext cx="2990850" cy="9525"/>
            </a:xfrm>
            <a:custGeom>
              <a:avLst/>
              <a:gdLst/>
              <a:ahLst/>
              <a:cxnLst/>
              <a:rect l="l" t="t" r="r" b="b"/>
              <a:pathLst>
                <a:path w="2990850" h="9525">
                  <a:moveTo>
                    <a:pt x="0" y="0"/>
                  </a:moveTo>
                  <a:lnTo>
                    <a:pt x="2990850" y="0"/>
                  </a:lnTo>
                </a:path>
              </a:pathLst>
            </a:custGeom>
            <a:noFill/>
            <a:ln w="38100">
              <a:solidFill>
                <a:schemeClr val="accent3"/>
              </a:solidFill>
            </a:ln>
          </p:spPr>
        </p:sp>
        <p:sp>
          <p:nvSpPr>
            <p:cNvPr id="25" name="TextBox 25"/>
            <p:cNvSpPr txBox="1"/>
            <p:nvPr/>
          </p:nvSpPr>
          <p:spPr>
            <a:xfrm>
              <a:off x="8298180" y="3324225"/>
              <a:ext cx="2491740" cy="617220"/>
            </a:xfrm>
            <a:prstGeom prst="rect">
              <a:avLst/>
            </a:prstGeom>
            <a:noFill/>
            <a:ln>
              <a:noFill/>
            </a:ln>
          </p:spPr>
          <p:txBody>
            <a:bodyPr wrap="none" lIns="0" tIns="0" rIns="0" bIns="0" anchor="t" anchorCtr="0">
              <a:spAutoFit/>
            </a:bodyPr>
            <a:lstStyle/>
            <a:p>
              <a:pPr algn="l">
                <a:lnSpc>
                  <a:spcPts val="2550"/>
                </a:lnSpc>
              </a:pPr>
              <a:r>
                <a:rPr lang="zh-CN" sz="1500" dirty="0">
                  <a:solidFill>
                    <a:schemeClr val="dk1"/>
                  </a:solidFill>
                  <a:latin typeface="+mn-lt"/>
                  <a:ea typeface="+mn-ea"/>
                  <a:cs typeface="+mn-cs"/>
                </a:rPr>
                <a:t>关键结果能够回到命名主体、</a:t>
              </a:r>
              <a:br/>
              <a:r>
                <a:rPr lang="zh-CN" sz="1500" dirty="0">
                  <a:solidFill>
                    <a:schemeClr val="dk1"/>
                  </a:solidFill>
                  <a:latin typeface="+mn-lt"/>
                  <a:ea typeface="+mn-ea"/>
                  <a:cs typeface="+mn-cs"/>
                </a:rPr>
                <a:t>事件时间和控制定义。</a:t>
              </a:r>
            </a:p>
          </p:txBody>
        </p:sp>
        <p:sp>
          <p:nvSpPr>
            <p:cNvPr id="26" name="TextBox 26"/>
            <p:cNvSpPr txBox="1"/>
            <p:nvPr/>
          </p:nvSpPr>
          <p:spPr>
            <a:xfrm>
              <a:off x="8298942" y="4178618"/>
              <a:ext cx="2251139" cy="835533"/>
            </a:xfrm>
            <a:prstGeom prst="rect">
              <a:avLst/>
            </a:prstGeom>
            <a:noFill/>
            <a:ln>
              <a:noFill/>
            </a:ln>
          </p:spPr>
          <p:txBody>
            <a:bodyPr wrap="none" lIns="0" tIns="0" rIns="0" bIns="0" anchor="t" anchorCtr="0">
              <a:spAutoFit/>
            </a:bodyPr>
            <a:lstStyle/>
            <a:p>
              <a:pPr algn="l">
                <a:lnSpc>
                  <a:spcPts val="2250"/>
                </a:lnSpc>
              </a:pPr>
              <a:r>
                <a:rPr lang="zh-CN" sz="1350" dirty="0">
                  <a:solidFill>
                    <a:srgbClr val="657174"/>
                  </a:solidFill>
                  <a:latin typeface="+mn-lt"/>
                  <a:ea typeface="+mn-ea"/>
                  <a:cs typeface="+mn-cs"/>
                </a:rPr>
                <a:t>person／vehicle／event</a:t>
              </a:r>
              <a:br/>
              <a:r>
                <a:rPr lang="zh-CN" sz="1350" dirty="0">
                  <a:solidFill>
                    <a:srgbClr val="657174"/>
                  </a:solidFill>
                  <a:latin typeface="+mn-lt"/>
                  <a:ea typeface="+mn-ea"/>
                  <a:cs typeface="+mn-cs"/>
                </a:rPr>
                <a:t>信号系统与 corridor offset</a:t>
              </a:r>
              <a:br/>
              <a:r>
                <a:rPr lang="zh-CN" sz="1350" dirty="0">
                  <a:solidFill>
                    <a:srgbClr val="657174"/>
                  </a:solidFill>
                  <a:latin typeface="+mn-lt"/>
                  <a:ea typeface="+mn-ea"/>
                  <a:cs typeface="+mn-cs"/>
                </a:rPr>
                <a:t>显式 null 与排除项</a:t>
              </a:r>
            </a:p>
          </p:txBody>
        </p:sp>
      </p:grpSp>
      <p:grpSp>
        <p:nvGrpSpPr>
          <p:cNvPr id="30" name="Group 30"/>
          <p:cNvGrpSpPr/>
          <p:nvPr/>
        </p:nvGrpSpPr>
        <p:grpSpPr>
          <a:xfrm>
            <a:off x="609600" y="5334000"/>
            <a:ext cx="10972800" cy="781050"/>
            <a:chOff x="609600" y="5334000"/>
            <a:chExt cx="10972800" cy="781050"/>
          </a:xfrm>
        </p:grpSpPr>
        <p:sp>
          <p:nvSpPr>
            <p:cNvPr id="28" name="Rectangle 28"/>
            <p:cNvSpPr/>
            <p:nvPr/>
          </p:nvSpPr>
          <p:spPr>
            <a:xfrm>
              <a:off x="609600" y="5334000"/>
              <a:ext cx="10972800" cy="781050"/>
            </a:xfrm>
            <a:prstGeom prst="rect">
              <a:avLst/>
            </a:prstGeom>
            <a:solidFill>
              <a:schemeClr val="accent1"/>
            </a:solidFill>
            <a:ln>
              <a:noFill/>
            </a:ln>
          </p:spPr>
        </p:sp>
        <p:sp>
          <p:nvSpPr>
            <p:cNvPr id="29" name="TextBox 29"/>
            <p:cNvSpPr txBox="1"/>
            <p:nvPr/>
          </p:nvSpPr>
          <p:spPr>
            <a:xfrm>
              <a:off x="2790440" y="5593080"/>
              <a:ext cx="6611120" cy="410718"/>
            </a:xfrm>
            <a:prstGeom prst="rect">
              <a:avLst/>
            </a:prstGeom>
            <a:noFill/>
            <a:ln>
              <a:noFill/>
            </a:ln>
          </p:spPr>
          <p:txBody>
            <a:bodyPr wrap="none" lIns="0" tIns="0" rIns="0" bIns="0" anchor="t" anchorCtr="0">
              <a:spAutoFit/>
            </a:bodyPr>
            <a:lstStyle/>
            <a:p>
              <a:pPr algn="ctr"/>
              <a:r>
                <a:rPr lang="zh-CN" sz="2100" b="1" dirty="0">
                  <a:solidFill>
                    <a:srgbClr val="FFFFFF"/>
                  </a:solidFill>
                  <a:latin typeface="+mn-lt"/>
                  <a:ea typeface="+mn-ea"/>
                  <a:cs typeface="+mn-cs"/>
                </a:rPr>
                <a:t>从“可以运行”推进到“可以解释每一次关键运行结果”</a:t>
              </a:r>
            </a:p>
          </p:txBody>
        </p:sp>
      </p:grpSp>
      <p:sp>
        <p:nvSpPr>
          <p:cNvPr id="31" name="TextBox 31"/>
          <p:cNvSpPr txBox="1"/>
          <p:nvPr/>
        </p:nvSpPr>
        <p:spPr>
          <a:xfrm>
            <a:off x="603504" y="6347460"/>
            <a:ext cx="6797040" cy="234696"/>
          </a:xfrm>
          <a:prstGeom prst="rect">
            <a:avLst/>
          </a:prstGeom>
          <a:noFill/>
          <a:ln>
            <a:noFill/>
          </a:ln>
        </p:spPr>
        <p:txBody>
          <a:bodyPr wrap="none" lIns="0" tIns="0" rIns="0" bIns="0" anchor="t" anchorCtr="0">
            <a:spAutoFit/>
          </a:bodyPr>
          <a:lstStyle/>
          <a:p>
            <a:pPr algn="l"/>
            <a:r>
              <a:rPr lang="zh-CN" sz="1200" dirty="0">
                <a:solidFill>
                  <a:srgbClr val="657174"/>
                </a:solidFill>
                <a:latin typeface="+mn-lt"/>
                <a:ea typeface="+mn-ea"/>
                <a:cs typeface="+mn-cs"/>
              </a:rPr>
              <a:t>本汇报展示候选与验证成果，不将其静默等同于生产情景或真实香港行为观测；不设置展望页。</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hong_kong_progress_report_20260825">
  <a:themeElements>
    <a:clrScheme name="hong_kong_progress_report_20260825">
      <a:dk1>
        <a:srgbClr val="202629"/>
      </a:dk1>
      <a:lt1>
        <a:srgbClr val="FFFFFF"/>
      </a:lt1>
      <a:dk2>
        <a:srgbClr val="1F497D"/>
      </a:dk2>
      <a:lt2>
        <a:srgbClr val="FFFFFF"/>
      </a:lt2>
      <a:accent1>
        <a:srgbClr val="2F7895"/>
      </a:accent1>
      <a:accent2>
        <a:srgbClr val="C45139"/>
      </a:accent2>
      <a:accent3>
        <a:srgbClr val="D1A04A"/>
      </a:accent3>
      <a:accent4>
        <a:srgbClr val="2F7895"/>
      </a:accent4>
      <a:accent5>
        <a:srgbClr val="EEF1EF"/>
      </a:accent5>
      <a:accent6>
        <a:srgbClr val="F79646"/>
      </a:accent6>
      <a:hlink>
        <a:srgbClr val="C45139"/>
      </a:hlink>
      <a:folHlink>
        <a:srgbClr val="D1A04A"/>
      </a:folHlink>
    </a:clrScheme>
    <a:fontScheme name="hong_kong_progress_report_20260825">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ong_kong_progress_report_2026082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hong_kong_progress_report_20260825">
  <a:themeElements>
    <a:clrScheme name="hong_kong_progress_report_20260825">
      <a:dk1>
        <a:srgbClr val="202629"/>
      </a:dk1>
      <a:lt1>
        <a:srgbClr val="FFFFFF"/>
      </a:lt1>
      <a:dk2>
        <a:srgbClr val="1F497D"/>
      </a:dk2>
      <a:lt2>
        <a:srgbClr val="FFFFFF"/>
      </a:lt2>
      <a:accent1>
        <a:srgbClr val="2F7895"/>
      </a:accent1>
      <a:accent2>
        <a:srgbClr val="C45139"/>
      </a:accent2>
      <a:accent3>
        <a:srgbClr val="D1A04A"/>
      </a:accent3>
      <a:accent4>
        <a:srgbClr val="2F7895"/>
      </a:accent4>
      <a:accent5>
        <a:srgbClr val="EEF1EF"/>
      </a:accent5>
      <a:accent6>
        <a:srgbClr val="F79646"/>
      </a:accent6>
      <a:hlink>
        <a:srgbClr val="C45139"/>
      </a:hlink>
      <a:folHlink>
        <a:srgbClr val="D1A04A"/>
      </a:folHlink>
    </a:clrScheme>
    <a:fontScheme name="hong_kong_progress_report_20260825">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ong_kong_progress_report_2026082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11</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2026-08-25T02:00:52Z</dcterms:created>
  <dcterms:modified xsi:type="dcterms:W3CDTF">2026-08-25T02:00:52Z</dcterms:modified>
  <cp:category/>
  <cp:contentStatus/>
</cp:coreProperties>
</file>