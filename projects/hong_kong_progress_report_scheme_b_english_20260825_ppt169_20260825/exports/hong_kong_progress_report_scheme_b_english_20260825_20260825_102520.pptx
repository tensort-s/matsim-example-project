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png" ContentType="image/pn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  <Relationship Id="rId18"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en"/>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en"/>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en"/>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en"/>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en"/>
          </a:p>
        </p:txBody>
      </p:sp>
    </p:spTree>
  </p:cSld>
  <p:clrMap bg1="lt1" tx1="dk1" bg2="lt2" tx2="dk2" accent1="accent1" accent2="accent2" accent3="accent3" accent4="accent4" accent5="accent5" accent6="accent6" hlink="hlink" folHlink="folHlink"/>
  <p:hf/>
  <p:notesStyle>
    <a:lvl1pPr marL="0" algn="l">
      <a:defRPr sz="1200" lang="en"/>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This report focuses on what has changed in the Hong Kong multimodal MATSim model during the latest development period. The central point is not that several parameters were added. The model now brings monetary costs, scarce physical vehicles, signal control, and event-level audits into one coherent operating framework. The eight evidence plates that follow move between territory-wide patterns and cases resolved to a named person, vehicle, link, or second. The deck reports completed implementation and validation evidence only; it contains no outlook section.</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This single slide defines the comparison baseline. The original model already had activity plans, road and public-transport supply, and score-based mode choice, so the essential demand, supply, and selection structure was in place. Four important layers were still abstract: private-car energy, toll, and parking could not be audited in Hong Kong dollars; experienced PT fares were absent from mode costs; school-bus access and boarding lacked event-level verification; and a household car was not yet represented as a physical resource with ownership and temporal continuity. The remaining slides focus on how those gaps became observable.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This figure places the recent work within the full model architecture. The central map aggregates 742,189 realised iteration-49 trips across all 18 districts, giving the cost, vehicle, and control layers a shared simulation context. Four connected additions now sit on the original plan-and-supply foundation: real-money costs for car, PT, and Taxi; physical resources including household cars, school buses, and a finite Taxi fleet; signal systems and corridor offsets; and audit records based on named entities, event times, and explicit missing-value rules. These are candidate or validation results and do not redefine the adopted production scenario.</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The school-bus case shows how a small timing implementation detail can change interaction with a physical vehicle. For student hk_person_00632810, integer rounding on each walk link placed arrival at 07:38:17 in run56, while the vehicle boarding event occurred at 07:38:14. The student therefore arrived three seconds late. Scheduling the next link from the previous continuous due time moved arrival to 07:38:07 in run57 and restored boarding. The lower panel traces how ten seconds of error accumulated over twenty walk links, so the repair addresses a reproducible mechanical cause rather than manually changing the selected plan.</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Here the private car is no longer a mode label that can be selected independently for every leg. It is a household resource with a continuous day. The example follows household hk_hh_1251667, driver hk_person_03051340, student hk_person_03051341, and vehicle hk_vehicle_0210204. The realised events show the same car completing the school drop-off, continuing to work, returning for the afternoon pickup, and carrying the household home. Vehicle location, occupancy, and availability therefore constrain the joint plan. The retained Walk plan is a comparison alternative; the MATSim scores in the figure are utilities, not Hong Kong dollars and not observed household preferences.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The key Taxi change is the move from an abstract or teleported mode to a finite, reusable operating fleet with an explicit request ledger. The result contains 15,500 physical taxis, 186,144 completed requests, 17 requests still waiting at the simulation horizon, and a 16.5 percent empty-VKT share. The district flow map and the radial request-versus-active-fleet view come from the same execution result, so geography, hourly activity, and fleet utilisation can be read together. The monetary boundary is separate: Taxi cost elsewhere in the deck is based on realised occupied distance, while waiting disutility is not converted into Hong Kong dollars.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This page shows an executed private-car trip, not a generic score penalty. The selected trip for hk_person_01925581 costs HK$122.7. HK$20.7 comes from route energy, HK$30.0 from entering the Cross-Harbour Tunnel at the actual LinkEnter time, and HK$72.0 from settled destination parking. Each component can be traced back through events and explicit model rules, making the final amount explainable. Fixed ownership cost remains in a vehicle-day sidecar and has deliberately not been allocated to this trip.</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Public-transport fare is resolved from the passenger’s experienced boarding, alighting, and transfer chain rather than approximated from straight-line or route distance. From the 1.2-kilometre Central–Admiralty source area, the iteration-49 result contains 10,066 experienced itineraries. Of these, 9,792, or 97.28 percent, have a fully resolved strict fare, reaching 42 leading destination stops. Four actual itineraries expose segment-level MTR, bus, ferry, and transfer-chain amounts. Ten fare tables and crosswalks are verified by SHA256. The logic uses no distance, reverse-order, full-route, or zero-value fallback; unresolved chains remain missing. Amounts represent adult-reference and base-Octopus rules, without individual concessions or transfer discounts.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Once individual trip costs are auditable, they can be aggregated into a monetary geography for Hong Kong. The priced universe contains 566,437 trips: 364,160 fully resolved PT trips, 16,133 complete private-car trips, and 186,144 completed Taxi trips. The four maps compare total, PT, car, and Taxi mean model-rule costs across the fixed-link grid. The distinction between null and zero remains essential: unresolved PT chains stay null and are never silently counted as zero cost. The figure notes also retain the specific inclusion and exclusion scope for car and Taxi.</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The Candidate11 package extends road supply from static capacity to explicit traffic control. It contains 1,445 signal systems, 3,243 groups, and 6,941 controlled turns. Fourteen implemented corridors include 47 distinct corridor systems. The representative reverse direction of corridor_002 uses fixed offsets of zero, three, eight, and twelve seconds, displayed for the 20:15 to 20:30 coordination bin. The territory-wide distribution, local controlled-turn view, and time-space diagram all use the same compiled definitions. The signal cycles and corridor offsets remain modelled research candidates, not observations of Hong Kong signal timing.</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Taken together, the evidence supports three conclusions. First, the model is monetized: private-car cost components, strict PT fares, and Taxi distance costs can be expressed in real model-rule Hong Kong dollars. Second, it is physicalized: household cars, school-bus boarding, and the finite Taxi fleet introduce ownership, continuity, and scarcity. Third, it is auditable: people, vehicles, routes, events, fare-table hashes, signal systems, offsets, null values, and exclusions remain traceable. The practical advance is from a model that can run to a model that can explain critical operational outcomes, while keeping candidate and production boundaries visible.</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hong_kong_progress_report_scheme_b_english_20260825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hong_kong_progress_report_scheme_b_english_20260825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15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65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55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45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35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25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1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05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95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00" kern="1200">
          <a:solidFill>
            <a:schemeClr val="tx1"/>
          </a:solidFill>
          <a:latin typeface="+mn-lt"/>
          <a:ea typeface="+mn-ea"/>
          <a:cs typeface="+mn-cs"/>
        </a:defRPr>
      </a:lvl9pPr>
    </p:bodyStyle>
    <p:otherStyle>
      <a:defPPr>
        <a:defRPr lang="en-US"/>
      </a:defPPr>
      <a:lvl1pPr marL="0" algn="l" defTabSz="457200" rtl="0" eaLnBrk="1" latinLnBrk="0" hangingPunct="1">
        <a:defRPr sz="1650" kern="1200">
          <a:solidFill>
            <a:schemeClr val="tx1"/>
          </a:solidFill>
          <a:latin typeface="+mn-lt"/>
          <a:ea typeface="+mn-ea"/>
          <a:cs typeface="+mn-cs"/>
        </a:defRPr>
      </a:lvl1pPr>
      <a:lvl2pPr marL="457200" algn="l" defTabSz="457200" rtl="0" eaLnBrk="1" latinLnBrk="0" hangingPunct="1">
        <a:defRPr sz="1550" kern="1200">
          <a:solidFill>
            <a:schemeClr val="tx1"/>
          </a:solidFill>
          <a:latin typeface="+mn-lt"/>
          <a:ea typeface="+mn-ea"/>
          <a:cs typeface="+mn-cs"/>
        </a:defRPr>
      </a:lvl2pPr>
      <a:lvl3pPr marL="914400" algn="l" defTabSz="457200" rtl="0" eaLnBrk="1" latinLnBrk="0" hangingPunct="1">
        <a:defRPr sz="1450" kern="1200">
          <a:solidFill>
            <a:schemeClr val="tx1"/>
          </a:solidFill>
          <a:latin typeface="+mn-lt"/>
          <a:ea typeface="+mn-ea"/>
          <a:cs typeface="+mn-cs"/>
        </a:defRPr>
      </a:lvl3pPr>
      <a:lvl4pPr marL="1371600" algn="l" defTabSz="457200" rtl="0" eaLnBrk="1" latinLnBrk="0" hangingPunct="1">
        <a:defRPr sz="1350" kern="1200">
          <a:solidFill>
            <a:schemeClr val="tx1"/>
          </a:solidFill>
          <a:latin typeface="+mn-lt"/>
          <a:ea typeface="+mn-ea"/>
          <a:cs typeface="+mn-cs"/>
        </a:defRPr>
      </a:lvl4pPr>
      <a:lvl5pPr marL="1828800" algn="l" defTabSz="457200" rtl="0" eaLnBrk="1" latinLnBrk="0" hangingPunct="1">
        <a:defRPr sz="1250" kern="1200">
          <a:solidFill>
            <a:schemeClr val="tx1"/>
          </a:solidFill>
          <a:latin typeface="+mn-lt"/>
          <a:ea typeface="+mn-ea"/>
          <a:cs typeface="+mn-cs"/>
        </a:defRPr>
      </a:lvl5pPr>
      <a:lvl6pPr marL="2286000" algn="l" defTabSz="457200" rtl="0" eaLnBrk="1" latinLnBrk="0" hangingPunct="1">
        <a:defRPr sz="1150" kern="1200">
          <a:solidFill>
            <a:schemeClr val="tx1"/>
          </a:solidFill>
          <a:latin typeface="+mn-lt"/>
          <a:ea typeface="+mn-ea"/>
          <a:cs typeface="+mn-cs"/>
        </a:defRPr>
      </a:lvl6pPr>
      <a:lvl7pPr marL="2743200" algn="l" defTabSz="457200" rtl="0" eaLnBrk="1" latinLnBrk="0" hangingPunct="1">
        <a:defRPr sz="1050" kern="1200">
          <a:solidFill>
            <a:schemeClr val="tx1"/>
          </a:solidFill>
          <a:latin typeface="+mn-lt"/>
          <a:ea typeface="+mn-ea"/>
          <a:cs typeface="+mn-cs"/>
        </a:defRPr>
      </a:lvl7pPr>
      <a:lvl8pPr marL="3200400" algn="l" defTabSz="457200" rtl="0" eaLnBrk="1" latinLnBrk="0" hangingPunct="1">
        <a:defRPr sz="950" kern="1200">
          <a:solidFill>
            <a:schemeClr val="tx1"/>
          </a:solidFill>
          <a:latin typeface="+mn-lt"/>
          <a:ea typeface="+mn-ea"/>
          <a:cs typeface="+mn-cs"/>
        </a:defRPr>
      </a:lvl8pPr>
      <a:lvl9pPr marL="3657600" algn="l" defTabSz="457200" rtl="0" eaLnBrk="1" latinLnBrk="0" hangingPunct="1">
        <a:defRPr sz="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77bd0ca929f758ba.png"/>
  <Relationship Id="rId3"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0de7bf81cb55d091.png"/>
  <Relationship Id="rId3"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a9c560c3ef6f59a2.png"/>
  <Relationship Id="rId3"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5d1b2b2abf5dfe33.png"/>
  <Relationship Id="rId3"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bf65337de7072dec.png"/>
  <Relationship Id="rId3"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e8e95fee11f2ee67.png"/>
  <Relationship Id="rId3"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8cfa4b533df81c0a.png"/>
  <Relationship Id="rId3"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07b76ceeed5b0560.png"/>
  <Relationship Id="rId3"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163B4A"/>
            </a:solidFill>
            <a:ln>
              <a:noFill/>
            </a:ln>
          </p:spPr>
        </p:sp>
        <p:sp>
          <p:nvSpPr>
            <p:cNvPr id="3" name="Rectangle 3"/>
            <p:cNvSpPr/>
            <p:nvPr/>
          </p:nvSpPr>
          <p:spPr>
            <a:xfrm>
              <a:off x="685800" y="666750"/>
              <a:ext cx="800100" cy="76200"/>
            </a:xfrm>
            <a:prstGeom prst="rect">
              <a:avLst/>
            </a:prstGeom>
            <a:solidFill>
              <a:schemeClr val="accent3"/>
            </a:solidFill>
            <a:ln>
              <a:noFill/>
            </a:ln>
          </p:spPr>
        </p:sp>
        <p:sp>
          <p:nvSpPr>
            <p:cNvPr id="4" name="Line 4"/>
            <p:cNvSpPr/>
            <p:nvPr/>
          </p:nvSpPr>
          <p:spPr>
            <a:xfrm>
              <a:off x="685800" y="5600700"/>
              <a:ext cx="10820400" cy="9525"/>
            </a:xfrm>
            <a:custGeom>
              <a:avLst/>
              <a:gdLst/>
              <a:ahLst/>
              <a:cxnLst/>
              <a:rect l="l" t="t" r="r" b="b"/>
              <a:pathLst>
                <a:path w="10820400" h="9525">
                  <a:moveTo>
                    <a:pt x="0" y="0"/>
                  </a:moveTo>
                  <a:lnTo>
                    <a:pt x="10820400" y="0"/>
                  </a:lnTo>
                </a:path>
              </a:pathLst>
            </a:custGeom>
            <a:noFill/>
            <a:ln w="9525">
              <a:solidFill>
                <a:srgbClr val="6F9EB1"/>
              </a:solidFill>
            </a:ln>
          </p:spPr>
        </p:sp>
      </p:grpSp>
      <p:grpSp>
        <p:nvGrpSpPr>
          <p:cNvPr id="8" name="Group 8"/>
          <p:cNvGrpSpPr/>
          <p:nvPr/>
        </p:nvGrpSpPr>
        <p:grpSpPr>
          <a:xfrm>
            <a:off x="666750" y="975360"/>
            <a:ext cx="7403021" cy="1702879"/>
            <a:chOff x="666750" y="975360"/>
            <a:chExt cx="7403021" cy="1702879"/>
          </a:xfrm>
        </p:grpSpPr>
        <p:sp>
          <p:nvSpPr>
            <p:cNvPr id="6" name="TextBox 6"/>
            <p:cNvSpPr txBox="1"/>
            <p:nvPr/>
          </p:nvSpPr>
          <p:spPr>
            <a:xfrm>
              <a:off x="666750" y="975360"/>
              <a:ext cx="7403021" cy="1428750"/>
            </a:xfrm>
            <a:prstGeom prst="rect">
              <a:avLst/>
            </a:prstGeom>
            <a:noFill/>
            <a:ln>
              <a:noFill/>
            </a:ln>
          </p:spPr>
          <p:txBody>
            <a:bodyPr wrap="none" lIns="0" tIns="0" rIns="0" bIns="0" anchor="t" anchorCtr="0">
              <a:spAutoFit/>
            </a:bodyPr>
            <a:lstStyle/>
            <a:p>
              <a:pPr algn="l">
                <a:lnSpc>
                  <a:spcPts val="4800"/>
                </a:lnSpc>
              </a:pPr>
              <a:r>
                <a:rPr lang="en" sz="4200" b="1" dirty="0">
                  <a:solidFill>
                    <a:srgbClr val="FFFFFF"/>
                  </a:solidFill>
                  <a:latin typeface="+mn-lt"/>
                  <a:ea typeface="+mn-ea"/>
                  <a:cs typeface="+mn-cs"/>
                </a:rPr>
                <a:t>From Scores to Observable</a:t>
              </a:r>
              <a:br/>
              <a:r>
                <a:rPr lang="en" sz="4200" b="1" dirty="0">
                  <a:solidFill>
                    <a:srgbClr val="FFFFFF"/>
                  </a:solidFill>
                  <a:latin typeface="+mn-lt"/>
                  <a:ea typeface="+mn-ea"/>
                  <a:cs typeface="+mn-cs"/>
                </a:rPr>
                <a:t>Urban Operations</a:t>
              </a:r>
            </a:p>
          </p:txBody>
        </p:sp>
        <p:sp>
          <p:nvSpPr>
            <p:cNvPr id="7" name="TextBox 7"/>
            <p:cNvSpPr txBox="1"/>
            <p:nvPr/>
          </p:nvSpPr>
          <p:spPr>
            <a:xfrm>
              <a:off x="705993" y="2355532"/>
              <a:ext cx="3782452" cy="322707"/>
            </a:xfrm>
            <a:prstGeom prst="rect">
              <a:avLst/>
            </a:prstGeom>
            <a:noFill/>
            <a:ln>
              <a:noFill/>
            </a:ln>
          </p:spPr>
          <p:txBody>
            <a:bodyPr wrap="none" lIns="0" tIns="0" rIns="0" bIns="0" anchor="t" anchorCtr="0">
              <a:spAutoFit/>
            </a:bodyPr>
            <a:lstStyle/>
            <a:p>
              <a:pPr algn="l"/>
              <a:r>
                <a:rPr lang="en" sz="1650" dirty="0">
                  <a:solidFill>
                    <a:srgbClr val="DCE8EC"/>
                  </a:solidFill>
                  <a:latin typeface="+mn-lt"/>
                  <a:ea typeface="+mn-ea"/>
                  <a:cs typeface="+mn-cs"/>
                </a:rPr>
                <a:t>Hong Kong MATSim progress report</a:t>
              </a:r>
            </a:p>
          </p:txBody>
        </p:sp>
      </p:grpSp>
      <p:grpSp>
        <p:nvGrpSpPr>
          <p:cNvPr id="18" name="Group 18"/>
          <p:cNvGrpSpPr/>
          <p:nvPr/>
        </p:nvGrpSpPr>
        <p:grpSpPr>
          <a:xfrm>
            <a:off x="688848" y="3431858"/>
            <a:ext cx="10930302" cy="1125093"/>
            <a:chOff x="688848" y="3431858"/>
            <a:chExt cx="10930302" cy="1125093"/>
          </a:xfrm>
        </p:grpSpPr>
        <p:sp>
          <p:nvSpPr>
            <p:cNvPr id="9" name="TextBox 9"/>
            <p:cNvSpPr txBox="1"/>
            <p:nvPr/>
          </p:nvSpPr>
          <p:spPr>
            <a:xfrm>
              <a:off x="688848" y="3431858"/>
              <a:ext cx="2431344" cy="616077"/>
            </a:xfrm>
            <a:prstGeom prst="rect">
              <a:avLst/>
            </a:prstGeom>
            <a:noFill/>
            <a:ln>
              <a:noFill/>
            </a:ln>
          </p:spPr>
          <p:txBody>
            <a:bodyPr wrap="none" lIns="0" tIns="0" rIns="0" bIns="0" anchor="t" anchorCtr="0">
              <a:spAutoFit/>
            </a:bodyPr>
            <a:lstStyle/>
            <a:p>
              <a:pPr algn="l"/>
              <a:r>
                <a:rPr lang="en" sz="3150" b="1" dirty="0">
                  <a:solidFill>
                    <a:srgbClr val="FFFFFF"/>
                  </a:solidFill>
                  <a:latin typeface="+mn-lt"/>
                  <a:ea typeface="+mn-ea"/>
                  <a:cs typeface="+mn-cs"/>
                </a:rPr>
                <a:t>MONETIZED</a:t>
              </a:r>
            </a:p>
          </p:txBody>
        </p:sp>
        <p:sp>
          <p:nvSpPr>
            <p:cNvPr id="10" name="TextBox 10"/>
            <p:cNvSpPr txBox="1"/>
            <p:nvPr/>
          </p:nvSpPr>
          <p:spPr>
            <a:xfrm>
              <a:off x="4289298" y="3431858"/>
              <a:ext cx="2901803" cy="616077"/>
            </a:xfrm>
            <a:prstGeom prst="rect">
              <a:avLst/>
            </a:prstGeom>
            <a:noFill/>
            <a:ln>
              <a:noFill/>
            </a:ln>
          </p:spPr>
          <p:txBody>
            <a:bodyPr wrap="none" lIns="0" tIns="0" rIns="0" bIns="0" anchor="t" anchorCtr="0">
              <a:spAutoFit/>
            </a:bodyPr>
            <a:lstStyle/>
            <a:p>
              <a:pPr algn="l"/>
              <a:r>
                <a:rPr lang="en" sz="3150" b="1" dirty="0">
                  <a:solidFill>
                    <a:srgbClr val="FFFFFF"/>
                  </a:solidFill>
                  <a:latin typeface="+mn-lt"/>
                  <a:ea typeface="+mn-ea"/>
                  <a:cs typeface="+mn-cs"/>
                </a:rPr>
                <a:t>PHYSICALIZED</a:t>
              </a:r>
            </a:p>
          </p:txBody>
        </p:sp>
        <p:sp>
          <p:nvSpPr>
            <p:cNvPr id="11" name="TextBox 11"/>
            <p:cNvSpPr txBox="1"/>
            <p:nvPr/>
          </p:nvSpPr>
          <p:spPr>
            <a:xfrm>
              <a:off x="8508873" y="3431858"/>
              <a:ext cx="2243160" cy="616077"/>
            </a:xfrm>
            <a:prstGeom prst="rect">
              <a:avLst/>
            </a:prstGeom>
            <a:noFill/>
            <a:ln>
              <a:noFill/>
            </a:ln>
          </p:spPr>
          <p:txBody>
            <a:bodyPr wrap="none" lIns="0" tIns="0" rIns="0" bIns="0" anchor="t" anchorCtr="0">
              <a:spAutoFit/>
            </a:bodyPr>
            <a:lstStyle/>
            <a:p>
              <a:pPr algn="l"/>
              <a:r>
                <a:rPr lang="en" sz="3150" b="1" dirty="0">
                  <a:solidFill>
                    <a:srgbClr val="FFFFFF"/>
                  </a:solidFill>
                  <a:latin typeface="+mn-lt"/>
                  <a:ea typeface="+mn-ea"/>
                  <a:cs typeface="+mn-cs"/>
                </a:rPr>
                <a:t>AUDITABLE</a:t>
              </a:r>
            </a:p>
          </p:txBody>
        </p:sp>
        <p:sp>
          <p:nvSpPr>
            <p:cNvPr id="12" name="Rectangle 12"/>
            <p:cNvSpPr/>
            <p:nvPr/>
          </p:nvSpPr>
          <p:spPr>
            <a:xfrm>
              <a:off x="704850" y="4000500"/>
              <a:ext cx="2647950" cy="47625"/>
            </a:xfrm>
            <a:prstGeom prst="rect">
              <a:avLst/>
            </a:prstGeom>
            <a:solidFill>
              <a:schemeClr val="accent1"/>
            </a:solidFill>
            <a:ln>
              <a:noFill/>
            </a:ln>
          </p:spPr>
        </p:sp>
        <p:sp>
          <p:nvSpPr>
            <p:cNvPr id="13" name="Rectangle 13"/>
            <p:cNvSpPr/>
            <p:nvPr/>
          </p:nvSpPr>
          <p:spPr>
            <a:xfrm>
              <a:off x="4305300" y="4000500"/>
              <a:ext cx="3286125" cy="47625"/>
            </a:xfrm>
            <a:prstGeom prst="rect">
              <a:avLst/>
            </a:prstGeom>
            <a:solidFill>
              <a:schemeClr val="accent2"/>
            </a:solidFill>
            <a:ln>
              <a:noFill/>
            </a:ln>
          </p:spPr>
        </p:sp>
        <p:sp>
          <p:nvSpPr>
            <p:cNvPr id="14" name="Rectangle 14"/>
            <p:cNvSpPr/>
            <p:nvPr/>
          </p:nvSpPr>
          <p:spPr>
            <a:xfrm>
              <a:off x="8524875" y="4000500"/>
              <a:ext cx="2705100" cy="47625"/>
            </a:xfrm>
            <a:prstGeom prst="rect">
              <a:avLst/>
            </a:prstGeom>
            <a:solidFill>
              <a:schemeClr val="accent3"/>
            </a:solidFill>
            <a:ln>
              <a:noFill/>
            </a:ln>
          </p:spPr>
        </p:sp>
        <p:sp>
          <p:nvSpPr>
            <p:cNvPr id="15" name="TextBox 15"/>
            <p:cNvSpPr txBox="1"/>
            <p:nvPr/>
          </p:nvSpPr>
          <p:spPr>
            <a:xfrm>
              <a:off x="697992" y="4292918"/>
              <a:ext cx="3175979" cy="264033"/>
            </a:xfrm>
            <a:prstGeom prst="rect">
              <a:avLst/>
            </a:prstGeom>
            <a:noFill/>
            <a:ln>
              <a:noFill/>
            </a:ln>
          </p:spPr>
          <p:txBody>
            <a:bodyPr wrap="none" lIns="0" tIns="0" rIns="0" bIns="0" anchor="t" anchorCtr="0">
              <a:spAutoFit/>
            </a:bodyPr>
            <a:lstStyle/>
            <a:p>
              <a:pPr algn="l"/>
              <a:r>
                <a:rPr lang="en" sz="1350" dirty="0">
                  <a:solidFill>
                    <a:srgbClr val="DCE8EC"/>
                  </a:solidFill>
                  <a:latin typeface="+mn-lt"/>
                  <a:ea typeface="+mn-ea"/>
                  <a:cs typeface="+mn-cs"/>
                </a:rPr>
                <a:t>Private-car costs · PT fares · Taxi</a:t>
              </a:r>
            </a:p>
          </p:txBody>
        </p:sp>
        <p:sp>
          <p:nvSpPr>
            <p:cNvPr id="16" name="TextBox 16"/>
            <p:cNvSpPr txBox="1"/>
            <p:nvPr/>
          </p:nvSpPr>
          <p:spPr>
            <a:xfrm>
              <a:off x="4298442" y="4292918"/>
              <a:ext cx="3572959" cy="264033"/>
            </a:xfrm>
            <a:prstGeom prst="rect">
              <a:avLst/>
            </a:prstGeom>
            <a:noFill/>
            <a:ln>
              <a:noFill/>
            </a:ln>
          </p:spPr>
          <p:txBody>
            <a:bodyPr wrap="none" lIns="0" tIns="0" rIns="0" bIns="0" anchor="t" anchorCtr="0">
              <a:spAutoFit/>
            </a:bodyPr>
            <a:lstStyle/>
            <a:p>
              <a:pPr algn="l"/>
              <a:r>
                <a:rPr lang="en" sz="1350" dirty="0">
                  <a:solidFill>
                    <a:srgbClr val="DCE8EC"/>
                  </a:solidFill>
                  <a:latin typeface="+mn-lt"/>
                  <a:ea typeface="+mn-ea"/>
                  <a:cs typeface="+mn-cs"/>
                </a:rPr>
                <a:t>School bus · household car · finite fleet</a:t>
              </a:r>
            </a:p>
          </p:txBody>
        </p:sp>
        <p:sp>
          <p:nvSpPr>
            <p:cNvPr id="17" name="TextBox 17"/>
            <p:cNvSpPr txBox="1"/>
            <p:nvPr/>
          </p:nvSpPr>
          <p:spPr>
            <a:xfrm>
              <a:off x="8518017" y="4292918"/>
              <a:ext cx="3101133" cy="264033"/>
            </a:xfrm>
            <a:prstGeom prst="rect">
              <a:avLst/>
            </a:prstGeom>
            <a:noFill/>
            <a:ln>
              <a:noFill/>
            </a:ln>
          </p:spPr>
          <p:txBody>
            <a:bodyPr wrap="none" lIns="0" tIns="0" rIns="0" bIns="0" anchor="t" anchorCtr="0">
              <a:spAutoFit/>
            </a:bodyPr>
            <a:lstStyle/>
            <a:p>
              <a:pPr algn="l"/>
              <a:r>
                <a:rPr lang="en" sz="1350" dirty="0">
                  <a:solidFill>
                    <a:srgbClr val="DCE8EC"/>
                  </a:solidFill>
                  <a:latin typeface="+mn-lt"/>
                  <a:ea typeface="+mn-ea"/>
                  <a:cs typeface="+mn-cs"/>
                </a:rPr>
                <a:t>Routes · events · ledgers · hashes</a:t>
              </a:r>
            </a:p>
          </p:txBody>
        </p:sp>
      </p:grpSp>
      <p:grpSp>
        <p:nvGrpSpPr>
          <p:cNvPr id="21" name="Group 21"/>
          <p:cNvGrpSpPr/>
          <p:nvPr/>
        </p:nvGrpSpPr>
        <p:grpSpPr>
          <a:xfrm>
            <a:off x="679704" y="5909310"/>
            <a:ext cx="10832592" cy="234696"/>
            <a:chOff x="679704" y="5909310"/>
            <a:chExt cx="10832592" cy="234696"/>
          </a:xfrm>
        </p:grpSpPr>
        <p:sp>
          <p:nvSpPr>
            <p:cNvPr id="19" name="TextBox 19"/>
            <p:cNvSpPr txBox="1"/>
            <p:nvPr/>
          </p:nvSpPr>
          <p:spPr>
            <a:xfrm>
              <a:off x="679704" y="5909310"/>
              <a:ext cx="2222602" cy="234696"/>
            </a:xfrm>
            <a:prstGeom prst="rect">
              <a:avLst/>
            </a:prstGeom>
            <a:noFill/>
            <a:ln>
              <a:noFill/>
            </a:ln>
          </p:spPr>
          <p:txBody>
            <a:bodyPr wrap="none" lIns="0" tIns="0" rIns="0" bIns="0" anchor="t" anchorCtr="0">
              <a:spAutoFit/>
            </a:bodyPr>
            <a:lstStyle/>
            <a:p>
              <a:pPr algn="l"/>
              <a:r>
                <a:rPr lang="en" sz="1200" dirty="0">
                  <a:solidFill>
                    <a:srgbClr val="DCE8EC"/>
                  </a:solidFill>
                  <a:latin typeface="+mn-lt"/>
                  <a:ea typeface="+mn-ea"/>
                  <a:cs typeface="+mn-cs"/>
                </a:rPr>
                <a:t>SCHEME B · ENGLISH EDITION</a:t>
              </a:r>
            </a:p>
          </p:txBody>
        </p:sp>
        <p:sp>
          <p:nvSpPr>
            <p:cNvPr id="20" name="TextBox 20"/>
            <p:cNvSpPr txBox="1"/>
            <p:nvPr/>
          </p:nvSpPr>
          <p:spPr>
            <a:xfrm>
              <a:off x="10552786" y="5909310"/>
              <a:ext cx="959510" cy="234696"/>
            </a:xfrm>
            <a:prstGeom prst="rect">
              <a:avLst/>
            </a:prstGeom>
            <a:noFill/>
            <a:ln>
              <a:noFill/>
            </a:ln>
          </p:spPr>
          <p:txBody>
            <a:bodyPr wrap="none" lIns="0" tIns="0" rIns="0" bIns="0" anchor="t" anchorCtr="0">
              <a:spAutoFit/>
            </a:bodyPr>
            <a:lstStyle/>
            <a:p>
              <a:pPr algn="r"/>
              <a:r>
                <a:rPr lang="en" sz="1200" dirty="0">
                  <a:solidFill>
                    <a:srgbClr val="DCE8EC"/>
                  </a:solidFill>
                  <a:latin typeface="+mn-lt"/>
                  <a:ea typeface="+mn-ea"/>
                  <a:cs typeface="+mn-cs"/>
                </a:rPr>
                <a:t>25 AUG 2026</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chemeClr val="lt1"/>
            </a:solidFill>
            <a:ln>
              <a:noFill/>
            </a:ln>
          </p:spPr>
        </p:sp>
        <p:sp>
          <p:nvSpPr>
            <p:cNvPr id="3" name="Rectangle 3"/>
            <p:cNvSpPr/>
            <p:nvPr/>
          </p:nvSpPr>
          <p:spPr>
            <a:xfrm>
              <a:off x="0" y="0"/>
              <a:ext cx="209550" cy="6858000"/>
            </a:xfrm>
            <a:prstGeom prst="rect">
              <a:avLst/>
            </a:prstGeom>
            <a:solidFill>
              <a:schemeClr val="accent1"/>
            </a:solidFill>
            <a:ln>
              <a:noFill/>
            </a:ln>
          </p:spPr>
        </p:sp>
      </p:grpSp>
      <p:grpSp>
        <p:nvGrpSpPr>
          <p:cNvPr id="7" name="Group 7"/>
          <p:cNvGrpSpPr/>
          <p:nvPr/>
        </p:nvGrpSpPr>
        <p:grpSpPr>
          <a:xfrm>
            <a:off x="593598" y="594360"/>
            <a:ext cx="6597602" cy="824675"/>
            <a:chOff x="593598" y="594360"/>
            <a:chExt cx="6597602" cy="824675"/>
          </a:xfrm>
        </p:grpSpPr>
        <p:sp>
          <p:nvSpPr>
            <p:cNvPr id="5" name="TextBox 5"/>
            <p:cNvSpPr txBox="1"/>
            <p:nvPr/>
          </p:nvSpPr>
          <p:spPr>
            <a:xfrm>
              <a:off x="603504" y="594360"/>
              <a:ext cx="2279355" cy="234696"/>
            </a:xfrm>
            <a:prstGeom prst="rect">
              <a:avLst/>
            </a:prstGeom>
            <a:noFill/>
            <a:ln>
              <a:noFill/>
            </a:ln>
          </p:spPr>
          <p:txBody>
            <a:bodyPr wrap="none" lIns="0" tIns="0" rIns="0" bIns="0" anchor="t" anchorCtr="0">
              <a:spAutoFit/>
            </a:bodyPr>
            <a:lstStyle/>
            <a:p>
              <a:pPr algn="l"/>
              <a:r>
                <a:rPr lang="en" sz="1200" b="1" dirty="0">
                  <a:solidFill>
                    <a:schemeClr val="accent1"/>
                  </a:solidFill>
                  <a:latin typeface="+mn-lt"/>
                  <a:ea typeface="+mn-ea"/>
                  <a:cs typeface="+mn-cs"/>
                </a:rPr>
                <a:t>BASELINE · ONE SLIDE ONLY</a:t>
              </a:r>
            </a:p>
          </p:txBody>
        </p:sp>
        <p:sp>
          <p:nvSpPr>
            <p:cNvPr id="6" name="TextBox 6"/>
            <p:cNvSpPr txBox="1"/>
            <p:nvPr/>
          </p:nvSpPr>
          <p:spPr>
            <a:xfrm>
              <a:off x="593598" y="802958"/>
              <a:ext cx="6597602" cy="616077"/>
            </a:xfrm>
            <a:prstGeom prst="rect">
              <a:avLst/>
            </a:prstGeom>
            <a:noFill/>
            <a:ln>
              <a:noFill/>
            </a:ln>
          </p:spPr>
          <p:txBody>
            <a:bodyPr wrap="none" lIns="0" tIns="0" rIns="0" bIns="0" anchor="t" anchorCtr="0">
              <a:spAutoFit/>
            </a:bodyPr>
            <a:lstStyle/>
            <a:p>
              <a:pPr algn="l"/>
              <a:r>
                <a:rPr lang="en" sz="3150" b="1" dirty="0">
                  <a:solidFill>
                    <a:schemeClr val="dk1"/>
                  </a:solidFill>
                  <a:latin typeface="+mn-lt"/>
                  <a:ea typeface="+mn-ea"/>
                  <a:cs typeface="+mn-cs"/>
                </a:rPr>
                <a:t>Multimodal, but Still Abstract</a:t>
              </a:r>
            </a:p>
          </p:txBody>
        </p:sp>
      </p:grpSp>
      <p:grpSp>
        <p:nvGrpSpPr>
          <p:cNvPr id="18" name="Group 18"/>
          <p:cNvGrpSpPr/>
          <p:nvPr/>
        </p:nvGrpSpPr>
        <p:grpSpPr>
          <a:xfrm>
            <a:off x="1447800" y="2286000"/>
            <a:ext cx="9522428" cy="1104900"/>
            <a:chOff x="1447800" y="2286000"/>
            <a:chExt cx="9522428" cy="1104900"/>
          </a:xfrm>
        </p:grpSpPr>
        <p:sp>
          <p:nvSpPr>
            <p:cNvPr id="8" name="Line 8"/>
            <p:cNvSpPr/>
            <p:nvPr/>
          </p:nvSpPr>
          <p:spPr>
            <a:xfrm>
              <a:off x="1714500" y="2838450"/>
              <a:ext cx="8763000" cy="9525"/>
            </a:xfrm>
            <a:custGeom>
              <a:avLst/>
              <a:gdLst/>
              <a:ahLst/>
              <a:cxnLst/>
              <a:rect l="l" t="t" r="r" b="b"/>
              <a:pathLst>
                <a:path w="8763000" h="9525">
                  <a:moveTo>
                    <a:pt x="0" y="0"/>
                  </a:moveTo>
                  <a:lnTo>
                    <a:pt x="8763000" y="0"/>
                  </a:lnTo>
                </a:path>
              </a:pathLst>
            </a:custGeom>
            <a:noFill/>
            <a:ln w="38100">
              <a:solidFill>
                <a:srgbClr val="B9C4C6"/>
              </a:solidFill>
            </a:ln>
          </p:spPr>
        </p:sp>
        <p:sp>
          <p:nvSpPr>
            <p:cNvPr id="9" name="Ellipse 9"/>
            <p:cNvSpPr/>
            <p:nvPr/>
          </p:nvSpPr>
          <p:spPr>
            <a:xfrm>
              <a:off x="1447800" y="2286000"/>
              <a:ext cx="1104900" cy="1104900"/>
            </a:xfrm>
            <a:prstGeom prst="ellipse">
              <a:avLst/>
            </a:prstGeom>
            <a:solidFill>
              <a:schemeClr val="accent5"/>
            </a:solidFill>
            <a:ln w="38100">
              <a:solidFill>
                <a:schemeClr val="accent1"/>
              </a:solidFill>
            </a:ln>
          </p:spPr>
        </p:sp>
        <p:sp>
          <p:nvSpPr>
            <p:cNvPr id="10" name="Ellipse 10"/>
            <p:cNvSpPr/>
            <p:nvPr/>
          </p:nvSpPr>
          <p:spPr>
            <a:xfrm>
              <a:off x="5543550" y="2286000"/>
              <a:ext cx="1104900" cy="1104900"/>
            </a:xfrm>
            <a:prstGeom prst="ellipse">
              <a:avLst/>
            </a:prstGeom>
            <a:solidFill>
              <a:schemeClr val="accent5"/>
            </a:solidFill>
            <a:ln w="38100">
              <a:solidFill>
                <a:schemeClr val="accent1"/>
              </a:solidFill>
            </a:ln>
          </p:spPr>
        </p:sp>
        <p:sp>
          <p:nvSpPr>
            <p:cNvPr id="11" name="Ellipse 11"/>
            <p:cNvSpPr/>
            <p:nvPr/>
          </p:nvSpPr>
          <p:spPr>
            <a:xfrm>
              <a:off x="9639300" y="2286000"/>
              <a:ext cx="1104900" cy="1104900"/>
            </a:xfrm>
            <a:prstGeom prst="ellipse">
              <a:avLst/>
            </a:prstGeom>
            <a:solidFill>
              <a:schemeClr val="accent5"/>
            </a:solidFill>
            <a:ln w="38100">
              <a:solidFill>
                <a:schemeClr val="accent1"/>
              </a:solidFill>
            </a:ln>
          </p:spPr>
        </p:sp>
        <p:sp>
          <p:nvSpPr>
            <p:cNvPr id="12" name="TextBox 12"/>
            <p:cNvSpPr txBox="1"/>
            <p:nvPr/>
          </p:nvSpPr>
          <p:spPr>
            <a:xfrm>
              <a:off x="1560614" y="2584132"/>
              <a:ext cx="879272" cy="322707"/>
            </a:xfrm>
            <a:prstGeom prst="rect">
              <a:avLst/>
            </a:prstGeom>
            <a:noFill/>
            <a:ln>
              <a:noFill/>
            </a:ln>
          </p:spPr>
          <p:txBody>
            <a:bodyPr wrap="none" lIns="0" tIns="0" rIns="0" bIns="0" anchor="t" anchorCtr="0">
              <a:spAutoFit/>
            </a:bodyPr>
            <a:lstStyle/>
            <a:p>
              <a:pPr algn="ctr"/>
              <a:r>
                <a:rPr lang="en" sz="1650" b="1" dirty="0">
                  <a:solidFill>
                    <a:schemeClr val="dk1"/>
                  </a:solidFill>
                  <a:latin typeface="+mn-lt"/>
                  <a:ea typeface="+mn-ea"/>
                  <a:cs typeface="+mn-cs"/>
                </a:rPr>
                <a:t>PERSON</a:t>
              </a:r>
            </a:p>
          </p:txBody>
        </p:sp>
        <p:sp>
          <p:nvSpPr>
            <p:cNvPr id="13" name="TextBox 13"/>
            <p:cNvSpPr txBox="1"/>
            <p:nvPr/>
          </p:nvSpPr>
          <p:spPr>
            <a:xfrm>
              <a:off x="1653026" y="2831782"/>
              <a:ext cx="694449" cy="322707"/>
            </a:xfrm>
            <a:prstGeom prst="rect">
              <a:avLst/>
            </a:prstGeom>
            <a:noFill/>
            <a:ln>
              <a:noFill/>
            </a:ln>
          </p:spPr>
          <p:txBody>
            <a:bodyPr wrap="none" lIns="0" tIns="0" rIns="0" bIns="0" anchor="t" anchorCtr="0">
              <a:spAutoFit/>
            </a:bodyPr>
            <a:lstStyle/>
            <a:p>
              <a:pPr algn="ctr"/>
              <a:r>
                <a:rPr lang="en" sz="1650" b="1" dirty="0">
                  <a:solidFill>
                    <a:schemeClr val="dk1"/>
                  </a:solidFill>
                  <a:latin typeface="+mn-lt"/>
                  <a:ea typeface="+mn-ea"/>
                  <a:cs typeface="+mn-cs"/>
                </a:rPr>
                <a:t>PLANS</a:t>
              </a:r>
            </a:p>
          </p:txBody>
        </p:sp>
        <p:sp>
          <p:nvSpPr>
            <p:cNvPr id="14" name="TextBox 14"/>
            <p:cNvSpPr txBox="1"/>
            <p:nvPr/>
          </p:nvSpPr>
          <p:spPr>
            <a:xfrm>
              <a:off x="5453059" y="2584132"/>
              <a:ext cx="1285883" cy="322707"/>
            </a:xfrm>
            <a:prstGeom prst="rect">
              <a:avLst/>
            </a:prstGeom>
            <a:noFill/>
            <a:ln>
              <a:noFill/>
            </a:ln>
          </p:spPr>
          <p:txBody>
            <a:bodyPr wrap="none" lIns="0" tIns="0" rIns="0" bIns="0" anchor="t" anchorCtr="0">
              <a:spAutoFit/>
            </a:bodyPr>
            <a:lstStyle/>
            <a:p>
              <a:pPr algn="ctr"/>
              <a:r>
                <a:rPr lang="en" sz="1650" b="1" dirty="0">
                  <a:solidFill>
                    <a:schemeClr val="dk1"/>
                  </a:solidFill>
                  <a:latin typeface="+mn-lt"/>
                  <a:ea typeface="+mn-ea"/>
                  <a:cs typeface="+mn-cs"/>
                </a:rPr>
                <a:t>TRANSPORT</a:t>
              </a:r>
            </a:p>
          </p:txBody>
        </p:sp>
        <p:sp>
          <p:nvSpPr>
            <p:cNvPr id="15" name="TextBox 15"/>
            <p:cNvSpPr txBox="1"/>
            <p:nvPr/>
          </p:nvSpPr>
          <p:spPr>
            <a:xfrm>
              <a:off x="5681007" y="2831782"/>
              <a:ext cx="829986" cy="322707"/>
            </a:xfrm>
            <a:prstGeom prst="rect">
              <a:avLst/>
            </a:prstGeom>
            <a:noFill/>
            <a:ln>
              <a:noFill/>
            </a:ln>
          </p:spPr>
          <p:txBody>
            <a:bodyPr wrap="none" lIns="0" tIns="0" rIns="0" bIns="0" anchor="t" anchorCtr="0">
              <a:spAutoFit/>
            </a:bodyPr>
            <a:lstStyle/>
            <a:p>
              <a:pPr algn="ctr"/>
              <a:r>
                <a:rPr lang="en" sz="1650" b="1" dirty="0">
                  <a:solidFill>
                    <a:schemeClr val="dk1"/>
                  </a:solidFill>
                  <a:latin typeface="+mn-lt"/>
                  <a:ea typeface="+mn-ea"/>
                  <a:cs typeface="+mn-cs"/>
                </a:rPr>
                <a:t>SUPPLY</a:t>
              </a:r>
            </a:p>
          </p:txBody>
        </p:sp>
        <p:sp>
          <p:nvSpPr>
            <p:cNvPr id="16" name="TextBox 16"/>
            <p:cNvSpPr txBox="1"/>
            <p:nvPr/>
          </p:nvSpPr>
          <p:spPr>
            <a:xfrm>
              <a:off x="9413272" y="2584132"/>
              <a:ext cx="1556956" cy="322707"/>
            </a:xfrm>
            <a:prstGeom prst="rect">
              <a:avLst/>
            </a:prstGeom>
            <a:noFill/>
            <a:ln>
              <a:noFill/>
            </a:ln>
          </p:spPr>
          <p:txBody>
            <a:bodyPr wrap="none" lIns="0" tIns="0" rIns="0" bIns="0" anchor="t" anchorCtr="0">
              <a:spAutoFit/>
            </a:bodyPr>
            <a:lstStyle/>
            <a:p>
              <a:pPr algn="ctr"/>
              <a:r>
                <a:rPr lang="en" sz="1650" b="1" dirty="0">
                  <a:solidFill>
                    <a:schemeClr val="dk1"/>
                  </a:solidFill>
                  <a:latin typeface="+mn-lt"/>
                  <a:ea typeface="+mn-ea"/>
                  <a:cs typeface="+mn-cs"/>
                </a:rPr>
                <a:t>SCORE-BASED</a:t>
              </a:r>
            </a:p>
          </p:txBody>
        </p:sp>
        <p:sp>
          <p:nvSpPr>
            <p:cNvPr id="17" name="TextBox 17"/>
            <p:cNvSpPr txBox="1"/>
            <p:nvPr/>
          </p:nvSpPr>
          <p:spPr>
            <a:xfrm>
              <a:off x="9782918" y="2831782"/>
              <a:ext cx="817664" cy="322707"/>
            </a:xfrm>
            <a:prstGeom prst="rect">
              <a:avLst/>
            </a:prstGeom>
            <a:noFill/>
            <a:ln>
              <a:noFill/>
            </a:ln>
          </p:spPr>
          <p:txBody>
            <a:bodyPr wrap="none" lIns="0" tIns="0" rIns="0" bIns="0" anchor="t" anchorCtr="0">
              <a:spAutoFit/>
            </a:bodyPr>
            <a:lstStyle/>
            <a:p>
              <a:pPr algn="ctr"/>
              <a:r>
                <a:rPr lang="en" sz="1650" b="1" dirty="0">
                  <a:solidFill>
                    <a:schemeClr val="dk1"/>
                  </a:solidFill>
                  <a:latin typeface="+mn-lt"/>
                  <a:ea typeface="+mn-ea"/>
                  <a:cs typeface="+mn-cs"/>
                </a:rPr>
                <a:t>CHOICE</a:t>
              </a:r>
            </a:p>
          </p:txBody>
        </p:sp>
      </p:grpSp>
      <p:grpSp>
        <p:nvGrpSpPr>
          <p:cNvPr id="24" name="Group 24"/>
          <p:cNvGrpSpPr/>
          <p:nvPr/>
        </p:nvGrpSpPr>
        <p:grpSpPr>
          <a:xfrm>
            <a:off x="876300" y="4095750"/>
            <a:ext cx="10439400" cy="1428750"/>
            <a:chOff x="876300" y="4095750"/>
            <a:chExt cx="10439400" cy="1428750"/>
          </a:xfrm>
        </p:grpSpPr>
        <p:sp>
          <p:nvSpPr>
            <p:cNvPr id="19" name="Rectangle 19"/>
            <p:cNvSpPr/>
            <p:nvPr/>
          </p:nvSpPr>
          <p:spPr>
            <a:xfrm>
              <a:off x="876300" y="4095750"/>
              <a:ext cx="10439400" cy="1428750"/>
            </a:xfrm>
            <a:prstGeom prst="roundRect">
              <a:avLst>
                <a:gd name="adj" fmla="val 5333"/>
              </a:avLst>
            </a:prstGeom>
            <a:solidFill>
              <a:srgbClr val="F8ECE8"/>
            </a:solidFill>
            <a:ln>
              <a:noFill/>
            </a:ln>
          </p:spPr>
        </p:sp>
        <p:sp>
          <p:nvSpPr>
            <p:cNvPr id="20" name="Rectangle 20"/>
            <p:cNvSpPr/>
            <p:nvPr/>
          </p:nvSpPr>
          <p:spPr>
            <a:xfrm>
              <a:off x="876300" y="4095750"/>
              <a:ext cx="95250" cy="1428750"/>
            </a:xfrm>
            <a:prstGeom prst="rect">
              <a:avLst/>
            </a:prstGeom>
            <a:solidFill>
              <a:schemeClr val="accent2"/>
            </a:solidFill>
            <a:ln>
              <a:noFill/>
            </a:ln>
          </p:spPr>
        </p:sp>
        <p:sp>
          <p:nvSpPr>
            <p:cNvPr id="21" name="TextBox 21"/>
            <p:cNvSpPr txBox="1"/>
            <p:nvPr/>
          </p:nvSpPr>
          <p:spPr>
            <a:xfrm>
              <a:off x="1251204" y="4366260"/>
              <a:ext cx="1445971" cy="234696"/>
            </a:xfrm>
            <a:prstGeom prst="rect">
              <a:avLst/>
            </a:prstGeom>
            <a:noFill/>
            <a:ln>
              <a:noFill/>
            </a:ln>
          </p:spPr>
          <p:txBody>
            <a:bodyPr wrap="none" lIns="0" tIns="0" rIns="0" bIns="0" anchor="t" anchorCtr="0">
              <a:spAutoFit/>
            </a:bodyPr>
            <a:lstStyle/>
            <a:p>
              <a:pPr algn="l"/>
              <a:r>
                <a:rPr lang="en" sz="1200" b="1" dirty="0">
                  <a:solidFill>
                    <a:schemeClr val="accent2"/>
                  </a:solidFill>
                  <a:latin typeface="+mn-lt"/>
                  <a:ea typeface="+mn-ea"/>
                  <a:cs typeface="+mn-cs"/>
                </a:rPr>
                <a:t>NOT YET EXPLICIT</a:t>
              </a:r>
            </a:p>
          </p:txBody>
        </p:sp>
        <p:sp>
          <p:nvSpPr>
            <p:cNvPr id="22" name="TextBox 22"/>
            <p:cNvSpPr txBox="1"/>
            <p:nvPr/>
          </p:nvSpPr>
          <p:spPr>
            <a:xfrm>
              <a:off x="1246632" y="4688205"/>
              <a:ext cx="9166249" cy="410718"/>
            </a:xfrm>
            <a:prstGeom prst="rect">
              <a:avLst/>
            </a:prstGeom>
            <a:noFill/>
            <a:ln>
              <a:noFill/>
            </a:ln>
          </p:spPr>
          <p:txBody>
            <a:bodyPr wrap="none" lIns="0" tIns="0" rIns="0" bIns="0" anchor="t" anchorCtr="0">
              <a:spAutoFit/>
            </a:bodyPr>
            <a:lstStyle/>
            <a:p>
              <a:pPr algn="l"/>
              <a:r>
                <a:rPr lang="en" sz="2100" b="1" dirty="0">
                  <a:solidFill>
                    <a:schemeClr val="dk1"/>
                  </a:solidFill>
                  <a:latin typeface="+mn-lt"/>
                  <a:ea typeface="+mn-ea"/>
                  <a:cs typeface="+mn-cs"/>
                </a:rPr>
                <a:t>Private-car HKD · experienced PT fares · physical school buses</a:t>
              </a:r>
            </a:p>
          </p:txBody>
        </p:sp>
        <p:sp>
          <p:nvSpPr>
            <p:cNvPr id="23" name="TextBox 23"/>
            <p:cNvSpPr txBox="1"/>
            <p:nvPr/>
          </p:nvSpPr>
          <p:spPr>
            <a:xfrm>
              <a:off x="1246632" y="5050155"/>
              <a:ext cx="7570276" cy="410718"/>
            </a:xfrm>
            <a:prstGeom prst="rect">
              <a:avLst/>
            </a:prstGeom>
            <a:noFill/>
            <a:ln>
              <a:noFill/>
            </a:ln>
          </p:spPr>
          <p:txBody>
            <a:bodyPr wrap="none" lIns="0" tIns="0" rIns="0" bIns="0" anchor="t" anchorCtr="0">
              <a:spAutoFit/>
            </a:bodyPr>
            <a:lstStyle/>
            <a:p>
              <a:pPr algn="l"/>
              <a:r>
                <a:rPr lang="en" sz="2100" b="1" dirty="0">
                  <a:solidFill>
                    <a:schemeClr val="dk1"/>
                  </a:solidFill>
                  <a:latin typeface="+mn-lt"/>
                  <a:ea typeface="+mn-ea"/>
                  <a:cs typeface="+mn-cs"/>
                </a:rPr>
                <a:t>household vehicle continuity · finite Taxi operations</a:t>
              </a:r>
            </a:p>
          </p:txBody>
        </p:sp>
      </p:grpSp>
      <p:grpSp>
        <p:nvGrpSpPr>
          <p:cNvPr id="28" name="Group 28"/>
          <p:cNvGrpSpPr/>
          <p:nvPr/>
        </p:nvGrpSpPr>
        <p:grpSpPr>
          <a:xfrm>
            <a:off x="603504" y="6153150"/>
            <a:ext cx="10984992" cy="409956"/>
            <a:chOff x="603504" y="6153150"/>
            <a:chExt cx="10984992" cy="409956"/>
          </a:xfrm>
        </p:grpSpPr>
        <p:sp>
          <p:nvSpPr>
            <p:cNvPr id="25" name="Line 25"/>
            <p:cNvSpPr/>
            <p:nvPr/>
          </p:nvSpPr>
          <p:spPr>
            <a:xfrm>
              <a:off x="609600" y="6153150"/>
              <a:ext cx="10972800" cy="9525"/>
            </a:xfrm>
            <a:custGeom>
              <a:avLst/>
              <a:gdLst/>
              <a:ahLst/>
              <a:cxnLst/>
              <a:rect l="l" t="t" r="r" b="b"/>
              <a:pathLst>
                <a:path w="10972800" h="9525">
                  <a:moveTo>
                    <a:pt x="0" y="0"/>
                  </a:moveTo>
                  <a:lnTo>
                    <a:pt x="10972800" y="0"/>
                  </a:lnTo>
                </a:path>
              </a:pathLst>
            </a:custGeom>
            <a:noFill/>
            <a:ln w="9525">
              <a:solidFill>
                <a:srgbClr val="D7DEDE"/>
              </a:solidFill>
            </a:ln>
          </p:spPr>
        </p:sp>
        <p:sp>
          <p:nvSpPr>
            <p:cNvPr id="26" name="TextBox 26"/>
            <p:cNvSpPr txBox="1"/>
            <p:nvPr/>
          </p:nvSpPr>
          <p:spPr>
            <a:xfrm>
              <a:off x="603504" y="6328410"/>
              <a:ext cx="6334063" cy="234696"/>
            </a:xfrm>
            <a:prstGeom prst="rect">
              <a:avLst/>
            </a:prstGeom>
            <a:noFill/>
            <a:ln>
              <a:noFill/>
            </a:ln>
          </p:spPr>
          <p:txBody>
            <a:bodyPr wrap="none" lIns="0" tIns="0" rIns="0" bIns="0" anchor="t" anchorCtr="0">
              <a:spAutoFit/>
            </a:bodyPr>
            <a:lstStyle/>
            <a:p>
              <a:pPr algn="l"/>
              <a:r>
                <a:rPr lang="en" sz="1200" dirty="0">
                  <a:solidFill>
                    <a:srgbClr val="536165"/>
                  </a:solidFill>
                  <a:latin typeface="+mn-lt"/>
                  <a:ea typeface="+mn-ea"/>
                  <a:cs typeface="+mn-cs"/>
                </a:rPr>
                <a:t>This report shows what became observable after those layers were introduced.</a:t>
              </a:r>
            </a:p>
          </p:txBody>
        </p:sp>
        <p:sp>
          <p:nvSpPr>
            <p:cNvPr id="27" name="TextBox 27"/>
            <p:cNvSpPr txBox="1"/>
            <p:nvPr/>
          </p:nvSpPr>
          <p:spPr>
            <a:xfrm>
              <a:off x="11398606" y="6328410"/>
              <a:ext cx="189890" cy="234696"/>
            </a:xfrm>
            <a:prstGeom prst="rect">
              <a:avLst/>
            </a:prstGeom>
            <a:noFill/>
            <a:ln>
              <a:noFill/>
            </a:ln>
          </p:spPr>
          <p:txBody>
            <a:bodyPr wrap="none" lIns="0" tIns="0" rIns="0" bIns="0" anchor="t" anchorCtr="0">
              <a:spAutoFit/>
            </a:bodyPr>
            <a:lstStyle/>
            <a:p>
              <a:pPr algn="r"/>
              <a:r>
                <a:rPr lang="en" sz="1200" dirty="0">
                  <a:solidFill>
                    <a:srgbClr val="536165"/>
                  </a:solidFill>
                  <a:latin typeface="+mn-lt"/>
                  <a:ea typeface="+mn-ea"/>
                  <a:cs typeface="+mn-cs"/>
                </a:rPr>
                <a:t>02</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chemeClr val="lt1"/>
            </a:solidFill>
            <a:ln>
              <a:noFill/>
            </a:ln>
          </p:spPr>
        </p:sp>
        <p:sp>
          <p:nvSpPr>
            <p:cNvPr id="3" name="Rectangle 3"/>
            <p:cNvSpPr/>
            <p:nvPr/>
          </p:nvSpPr>
          <p:spPr>
            <a:xfrm>
              <a:off x="0" y="0"/>
              <a:ext cx="2571750" cy="6858000"/>
            </a:xfrm>
            <a:prstGeom prst="rect">
              <a:avLst/>
            </a:prstGeom>
            <a:solidFill>
              <a:srgbClr val="163B4A"/>
            </a:solidFill>
            <a:ln>
              <a:noFill/>
            </a:ln>
          </p:spPr>
        </p:sp>
      </p:grpSp>
      <p:grpSp>
        <p:nvGrpSpPr>
          <p:cNvPr id="15" name="Group 15"/>
          <p:cNvGrpSpPr/>
          <p:nvPr/>
        </p:nvGrpSpPr>
        <p:grpSpPr>
          <a:xfrm>
            <a:off x="444246" y="556260"/>
            <a:ext cx="2116489" cy="3739896"/>
            <a:chOff x="444246" y="556260"/>
            <a:chExt cx="2116489" cy="3739896"/>
          </a:xfrm>
        </p:grpSpPr>
        <p:sp>
          <p:nvSpPr>
            <p:cNvPr id="5" name="TextBox 5"/>
            <p:cNvSpPr txBox="1"/>
            <p:nvPr/>
          </p:nvSpPr>
          <p:spPr>
            <a:xfrm>
              <a:off x="451104" y="556260"/>
              <a:ext cx="1544544" cy="234696"/>
            </a:xfrm>
            <a:prstGeom prst="rect">
              <a:avLst/>
            </a:prstGeom>
            <a:noFill/>
            <a:ln>
              <a:noFill/>
            </a:ln>
          </p:spPr>
          <p:txBody>
            <a:bodyPr wrap="none" lIns="0" tIns="0" rIns="0" bIns="0" anchor="t" anchorCtr="0">
              <a:spAutoFit/>
            </a:bodyPr>
            <a:lstStyle/>
            <a:p>
              <a:pPr algn="l"/>
              <a:r>
                <a:rPr lang="en" sz="1200" b="1" dirty="0">
                  <a:solidFill>
                    <a:srgbClr val="8FC0D2"/>
                  </a:solidFill>
                  <a:latin typeface="+mn-lt"/>
                  <a:ea typeface="+mn-ea"/>
                  <a:cs typeface="+mn-cs"/>
                </a:rPr>
                <a:t>MODEL EVOLUTION</a:t>
              </a:r>
            </a:p>
          </p:txBody>
        </p:sp>
        <p:sp>
          <p:nvSpPr>
            <p:cNvPr id="6" name="TextBox 6"/>
            <p:cNvSpPr txBox="1"/>
            <p:nvPr/>
          </p:nvSpPr>
          <p:spPr>
            <a:xfrm>
              <a:off x="444246" y="982028"/>
              <a:ext cx="1912010" cy="498729"/>
            </a:xfrm>
            <a:prstGeom prst="rect">
              <a:avLst/>
            </a:prstGeom>
            <a:noFill/>
            <a:ln>
              <a:noFill/>
            </a:ln>
          </p:spPr>
          <p:txBody>
            <a:bodyPr wrap="none" lIns="0" tIns="0" rIns="0" bIns="0" anchor="t" anchorCtr="0">
              <a:spAutoFit/>
            </a:bodyPr>
            <a:lstStyle/>
            <a:p>
              <a:pPr algn="l"/>
              <a:r>
                <a:rPr lang="en" sz="2550" b="1" dirty="0">
                  <a:solidFill>
                    <a:srgbClr val="FFFFFF"/>
                  </a:solidFill>
                  <a:latin typeface="+mn-lt"/>
                  <a:ea typeface="+mn-ea"/>
                  <a:cs typeface="+mn-cs"/>
                </a:rPr>
                <a:t>Choice now</a:t>
              </a:r>
            </a:p>
          </p:txBody>
        </p:sp>
        <p:sp>
          <p:nvSpPr>
            <p:cNvPr id="7" name="TextBox 7"/>
            <p:cNvSpPr txBox="1"/>
            <p:nvPr/>
          </p:nvSpPr>
          <p:spPr>
            <a:xfrm>
              <a:off x="444246" y="1363028"/>
              <a:ext cx="2116489" cy="498729"/>
            </a:xfrm>
            <a:prstGeom prst="rect">
              <a:avLst/>
            </a:prstGeom>
            <a:noFill/>
            <a:ln>
              <a:noFill/>
            </a:ln>
          </p:spPr>
          <p:txBody>
            <a:bodyPr wrap="none" lIns="0" tIns="0" rIns="0" bIns="0" anchor="t" anchorCtr="0">
              <a:spAutoFit/>
            </a:bodyPr>
            <a:lstStyle/>
            <a:p>
              <a:pPr algn="l"/>
              <a:r>
                <a:rPr lang="en" sz="2550" b="1" dirty="0">
                  <a:solidFill>
                    <a:srgbClr val="FFFFFF"/>
                  </a:solidFill>
                  <a:latin typeface="+mn-lt"/>
                  <a:ea typeface="+mn-ea"/>
                  <a:cs typeface="+mn-cs"/>
                </a:rPr>
                <a:t>connects to</a:t>
              </a:r>
            </a:p>
          </p:txBody>
        </p:sp>
        <p:sp>
          <p:nvSpPr>
            <p:cNvPr id="8" name="TextBox 8"/>
            <p:cNvSpPr txBox="1"/>
            <p:nvPr/>
          </p:nvSpPr>
          <p:spPr>
            <a:xfrm>
              <a:off x="444246" y="1744028"/>
              <a:ext cx="2116489" cy="498729"/>
            </a:xfrm>
            <a:prstGeom prst="rect">
              <a:avLst/>
            </a:prstGeom>
            <a:noFill/>
            <a:ln>
              <a:noFill/>
            </a:ln>
          </p:spPr>
          <p:txBody>
            <a:bodyPr wrap="none" lIns="0" tIns="0" rIns="0" bIns="0" anchor="t" anchorCtr="0">
              <a:spAutoFit/>
            </a:bodyPr>
            <a:lstStyle/>
            <a:p>
              <a:pPr algn="l"/>
              <a:r>
                <a:rPr lang="en" sz="2550" b="1" dirty="0">
                  <a:solidFill>
                    <a:srgbClr val="FFFFFF"/>
                  </a:solidFill>
                  <a:latin typeface="+mn-lt"/>
                  <a:ea typeface="+mn-ea"/>
                  <a:cs typeface="+mn-cs"/>
                </a:rPr>
                <a:t>operations.</a:t>
              </a:r>
            </a:p>
          </p:txBody>
        </p:sp>
        <p:sp>
          <p:nvSpPr>
            <p:cNvPr id="9" name="Rectangle 9"/>
            <p:cNvSpPr/>
            <p:nvPr/>
          </p:nvSpPr>
          <p:spPr>
            <a:xfrm>
              <a:off x="457200" y="2514600"/>
              <a:ext cx="1619250" cy="819150"/>
            </a:xfrm>
            <a:prstGeom prst="roundRect">
              <a:avLst>
                <a:gd name="adj" fmla="val 6977"/>
              </a:avLst>
            </a:prstGeom>
            <a:solidFill>
              <a:schemeClr val="accent1"/>
            </a:solidFill>
            <a:ln>
              <a:noFill/>
            </a:ln>
          </p:spPr>
        </p:sp>
        <p:sp>
          <p:nvSpPr>
            <p:cNvPr id="10" name="TextBox 10"/>
            <p:cNvSpPr txBox="1"/>
            <p:nvPr/>
          </p:nvSpPr>
          <p:spPr>
            <a:xfrm>
              <a:off x="603504" y="2689860"/>
              <a:ext cx="665234" cy="234696"/>
            </a:xfrm>
            <a:prstGeom prst="rect">
              <a:avLst/>
            </a:prstGeom>
            <a:noFill/>
            <a:ln>
              <a:noFill/>
            </a:ln>
          </p:spPr>
          <p:txBody>
            <a:bodyPr wrap="none" lIns="0" tIns="0" rIns="0" bIns="0" anchor="t" anchorCtr="0">
              <a:spAutoFit/>
            </a:bodyPr>
            <a:lstStyle/>
            <a:p>
              <a:pPr algn="l"/>
              <a:r>
                <a:rPr lang="en" sz="1200" b="1" dirty="0">
                  <a:solidFill>
                    <a:srgbClr val="FFFFFF"/>
                  </a:solidFill>
                  <a:latin typeface="+mn-lt"/>
                  <a:ea typeface="+mn-ea"/>
                  <a:cs typeface="+mn-cs"/>
                </a:rPr>
                <a:t>742,189</a:t>
              </a:r>
            </a:p>
          </p:txBody>
        </p:sp>
        <p:sp>
          <p:nvSpPr>
            <p:cNvPr id="11" name="TextBox 11"/>
            <p:cNvSpPr txBox="1"/>
            <p:nvPr/>
          </p:nvSpPr>
          <p:spPr>
            <a:xfrm>
              <a:off x="603504" y="2937510"/>
              <a:ext cx="1094537" cy="234696"/>
            </a:xfrm>
            <a:prstGeom prst="rect">
              <a:avLst/>
            </a:prstGeom>
            <a:noFill/>
            <a:ln>
              <a:noFill/>
            </a:ln>
          </p:spPr>
          <p:txBody>
            <a:bodyPr wrap="none" lIns="0" tIns="0" rIns="0" bIns="0" anchor="t" anchorCtr="0">
              <a:spAutoFit/>
            </a:bodyPr>
            <a:lstStyle/>
            <a:p>
              <a:pPr algn="l"/>
              <a:r>
                <a:rPr lang="en" sz="1200" dirty="0">
                  <a:solidFill>
                    <a:srgbClr val="FFFFFF"/>
                  </a:solidFill>
                  <a:latin typeface="+mn-lt"/>
                  <a:ea typeface="+mn-ea"/>
                  <a:cs typeface="+mn-cs"/>
                </a:rPr>
                <a:t>realised trips</a:t>
              </a:r>
            </a:p>
          </p:txBody>
        </p:sp>
        <p:sp>
          <p:nvSpPr>
            <p:cNvPr id="12" name="TextBox 12"/>
            <p:cNvSpPr txBox="1"/>
            <p:nvPr/>
          </p:nvSpPr>
          <p:spPr>
            <a:xfrm>
              <a:off x="603504" y="3147060"/>
              <a:ext cx="957224" cy="234696"/>
            </a:xfrm>
            <a:prstGeom prst="rect">
              <a:avLst/>
            </a:prstGeom>
            <a:noFill/>
            <a:ln>
              <a:noFill/>
            </a:ln>
          </p:spPr>
          <p:txBody>
            <a:bodyPr wrap="none" lIns="0" tIns="0" rIns="0" bIns="0" anchor="t" anchorCtr="0">
              <a:spAutoFit/>
            </a:bodyPr>
            <a:lstStyle/>
            <a:p>
              <a:pPr algn="l"/>
              <a:r>
                <a:rPr lang="en" sz="1200" dirty="0">
                  <a:solidFill>
                    <a:srgbClr val="FFFFFF"/>
                  </a:solidFill>
                  <a:latin typeface="+mn-lt"/>
                  <a:ea typeface="+mn-ea"/>
                  <a:cs typeface="+mn-cs"/>
                </a:rPr>
                <a:t>18 districts</a:t>
              </a:r>
            </a:p>
          </p:txBody>
        </p:sp>
        <p:sp>
          <p:nvSpPr>
            <p:cNvPr id="13" name="TextBox 13"/>
            <p:cNvSpPr txBox="1"/>
            <p:nvPr/>
          </p:nvSpPr>
          <p:spPr>
            <a:xfrm>
              <a:off x="451104" y="3813810"/>
              <a:ext cx="1480076" cy="234696"/>
            </a:xfrm>
            <a:prstGeom prst="rect">
              <a:avLst/>
            </a:prstGeom>
            <a:noFill/>
            <a:ln>
              <a:noFill/>
            </a:ln>
          </p:spPr>
          <p:txBody>
            <a:bodyPr wrap="none" lIns="0" tIns="0" rIns="0" bIns="0" anchor="t" anchorCtr="0">
              <a:spAutoFit/>
            </a:bodyPr>
            <a:lstStyle/>
            <a:p>
              <a:pPr algn="l"/>
              <a:r>
                <a:rPr lang="en" sz="1200" dirty="0">
                  <a:solidFill>
                    <a:srgbClr val="DCE8EC"/>
                  </a:solidFill>
                  <a:latin typeface="+mn-lt"/>
                  <a:ea typeface="+mn-ea"/>
                  <a:cs typeface="+mn-cs"/>
                </a:rPr>
                <a:t>Money · resources</a:t>
              </a:r>
            </a:p>
          </p:txBody>
        </p:sp>
        <p:sp>
          <p:nvSpPr>
            <p:cNvPr id="14" name="TextBox 14"/>
            <p:cNvSpPr txBox="1"/>
            <p:nvPr/>
          </p:nvSpPr>
          <p:spPr>
            <a:xfrm>
              <a:off x="451104" y="4061460"/>
              <a:ext cx="1231849" cy="234696"/>
            </a:xfrm>
            <a:prstGeom prst="rect">
              <a:avLst/>
            </a:prstGeom>
            <a:noFill/>
            <a:ln>
              <a:noFill/>
            </a:ln>
          </p:spPr>
          <p:txBody>
            <a:bodyPr wrap="none" lIns="0" tIns="0" rIns="0" bIns="0" anchor="t" anchorCtr="0">
              <a:spAutoFit/>
            </a:bodyPr>
            <a:lstStyle/>
            <a:p>
              <a:pPr algn="l"/>
              <a:r>
                <a:rPr lang="en" sz="1200" dirty="0">
                  <a:solidFill>
                    <a:srgbClr val="DCE8EC"/>
                  </a:solidFill>
                  <a:latin typeface="+mn-lt"/>
                  <a:ea typeface="+mn-ea"/>
                  <a:cs typeface="+mn-cs"/>
                </a:rPr>
                <a:t>signals · audits</a:t>
              </a:r>
            </a:p>
          </p:txBody>
        </p:sp>
      </p:grpSp>
      <p:grpSp>
        <p:nvGrpSpPr>
          <p:cNvPr id="18" name="Group 18"/>
          <p:cNvGrpSpPr/>
          <p:nvPr/>
        </p:nvGrpSpPr>
        <p:grpSpPr>
          <a:xfrm>
            <a:off x="2895600" y="819150"/>
            <a:ext cx="8439150" cy="5429250"/>
            <a:chOff x="2895600" y="819150"/>
            <a:chExt cx="8439150" cy="5429250"/>
          </a:xfrm>
        </p:grpSpPr>
        <p:sp>
          <p:nvSpPr>
            <p:cNvPr id="16" name="Rectangle 16"/>
            <p:cNvSpPr/>
            <p:nvPr/>
          </p:nvSpPr>
          <p:spPr>
            <a:xfrm>
              <a:off x="2895600" y="819150"/>
              <a:ext cx="8439150" cy="5429250"/>
            </a:xfrm>
            <a:prstGeom prst="rect">
              <a:avLst/>
            </a:prstGeom>
            <a:solidFill>
              <a:schemeClr val="accent5"/>
            </a:solidFill>
            <a:ln>
              <a:noFill/>
            </a:ln>
          </p:spPr>
        </p:sp>
        <p:pic>
          <p:nvPicPr>
            <p:cNvPr id="17" name="Image 17"/>
            <p:cNvPicPr>
              <a:picLocks noChangeAspect="1"/>
            </p:cNvPicPr>
            <p:nvPr/>
          </p:nvPicPr>
          <p:blipFill>
            <a:blip r:embed="rId2"/>
            <a:stretch>
              <a:fillRect/>
            </a:stretch>
          </p:blipFill>
          <p:spPr>
            <a:xfrm>
              <a:off x="3000375" y="904875"/>
              <a:ext cx="8229600" cy="5276850"/>
            </a:xfrm>
            <a:prstGeom prst="rect">
              <a:avLst/>
            </a:prstGeom>
          </p:spPr>
        </p:pic>
      </p:grpSp>
      <p:grpSp>
        <p:nvGrpSpPr>
          <p:cNvPr id="21" name="Group 21"/>
          <p:cNvGrpSpPr/>
          <p:nvPr/>
        </p:nvGrpSpPr>
        <p:grpSpPr>
          <a:xfrm>
            <a:off x="2889504" y="6385560"/>
            <a:ext cx="8698992" cy="234696"/>
            <a:chOff x="2889504" y="6385560"/>
            <a:chExt cx="8698992" cy="234696"/>
          </a:xfrm>
        </p:grpSpPr>
        <p:sp>
          <p:nvSpPr>
            <p:cNvPr id="19" name="TextBox 19"/>
            <p:cNvSpPr txBox="1"/>
            <p:nvPr/>
          </p:nvSpPr>
          <p:spPr>
            <a:xfrm>
              <a:off x="2889504" y="6385560"/>
              <a:ext cx="6455079" cy="234696"/>
            </a:xfrm>
            <a:prstGeom prst="rect">
              <a:avLst/>
            </a:prstGeom>
            <a:noFill/>
            <a:ln>
              <a:noFill/>
            </a:ln>
          </p:spPr>
          <p:txBody>
            <a:bodyPr wrap="none" lIns="0" tIns="0" rIns="0" bIns="0" anchor="t" anchorCtr="0">
              <a:spAutoFit/>
            </a:bodyPr>
            <a:lstStyle/>
            <a:p>
              <a:pPr algn="l"/>
              <a:r>
                <a:rPr lang="en" sz="1200" dirty="0">
                  <a:solidFill>
                    <a:srgbClr val="536165"/>
                  </a:solidFill>
                  <a:latin typeface="+mn-lt"/>
                  <a:ea typeface="+mn-ea"/>
                  <a:cs typeface="+mn-cs"/>
                </a:rPr>
                <a:t>Candidate / validation evidence · not a redefinition of the adopted production run</a:t>
              </a:r>
            </a:p>
          </p:txBody>
        </p:sp>
        <p:sp>
          <p:nvSpPr>
            <p:cNvPr id="20" name="TextBox 20"/>
            <p:cNvSpPr txBox="1"/>
            <p:nvPr/>
          </p:nvSpPr>
          <p:spPr>
            <a:xfrm>
              <a:off x="11398606" y="6385560"/>
              <a:ext cx="189890" cy="234696"/>
            </a:xfrm>
            <a:prstGeom prst="rect">
              <a:avLst/>
            </a:prstGeom>
            <a:noFill/>
            <a:ln>
              <a:noFill/>
            </a:ln>
          </p:spPr>
          <p:txBody>
            <a:bodyPr wrap="none" lIns="0" tIns="0" rIns="0" bIns="0" anchor="t" anchorCtr="0">
              <a:spAutoFit/>
            </a:bodyPr>
            <a:lstStyle/>
            <a:p>
              <a:pPr algn="r"/>
              <a:r>
                <a:rPr lang="en" sz="1200" dirty="0">
                  <a:solidFill>
                    <a:srgbClr val="536165"/>
                  </a:solidFill>
                  <a:latin typeface="+mn-lt"/>
                  <a:ea typeface="+mn-ea"/>
                  <a:cs typeface="+mn-cs"/>
                </a:rPr>
                <a:t>03</a:t>
              </a:r>
            </a:p>
          </p:txBody>
        </p:sp>
      </p:gr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chemeClr val="lt1"/>
            </a:solidFill>
            <a:ln>
              <a:noFill/>
            </a:ln>
          </p:spPr>
        </p:sp>
        <p:sp>
          <p:nvSpPr>
            <p:cNvPr id="3" name="Rectangle 3"/>
            <p:cNvSpPr/>
            <p:nvPr/>
          </p:nvSpPr>
          <p:spPr>
            <a:xfrm>
              <a:off x="0" y="0"/>
              <a:ext cx="12192000" cy="1162050"/>
            </a:xfrm>
            <a:prstGeom prst="rect">
              <a:avLst/>
            </a:prstGeom>
            <a:solidFill>
              <a:schemeClr val="dk1"/>
            </a:solidFill>
            <a:ln>
              <a:noFill/>
            </a:ln>
          </p:spPr>
        </p:sp>
      </p:grpSp>
      <p:grpSp>
        <p:nvGrpSpPr>
          <p:cNvPr id="7" name="Group 7"/>
          <p:cNvGrpSpPr/>
          <p:nvPr/>
        </p:nvGrpSpPr>
        <p:grpSpPr>
          <a:xfrm>
            <a:off x="574548" y="365760"/>
            <a:ext cx="11275849" cy="653225"/>
            <a:chOff x="574548" y="365760"/>
            <a:chExt cx="11275849" cy="653225"/>
          </a:xfrm>
        </p:grpSpPr>
        <p:sp>
          <p:nvSpPr>
            <p:cNvPr id="5" name="TextBox 5"/>
            <p:cNvSpPr txBox="1"/>
            <p:nvPr/>
          </p:nvSpPr>
          <p:spPr>
            <a:xfrm>
              <a:off x="574548" y="402908"/>
              <a:ext cx="11275849" cy="616077"/>
            </a:xfrm>
            <a:prstGeom prst="rect">
              <a:avLst/>
            </a:prstGeom>
            <a:noFill/>
            <a:ln>
              <a:noFill/>
            </a:ln>
          </p:spPr>
          <p:txBody>
            <a:bodyPr wrap="none" lIns="0" tIns="0" rIns="0" bIns="0" anchor="t" anchorCtr="0">
              <a:spAutoFit/>
            </a:bodyPr>
            <a:lstStyle/>
            <a:p>
              <a:pPr algn="l"/>
              <a:r>
                <a:rPr lang="en" sz="3150" b="1" dirty="0">
                  <a:solidFill>
                    <a:srgbClr val="FFFFFF"/>
                  </a:solidFill>
                  <a:latin typeface="+mn-lt"/>
                  <a:ea typeface="+mn-ea"/>
                  <a:cs typeface="+mn-cs"/>
                </a:rPr>
                <a:t>Ten Seconds Determined Whether a Student Boarded</a:t>
              </a:r>
            </a:p>
          </p:txBody>
        </p:sp>
        <p:sp>
          <p:nvSpPr>
            <p:cNvPr id="6" name="TextBox 6"/>
            <p:cNvSpPr txBox="1"/>
            <p:nvPr/>
          </p:nvSpPr>
          <p:spPr>
            <a:xfrm>
              <a:off x="10018197" y="365760"/>
              <a:ext cx="1589349" cy="234696"/>
            </a:xfrm>
            <a:prstGeom prst="rect">
              <a:avLst/>
            </a:prstGeom>
            <a:noFill/>
            <a:ln>
              <a:noFill/>
            </a:ln>
          </p:spPr>
          <p:txBody>
            <a:bodyPr wrap="none" lIns="0" tIns="0" rIns="0" bIns="0" anchor="t" anchorCtr="0">
              <a:spAutoFit/>
            </a:bodyPr>
            <a:lstStyle/>
            <a:p>
              <a:pPr algn="r"/>
              <a:r>
                <a:rPr lang="en" sz="1200" b="1" dirty="0">
                  <a:solidFill>
                    <a:schemeClr val="accent3"/>
                  </a:solidFill>
                  <a:latin typeface="+mn-lt"/>
                  <a:ea typeface="+mn-ea"/>
                  <a:cs typeface="+mn-cs"/>
                </a:rPr>
                <a:t>EVENT-TIME REPAIR</a:t>
              </a:r>
            </a:p>
          </p:txBody>
        </p:sp>
      </p:grpSp>
      <p:grpSp>
        <p:nvGrpSpPr>
          <p:cNvPr id="10" name="Group 10"/>
          <p:cNvGrpSpPr/>
          <p:nvPr/>
        </p:nvGrpSpPr>
        <p:grpSpPr>
          <a:xfrm>
            <a:off x="2609850" y="1314450"/>
            <a:ext cx="8934450" cy="4895850"/>
            <a:chOff x="2609850" y="1314450"/>
            <a:chExt cx="8934450" cy="4895850"/>
          </a:xfrm>
        </p:grpSpPr>
        <p:sp>
          <p:nvSpPr>
            <p:cNvPr id="8" name="Rectangle 8"/>
            <p:cNvSpPr/>
            <p:nvPr/>
          </p:nvSpPr>
          <p:spPr>
            <a:xfrm>
              <a:off x="2609850" y="1314450"/>
              <a:ext cx="8934450" cy="4895850"/>
            </a:xfrm>
            <a:prstGeom prst="rect">
              <a:avLst/>
            </a:prstGeom>
            <a:solidFill>
              <a:schemeClr val="accent5"/>
            </a:solidFill>
            <a:ln>
              <a:noFill/>
            </a:ln>
          </p:spPr>
        </p:sp>
        <p:pic>
          <p:nvPicPr>
            <p:cNvPr id="9" name="Image 9"/>
            <p:cNvPicPr>
              <a:picLocks noChangeAspect="1"/>
            </p:cNvPicPr>
            <p:nvPr/>
          </p:nvPicPr>
          <p:blipFill>
            <a:blip r:embed="rId2"/>
            <a:stretch>
              <a:fillRect/>
            </a:stretch>
          </p:blipFill>
          <p:spPr>
            <a:xfrm>
              <a:off x="3171825" y="1409700"/>
              <a:ext cx="7810500" cy="4686300"/>
            </a:xfrm>
            <a:prstGeom prst="rect">
              <a:avLst/>
            </a:prstGeom>
          </p:spPr>
        </p:pic>
      </p:grpSp>
      <p:grpSp>
        <p:nvGrpSpPr>
          <p:cNvPr id="22" name="Group 22"/>
          <p:cNvGrpSpPr/>
          <p:nvPr/>
        </p:nvGrpSpPr>
        <p:grpSpPr>
          <a:xfrm>
            <a:off x="465582" y="1584960"/>
            <a:ext cx="2083128" cy="3930396"/>
            <a:chOff x="465582" y="1584960"/>
            <a:chExt cx="2083128" cy="3930396"/>
          </a:xfrm>
        </p:grpSpPr>
        <p:sp>
          <p:nvSpPr>
            <p:cNvPr id="11" name="TextBox 11"/>
            <p:cNvSpPr txBox="1"/>
            <p:nvPr/>
          </p:nvSpPr>
          <p:spPr>
            <a:xfrm>
              <a:off x="470154" y="1584960"/>
              <a:ext cx="505054" cy="234696"/>
            </a:xfrm>
            <a:prstGeom prst="rect">
              <a:avLst/>
            </a:prstGeom>
            <a:noFill/>
            <a:ln>
              <a:noFill/>
            </a:ln>
          </p:spPr>
          <p:txBody>
            <a:bodyPr wrap="none" lIns="0" tIns="0" rIns="0" bIns="0" anchor="t" anchorCtr="0">
              <a:spAutoFit/>
            </a:bodyPr>
            <a:lstStyle/>
            <a:p>
              <a:pPr algn="l"/>
              <a:r>
                <a:rPr lang="en" sz="1200" b="1" dirty="0">
                  <a:solidFill>
                    <a:srgbClr val="536165"/>
                  </a:solidFill>
                  <a:latin typeface="+mn-lt"/>
                  <a:ea typeface="+mn-ea"/>
                  <a:cs typeface="+mn-cs"/>
                </a:rPr>
                <a:t>RUN56</a:t>
              </a:r>
            </a:p>
          </p:txBody>
        </p:sp>
        <p:sp>
          <p:nvSpPr>
            <p:cNvPr id="12" name="TextBox 12"/>
            <p:cNvSpPr txBox="1"/>
            <p:nvPr/>
          </p:nvSpPr>
          <p:spPr>
            <a:xfrm>
              <a:off x="465582" y="1868805"/>
              <a:ext cx="1327419" cy="410718"/>
            </a:xfrm>
            <a:prstGeom prst="rect">
              <a:avLst/>
            </a:prstGeom>
            <a:noFill/>
            <a:ln>
              <a:noFill/>
            </a:ln>
          </p:spPr>
          <p:txBody>
            <a:bodyPr wrap="none" lIns="0" tIns="0" rIns="0" bIns="0" anchor="t" anchorCtr="0">
              <a:spAutoFit/>
            </a:bodyPr>
            <a:lstStyle/>
            <a:p>
              <a:pPr algn="l"/>
              <a:r>
                <a:rPr lang="en" sz="2100" b="1" dirty="0">
                  <a:solidFill>
                    <a:schemeClr val="accent2"/>
                  </a:solidFill>
                  <a:latin typeface="+mn-lt"/>
                  <a:ea typeface="+mn-ea"/>
                  <a:cs typeface="+mn-cs"/>
                </a:rPr>
                <a:t>07:38:17</a:t>
              </a:r>
            </a:p>
          </p:txBody>
        </p:sp>
        <p:sp>
          <p:nvSpPr>
            <p:cNvPr id="13" name="TextBox 13"/>
            <p:cNvSpPr txBox="1"/>
            <p:nvPr/>
          </p:nvSpPr>
          <p:spPr>
            <a:xfrm>
              <a:off x="470154" y="2232660"/>
              <a:ext cx="553364" cy="234696"/>
            </a:xfrm>
            <a:prstGeom prst="rect">
              <a:avLst/>
            </a:prstGeom>
            <a:noFill/>
            <a:ln>
              <a:noFill/>
            </a:ln>
          </p:spPr>
          <p:txBody>
            <a:bodyPr wrap="none" lIns="0" tIns="0" rIns="0" bIns="0" anchor="t" anchorCtr="0">
              <a:spAutoFit/>
            </a:bodyPr>
            <a:lstStyle/>
            <a:p>
              <a:pPr algn="l"/>
              <a:r>
                <a:rPr lang="en" sz="1200" dirty="0">
                  <a:solidFill>
                    <a:srgbClr val="536165"/>
                  </a:solidFill>
                  <a:latin typeface="+mn-lt"/>
                  <a:ea typeface="+mn-ea"/>
                  <a:cs typeface="+mn-cs"/>
                </a:rPr>
                <a:t>arrival</a:t>
              </a:r>
            </a:p>
          </p:txBody>
        </p:sp>
        <p:sp>
          <p:nvSpPr>
            <p:cNvPr id="14" name="TextBox 14"/>
            <p:cNvSpPr txBox="1"/>
            <p:nvPr/>
          </p:nvSpPr>
          <p:spPr>
            <a:xfrm>
              <a:off x="467868" y="2546032"/>
              <a:ext cx="868050" cy="322707"/>
            </a:xfrm>
            <a:prstGeom prst="rect">
              <a:avLst/>
            </a:prstGeom>
            <a:noFill/>
            <a:ln>
              <a:noFill/>
            </a:ln>
          </p:spPr>
          <p:txBody>
            <a:bodyPr wrap="none" lIns="0" tIns="0" rIns="0" bIns="0" anchor="t" anchorCtr="0">
              <a:spAutoFit/>
            </a:bodyPr>
            <a:lstStyle/>
            <a:p>
              <a:pPr algn="l"/>
              <a:r>
                <a:rPr lang="en" sz="1650" b="1" dirty="0">
                  <a:solidFill>
                    <a:schemeClr val="dk1"/>
                  </a:solidFill>
                  <a:latin typeface="+mn-lt"/>
                  <a:ea typeface="+mn-ea"/>
                  <a:cs typeface="+mn-cs"/>
                </a:rPr>
                <a:t>3 s late</a:t>
              </a:r>
            </a:p>
          </p:txBody>
        </p:sp>
        <p:sp>
          <p:nvSpPr>
            <p:cNvPr id="15" name="Line 15"/>
            <p:cNvSpPr/>
            <p:nvPr/>
          </p:nvSpPr>
          <p:spPr>
            <a:xfrm>
              <a:off x="476250" y="3067050"/>
              <a:ext cx="1619250" cy="9525"/>
            </a:xfrm>
            <a:custGeom>
              <a:avLst/>
              <a:gdLst/>
              <a:ahLst/>
              <a:cxnLst/>
              <a:rect l="l" t="t" r="r" b="b"/>
              <a:pathLst>
                <a:path w="1619250" h="9525">
                  <a:moveTo>
                    <a:pt x="0" y="0"/>
                  </a:moveTo>
                  <a:lnTo>
                    <a:pt x="1619250" y="0"/>
                  </a:lnTo>
                </a:path>
              </a:pathLst>
            </a:custGeom>
            <a:noFill/>
            <a:ln w="19050">
              <a:solidFill>
                <a:srgbClr val="D7DEDE"/>
              </a:solidFill>
            </a:ln>
          </p:spPr>
        </p:sp>
        <p:sp>
          <p:nvSpPr>
            <p:cNvPr id="16" name="TextBox 16"/>
            <p:cNvSpPr txBox="1"/>
            <p:nvPr/>
          </p:nvSpPr>
          <p:spPr>
            <a:xfrm>
              <a:off x="470154" y="3375660"/>
              <a:ext cx="505054" cy="234696"/>
            </a:xfrm>
            <a:prstGeom prst="rect">
              <a:avLst/>
            </a:prstGeom>
            <a:noFill/>
            <a:ln>
              <a:noFill/>
            </a:ln>
          </p:spPr>
          <p:txBody>
            <a:bodyPr wrap="none" lIns="0" tIns="0" rIns="0" bIns="0" anchor="t" anchorCtr="0">
              <a:spAutoFit/>
            </a:bodyPr>
            <a:lstStyle/>
            <a:p>
              <a:pPr algn="l"/>
              <a:r>
                <a:rPr lang="en" sz="1200" b="1" dirty="0">
                  <a:solidFill>
                    <a:srgbClr val="536165"/>
                  </a:solidFill>
                  <a:latin typeface="+mn-lt"/>
                  <a:ea typeface="+mn-ea"/>
                  <a:cs typeface="+mn-cs"/>
                </a:rPr>
                <a:t>RUN57</a:t>
              </a:r>
            </a:p>
          </p:txBody>
        </p:sp>
        <p:sp>
          <p:nvSpPr>
            <p:cNvPr id="17" name="TextBox 17"/>
            <p:cNvSpPr txBox="1"/>
            <p:nvPr/>
          </p:nvSpPr>
          <p:spPr>
            <a:xfrm>
              <a:off x="465582" y="3659505"/>
              <a:ext cx="1327419" cy="410718"/>
            </a:xfrm>
            <a:prstGeom prst="rect">
              <a:avLst/>
            </a:prstGeom>
            <a:noFill/>
            <a:ln>
              <a:noFill/>
            </a:ln>
          </p:spPr>
          <p:txBody>
            <a:bodyPr wrap="none" lIns="0" tIns="0" rIns="0" bIns="0" anchor="t" anchorCtr="0">
              <a:spAutoFit/>
            </a:bodyPr>
            <a:lstStyle/>
            <a:p>
              <a:pPr algn="l"/>
              <a:r>
                <a:rPr lang="en" sz="2100" b="1" dirty="0">
                  <a:solidFill>
                    <a:schemeClr val="accent1"/>
                  </a:solidFill>
                  <a:latin typeface="+mn-lt"/>
                  <a:ea typeface="+mn-ea"/>
                  <a:cs typeface="+mn-cs"/>
                </a:rPr>
                <a:t>07:38:07</a:t>
              </a:r>
            </a:p>
          </p:txBody>
        </p:sp>
        <p:sp>
          <p:nvSpPr>
            <p:cNvPr id="18" name="TextBox 18"/>
            <p:cNvSpPr txBox="1"/>
            <p:nvPr/>
          </p:nvSpPr>
          <p:spPr>
            <a:xfrm>
              <a:off x="470154" y="4023360"/>
              <a:ext cx="553364" cy="234696"/>
            </a:xfrm>
            <a:prstGeom prst="rect">
              <a:avLst/>
            </a:prstGeom>
            <a:noFill/>
            <a:ln>
              <a:noFill/>
            </a:ln>
          </p:spPr>
          <p:txBody>
            <a:bodyPr wrap="none" lIns="0" tIns="0" rIns="0" bIns="0" anchor="t" anchorCtr="0">
              <a:spAutoFit/>
            </a:bodyPr>
            <a:lstStyle/>
            <a:p>
              <a:pPr algn="l"/>
              <a:r>
                <a:rPr lang="en" sz="1200" dirty="0">
                  <a:solidFill>
                    <a:srgbClr val="536165"/>
                  </a:solidFill>
                  <a:latin typeface="+mn-lt"/>
                  <a:ea typeface="+mn-ea"/>
                  <a:cs typeface="+mn-cs"/>
                </a:rPr>
                <a:t>arrival</a:t>
              </a:r>
            </a:p>
          </p:txBody>
        </p:sp>
        <p:sp>
          <p:nvSpPr>
            <p:cNvPr id="19" name="TextBox 19"/>
            <p:cNvSpPr txBox="1"/>
            <p:nvPr/>
          </p:nvSpPr>
          <p:spPr>
            <a:xfrm>
              <a:off x="467868" y="4336732"/>
              <a:ext cx="2080842" cy="322707"/>
            </a:xfrm>
            <a:prstGeom prst="rect">
              <a:avLst/>
            </a:prstGeom>
            <a:noFill/>
            <a:ln>
              <a:noFill/>
            </a:ln>
          </p:spPr>
          <p:txBody>
            <a:bodyPr wrap="none" lIns="0" tIns="0" rIns="0" bIns="0" anchor="t" anchorCtr="0">
              <a:spAutoFit/>
            </a:bodyPr>
            <a:lstStyle/>
            <a:p>
              <a:pPr algn="l"/>
              <a:r>
                <a:rPr lang="en" sz="1650" b="1" dirty="0">
                  <a:solidFill>
                    <a:schemeClr val="dk1"/>
                  </a:solidFill>
                  <a:latin typeface="+mn-lt"/>
                  <a:ea typeface="+mn-ea"/>
                  <a:cs typeface="+mn-cs"/>
                </a:rPr>
                <a:t>boarding restored</a:t>
              </a:r>
            </a:p>
          </p:txBody>
        </p:sp>
        <p:sp>
          <p:nvSpPr>
            <p:cNvPr id="20" name="TextBox 20"/>
            <p:cNvSpPr txBox="1"/>
            <p:nvPr/>
          </p:nvSpPr>
          <p:spPr>
            <a:xfrm>
              <a:off x="470154" y="5052060"/>
              <a:ext cx="1304544" cy="234696"/>
            </a:xfrm>
            <a:prstGeom prst="rect">
              <a:avLst/>
            </a:prstGeom>
            <a:noFill/>
            <a:ln>
              <a:noFill/>
            </a:ln>
          </p:spPr>
          <p:txBody>
            <a:bodyPr wrap="none" lIns="0" tIns="0" rIns="0" bIns="0" anchor="t" anchorCtr="0">
              <a:spAutoFit/>
            </a:bodyPr>
            <a:lstStyle/>
            <a:p>
              <a:pPr algn="l"/>
              <a:r>
                <a:rPr lang="en" sz="1200" dirty="0">
                  <a:solidFill>
                    <a:srgbClr val="536165"/>
                  </a:solidFill>
                  <a:latin typeface="+mn-lt"/>
                  <a:ea typeface="+mn-ea"/>
                  <a:cs typeface="+mn-cs"/>
                </a:rPr>
                <a:t>10-second error</a:t>
              </a:r>
            </a:p>
          </p:txBody>
        </p:sp>
        <p:sp>
          <p:nvSpPr>
            <p:cNvPr id="21" name="TextBox 21"/>
            <p:cNvSpPr txBox="1"/>
            <p:nvPr/>
          </p:nvSpPr>
          <p:spPr>
            <a:xfrm>
              <a:off x="470154" y="5280660"/>
              <a:ext cx="1183386" cy="234696"/>
            </a:xfrm>
            <a:prstGeom prst="rect">
              <a:avLst/>
            </a:prstGeom>
            <a:noFill/>
            <a:ln>
              <a:noFill/>
            </a:ln>
          </p:spPr>
          <p:txBody>
            <a:bodyPr wrap="none" lIns="0" tIns="0" rIns="0" bIns="0" anchor="t" anchorCtr="0">
              <a:spAutoFit/>
            </a:bodyPr>
            <a:lstStyle/>
            <a:p>
              <a:pPr algn="l"/>
              <a:r>
                <a:rPr lang="en" sz="1200" dirty="0">
                  <a:solidFill>
                    <a:srgbClr val="536165"/>
                  </a:solidFill>
                  <a:latin typeface="+mn-lt"/>
                  <a:ea typeface="+mn-ea"/>
                  <a:cs typeface="+mn-cs"/>
                </a:rPr>
                <a:t>across 20 links</a:t>
              </a:r>
            </a:p>
          </p:txBody>
        </p:sp>
      </p:grpSp>
      <p:grpSp>
        <p:nvGrpSpPr>
          <p:cNvPr id="25" name="Group 25"/>
          <p:cNvGrpSpPr/>
          <p:nvPr/>
        </p:nvGrpSpPr>
        <p:grpSpPr>
          <a:xfrm>
            <a:off x="451104" y="6423660"/>
            <a:ext cx="11156442" cy="234696"/>
            <a:chOff x="451104" y="6423660"/>
            <a:chExt cx="11156442" cy="234696"/>
          </a:xfrm>
        </p:grpSpPr>
        <p:sp>
          <p:nvSpPr>
            <p:cNvPr id="23" name="TextBox 23"/>
            <p:cNvSpPr txBox="1"/>
            <p:nvPr/>
          </p:nvSpPr>
          <p:spPr>
            <a:xfrm>
              <a:off x="451104" y="6423660"/>
              <a:ext cx="6455001" cy="234696"/>
            </a:xfrm>
            <a:prstGeom prst="rect">
              <a:avLst/>
            </a:prstGeom>
            <a:noFill/>
            <a:ln>
              <a:noFill/>
            </a:ln>
          </p:spPr>
          <p:txBody>
            <a:bodyPr wrap="none" lIns="0" tIns="0" rIns="0" bIns="0" anchor="t" anchorCtr="0">
              <a:spAutoFit/>
            </a:bodyPr>
            <a:lstStyle/>
            <a:p>
              <a:pPr algn="l"/>
              <a:r>
                <a:rPr lang="en" sz="1200" dirty="0">
                  <a:solidFill>
                    <a:srgbClr val="536165"/>
                  </a:solidFill>
                  <a:latin typeface="+mn-lt"/>
                  <a:ea typeface="+mn-ea"/>
                  <a:cs typeface="+mn-cs"/>
                </a:rPr>
                <a:t>Continuous due-time scheduling prevents per-link integer-rounding accumulation.</a:t>
              </a:r>
            </a:p>
          </p:txBody>
        </p:sp>
        <p:sp>
          <p:nvSpPr>
            <p:cNvPr id="24" name="TextBox 24"/>
            <p:cNvSpPr txBox="1"/>
            <p:nvPr/>
          </p:nvSpPr>
          <p:spPr>
            <a:xfrm>
              <a:off x="11417656" y="6423660"/>
              <a:ext cx="189890" cy="234696"/>
            </a:xfrm>
            <a:prstGeom prst="rect">
              <a:avLst/>
            </a:prstGeom>
            <a:noFill/>
            <a:ln>
              <a:noFill/>
            </a:ln>
          </p:spPr>
          <p:txBody>
            <a:bodyPr wrap="none" lIns="0" tIns="0" rIns="0" bIns="0" anchor="t" anchorCtr="0">
              <a:spAutoFit/>
            </a:bodyPr>
            <a:lstStyle/>
            <a:p>
              <a:pPr algn="r"/>
              <a:r>
                <a:rPr lang="en" sz="1200" dirty="0">
                  <a:solidFill>
                    <a:srgbClr val="536165"/>
                  </a:solidFill>
                  <a:latin typeface="+mn-lt"/>
                  <a:ea typeface="+mn-ea"/>
                  <a:cs typeface="+mn-cs"/>
                </a:rPr>
                <a:t>04</a:t>
              </a:r>
            </a:p>
          </p:txBody>
        </p:sp>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chemeClr val="accent5"/>
            </a:solidFill>
            <a:ln>
              <a:noFill/>
            </a:ln>
          </p:spPr>
        </p:sp>
        <p:sp>
          <p:nvSpPr>
            <p:cNvPr id="3" name="Rectangle 3"/>
            <p:cNvSpPr/>
            <p:nvPr/>
          </p:nvSpPr>
          <p:spPr>
            <a:xfrm>
              <a:off x="0" y="0"/>
              <a:ext cx="12192000" cy="1047750"/>
            </a:xfrm>
            <a:prstGeom prst="rect">
              <a:avLst/>
            </a:prstGeom>
            <a:solidFill>
              <a:schemeClr val="lt1"/>
            </a:solidFill>
            <a:ln>
              <a:noFill/>
            </a:ln>
          </p:spPr>
        </p:sp>
      </p:grpSp>
      <p:grpSp>
        <p:nvGrpSpPr>
          <p:cNvPr id="7" name="Group 7"/>
          <p:cNvGrpSpPr/>
          <p:nvPr/>
        </p:nvGrpSpPr>
        <p:grpSpPr>
          <a:xfrm>
            <a:off x="555498" y="402908"/>
            <a:ext cx="10051096" cy="616077"/>
            <a:chOff x="555498" y="402908"/>
            <a:chExt cx="10051096" cy="616077"/>
          </a:xfrm>
        </p:grpSpPr>
        <p:sp>
          <p:nvSpPr>
            <p:cNvPr id="5" name="TextBox 5"/>
            <p:cNvSpPr txBox="1"/>
            <p:nvPr/>
          </p:nvSpPr>
          <p:spPr>
            <a:xfrm>
              <a:off x="555498" y="402908"/>
              <a:ext cx="10051096" cy="616077"/>
            </a:xfrm>
            <a:prstGeom prst="rect">
              <a:avLst/>
            </a:prstGeom>
            <a:noFill/>
            <a:ln>
              <a:noFill/>
            </a:ln>
          </p:spPr>
          <p:txBody>
            <a:bodyPr wrap="none" lIns="0" tIns="0" rIns="0" bIns="0" anchor="t" anchorCtr="0">
              <a:spAutoFit/>
            </a:bodyPr>
            <a:lstStyle/>
            <a:p>
              <a:pPr algn="l"/>
              <a:r>
                <a:rPr lang="en" sz="3150" b="1" dirty="0">
                  <a:solidFill>
                    <a:schemeClr val="dk1"/>
                  </a:solidFill>
                  <a:latin typeface="+mn-lt"/>
                  <a:ea typeface="+mn-ea"/>
                  <a:cs typeface="+mn-cs"/>
                </a:rPr>
                <a:t>One Household, One Car, One Coordinated Day</a:t>
              </a:r>
            </a:p>
          </p:txBody>
        </p:sp>
        <p:sp>
          <p:nvSpPr>
            <p:cNvPr id="6" name="Rectangle 6"/>
            <p:cNvSpPr/>
            <p:nvPr/>
          </p:nvSpPr>
          <p:spPr>
            <a:xfrm>
              <a:off x="571500" y="895350"/>
              <a:ext cx="1619250" cy="57150"/>
            </a:xfrm>
            <a:prstGeom prst="rect">
              <a:avLst/>
            </a:prstGeom>
            <a:solidFill>
              <a:schemeClr val="accent2"/>
            </a:solidFill>
            <a:ln>
              <a:noFill/>
            </a:ln>
          </p:spPr>
        </p:sp>
      </p:grpSp>
      <p:grpSp>
        <p:nvGrpSpPr>
          <p:cNvPr id="10" name="Group 10"/>
          <p:cNvGrpSpPr/>
          <p:nvPr/>
        </p:nvGrpSpPr>
        <p:grpSpPr>
          <a:xfrm>
            <a:off x="476250" y="1219200"/>
            <a:ext cx="9677400" cy="5143500"/>
            <a:chOff x="476250" y="1219200"/>
            <a:chExt cx="9677400" cy="5143500"/>
          </a:xfrm>
        </p:grpSpPr>
        <p:sp>
          <p:nvSpPr>
            <p:cNvPr id="8" name="Rectangle 8"/>
            <p:cNvSpPr/>
            <p:nvPr/>
          </p:nvSpPr>
          <p:spPr>
            <a:xfrm>
              <a:off x="476250" y="1219200"/>
              <a:ext cx="9677400" cy="5143500"/>
            </a:xfrm>
            <a:prstGeom prst="rect">
              <a:avLst/>
            </a:prstGeom>
            <a:solidFill>
              <a:schemeClr val="lt1"/>
            </a:solidFill>
            <a:ln>
              <a:noFill/>
            </a:ln>
          </p:spPr>
        </p:sp>
        <p:pic>
          <p:nvPicPr>
            <p:cNvPr id="9" name="Image 9"/>
            <p:cNvPicPr>
              <a:picLocks noChangeAspect="1"/>
            </p:cNvPicPr>
            <p:nvPr/>
          </p:nvPicPr>
          <p:blipFill>
            <a:blip r:embed="rId2"/>
            <a:stretch>
              <a:fillRect/>
            </a:stretch>
          </p:blipFill>
          <p:spPr>
            <a:xfrm>
              <a:off x="689162" y="1333500"/>
              <a:ext cx="9251576" cy="4914900"/>
            </a:xfrm>
            <a:prstGeom prst="rect">
              <a:avLst/>
            </a:prstGeom>
          </p:spPr>
        </p:pic>
      </p:grpSp>
      <p:grpSp>
        <p:nvGrpSpPr>
          <p:cNvPr id="21" name="Group 21"/>
          <p:cNvGrpSpPr/>
          <p:nvPr/>
        </p:nvGrpSpPr>
        <p:grpSpPr>
          <a:xfrm>
            <a:off x="10357104" y="1584960"/>
            <a:ext cx="1508699" cy="3206496"/>
            <a:chOff x="10357104" y="1584960"/>
            <a:chExt cx="1508699" cy="3206496"/>
          </a:xfrm>
        </p:grpSpPr>
        <p:sp>
          <p:nvSpPr>
            <p:cNvPr id="11" name="TextBox 11"/>
            <p:cNvSpPr txBox="1"/>
            <p:nvPr/>
          </p:nvSpPr>
          <p:spPr>
            <a:xfrm>
              <a:off x="10357104" y="1584960"/>
              <a:ext cx="1508699" cy="234696"/>
            </a:xfrm>
            <a:prstGeom prst="rect">
              <a:avLst/>
            </a:prstGeom>
            <a:noFill/>
            <a:ln>
              <a:noFill/>
            </a:ln>
          </p:spPr>
          <p:txBody>
            <a:bodyPr wrap="none" lIns="0" tIns="0" rIns="0" bIns="0" anchor="t" anchorCtr="0">
              <a:spAutoFit/>
            </a:bodyPr>
            <a:lstStyle/>
            <a:p>
              <a:pPr algn="l"/>
              <a:r>
                <a:rPr lang="en" sz="1200" b="1" dirty="0">
                  <a:solidFill>
                    <a:schemeClr val="accent1"/>
                  </a:solidFill>
                  <a:latin typeface="+mn-lt"/>
                  <a:ea typeface="+mn-ea"/>
                  <a:cs typeface="+mn-cs"/>
                </a:rPr>
                <a:t>PHYSICAL IDENTITY</a:t>
              </a:r>
            </a:p>
          </p:txBody>
        </p:sp>
        <p:sp>
          <p:nvSpPr>
            <p:cNvPr id="12" name="Line 12"/>
            <p:cNvSpPr/>
            <p:nvPr/>
          </p:nvSpPr>
          <p:spPr>
            <a:xfrm>
              <a:off x="10363200" y="1885950"/>
              <a:ext cx="1295400" cy="9525"/>
            </a:xfrm>
            <a:custGeom>
              <a:avLst/>
              <a:gdLst/>
              <a:ahLst/>
              <a:cxnLst/>
              <a:rect l="l" t="t" r="r" b="b"/>
              <a:pathLst>
                <a:path w="1295400" h="9525">
                  <a:moveTo>
                    <a:pt x="0" y="0"/>
                  </a:moveTo>
                  <a:lnTo>
                    <a:pt x="1295400" y="0"/>
                  </a:lnTo>
                </a:path>
              </a:pathLst>
            </a:custGeom>
            <a:noFill/>
            <a:ln w="28575">
              <a:solidFill>
                <a:schemeClr val="accent1"/>
              </a:solidFill>
            </a:ln>
          </p:spPr>
        </p:sp>
        <p:sp>
          <p:nvSpPr>
            <p:cNvPr id="13" name="TextBox 13"/>
            <p:cNvSpPr txBox="1"/>
            <p:nvPr/>
          </p:nvSpPr>
          <p:spPr>
            <a:xfrm>
              <a:off x="10357104" y="2137410"/>
              <a:ext cx="925373" cy="234696"/>
            </a:xfrm>
            <a:prstGeom prst="rect">
              <a:avLst/>
            </a:prstGeom>
            <a:noFill/>
            <a:ln>
              <a:noFill/>
            </a:ln>
          </p:spPr>
          <p:txBody>
            <a:bodyPr wrap="none" lIns="0" tIns="0" rIns="0" bIns="0" anchor="t" anchorCtr="0">
              <a:spAutoFit/>
            </a:bodyPr>
            <a:lstStyle/>
            <a:p>
              <a:pPr algn="l"/>
              <a:r>
                <a:rPr lang="en" sz="1200" dirty="0">
                  <a:solidFill>
                    <a:srgbClr val="536165"/>
                  </a:solidFill>
                  <a:latin typeface="+mn-lt"/>
                  <a:ea typeface="+mn-ea"/>
                  <a:cs typeface="+mn-cs"/>
                </a:rPr>
                <a:t>HOUSEHOLD</a:t>
              </a:r>
            </a:p>
          </p:txBody>
        </p:sp>
        <p:sp>
          <p:nvSpPr>
            <p:cNvPr id="14" name="TextBox 14"/>
            <p:cNvSpPr txBox="1"/>
            <p:nvPr/>
          </p:nvSpPr>
          <p:spPr>
            <a:xfrm>
              <a:off x="10357104" y="2385060"/>
              <a:ext cx="1224984" cy="234696"/>
            </a:xfrm>
            <a:prstGeom prst="rect">
              <a:avLst/>
            </a:prstGeom>
            <a:noFill/>
            <a:ln>
              <a:noFill/>
            </a:ln>
          </p:spPr>
          <p:txBody>
            <a:bodyPr wrap="none" lIns="0" tIns="0" rIns="0" bIns="0" anchor="t" anchorCtr="0">
              <a:spAutoFit/>
            </a:bodyPr>
            <a:lstStyle/>
            <a:p>
              <a:pPr algn="l"/>
              <a:r>
                <a:rPr lang="en" sz="1200" b="1" dirty="0">
                  <a:solidFill>
                    <a:schemeClr val="dk1"/>
                  </a:solidFill>
                  <a:latin typeface="+mn-lt"/>
                  <a:ea typeface="+mn-ea"/>
                  <a:cs typeface="+mn-cs"/>
                </a:rPr>
                <a:t>hk_hh_1251667</a:t>
              </a:r>
            </a:p>
          </p:txBody>
        </p:sp>
        <p:sp>
          <p:nvSpPr>
            <p:cNvPr id="15" name="TextBox 15"/>
            <p:cNvSpPr txBox="1"/>
            <p:nvPr/>
          </p:nvSpPr>
          <p:spPr>
            <a:xfrm>
              <a:off x="10357104" y="2861310"/>
              <a:ext cx="532790" cy="234696"/>
            </a:xfrm>
            <a:prstGeom prst="rect">
              <a:avLst/>
            </a:prstGeom>
            <a:noFill/>
            <a:ln>
              <a:noFill/>
            </a:ln>
          </p:spPr>
          <p:txBody>
            <a:bodyPr wrap="none" lIns="0" tIns="0" rIns="0" bIns="0" anchor="t" anchorCtr="0">
              <a:spAutoFit/>
            </a:bodyPr>
            <a:lstStyle/>
            <a:p>
              <a:pPr algn="l"/>
              <a:r>
                <a:rPr lang="en" sz="1200" dirty="0">
                  <a:solidFill>
                    <a:srgbClr val="536165"/>
                  </a:solidFill>
                  <a:latin typeface="+mn-lt"/>
                  <a:ea typeface="+mn-ea"/>
                  <a:cs typeface="+mn-cs"/>
                </a:rPr>
                <a:t>DRIVER</a:t>
              </a:r>
            </a:p>
          </p:txBody>
        </p:sp>
        <p:sp>
          <p:nvSpPr>
            <p:cNvPr id="16" name="TextBox 16"/>
            <p:cNvSpPr txBox="1"/>
            <p:nvPr/>
          </p:nvSpPr>
          <p:spPr>
            <a:xfrm>
              <a:off x="10357104" y="3108960"/>
              <a:ext cx="758525" cy="234696"/>
            </a:xfrm>
            <a:prstGeom prst="rect">
              <a:avLst/>
            </a:prstGeom>
            <a:noFill/>
            <a:ln>
              <a:noFill/>
            </a:ln>
          </p:spPr>
          <p:txBody>
            <a:bodyPr wrap="none" lIns="0" tIns="0" rIns="0" bIns="0" anchor="t" anchorCtr="0">
              <a:spAutoFit/>
            </a:bodyPr>
            <a:lstStyle/>
            <a:p>
              <a:pPr algn="l"/>
              <a:r>
                <a:rPr lang="en" sz="1200" b="1" dirty="0">
                  <a:solidFill>
                    <a:schemeClr val="dk1"/>
                  </a:solidFill>
                  <a:latin typeface="+mn-lt"/>
                  <a:ea typeface="+mn-ea"/>
                  <a:cs typeface="+mn-cs"/>
                </a:rPr>
                <a:t>03051340</a:t>
              </a:r>
            </a:p>
          </p:txBody>
        </p:sp>
        <p:sp>
          <p:nvSpPr>
            <p:cNvPr id="17" name="TextBox 17"/>
            <p:cNvSpPr txBox="1"/>
            <p:nvPr/>
          </p:nvSpPr>
          <p:spPr>
            <a:xfrm>
              <a:off x="10357104" y="3585210"/>
              <a:ext cx="669341" cy="234696"/>
            </a:xfrm>
            <a:prstGeom prst="rect">
              <a:avLst/>
            </a:prstGeom>
            <a:noFill/>
            <a:ln>
              <a:noFill/>
            </a:ln>
          </p:spPr>
          <p:txBody>
            <a:bodyPr wrap="none" lIns="0" tIns="0" rIns="0" bIns="0" anchor="t" anchorCtr="0">
              <a:spAutoFit/>
            </a:bodyPr>
            <a:lstStyle/>
            <a:p>
              <a:pPr algn="l"/>
              <a:r>
                <a:rPr lang="en" sz="1200" dirty="0">
                  <a:solidFill>
                    <a:srgbClr val="536165"/>
                  </a:solidFill>
                  <a:latin typeface="+mn-lt"/>
                  <a:ea typeface="+mn-ea"/>
                  <a:cs typeface="+mn-cs"/>
                </a:rPr>
                <a:t>STUDENT</a:t>
              </a:r>
            </a:p>
          </p:txBody>
        </p:sp>
        <p:sp>
          <p:nvSpPr>
            <p:cNvPr id="18" name="TextBox 18"/>
            <p:cNvSpPr txBox="1"/>
            <p:nvPr/>
          </p:nvSpPr>
          <p:spPr>
            <a:xfrm>
              <a:off x="10357104" y="3832860"/>
              <a:ext cx="758525" cy="234696"/>
            </a:xfrm>
            <a:prstGeom prst="rect">
              <a:avLst/>
            </a:prstGeom>
            <a:noFill/>
            <a:ln>
              <a:noFill/>
            </a:ln>
          </p:spPr>
          <p:txBody>
            <a:bodyPr wrap="none" lIns="0" tIns="0" rIns="0" bIns="0" anchor="t" anchorCtr="0">
              <a:spAutoFit/>
            </a:bodyPr>
            <a:lstStyle/>
            <a:p>
              <a:pPr algn="l"/>
              <a:r>
                <a:rPr lang="en" sz="1200" b="1" dirty="0">
                  <a:solidFill>
                    <a:schemeClr val="dk1"/>
                  </a:solidFill>
                  <a:latin typeface="+mn-lt"/>
                  <a:ea typeface="+mn-ea"/>
                  <a:cs typeface="+mn-cs"/>
                </a:rPr>
                <a:t>03051341</a:t>
              </a:r>
            </a:p>
          </p:txBody>
        </p:sp>
        <p:sp>
          <p:nvSpPr>
            <p:cNvPr id="19" name="TextBox 19"/>
            <p:cNvSpPr txBox="1"/>
            <p:nvPr/>
          </p:nvSpPr>
          <p:spPr>
            <a:xfrm>
              <a:off x="10357104" y="4309110"/>
              <a:ext cx="626669" cy="234696"/>
            </a:xfrm>
            <a:prstGeom prst="rect">
              <a:avLst/>
            </a:prstGeom>
            <a:noFill/>
            <a:ln>
              <a:noFill/>
            </a:ln>
          </p:spPr>
          <p:txBody>
            <a:bodyPr wrap="none" lIns="0" tIns="0" rIns="0" bIns="0" anchor="t" anchorCtr="0">
              <a:spAutoFit/>
            </a:bodyPr>
            <a:lstStyle/>
            <a:p>
              <a:pPr algn="l"/>
              <a:r>
                <a:rPr lang="en" sz="1200" dirty="0">
                  <a:solidFill>
                    <a:srgbClr val="536165"/>
                  </a:solidFill>
                  <a:latin typeface="+mn-lt"/>
                  <a:ea typeface="+mn-ea"/>
                  <a:cs typeface="+mn-cs"/>
                </a:rPr>
                <a:t>VEHICLE</a:t>
              </a:r>
            </a:p>
          </p:txBody>
        </p:sp>
        <p:sp>
          <p:nvSpPr>
            <p:cNvPr id="20" name="TextBox 20"/>
            <p:cNvSpPr txBox="1"/>
            <p:nvPr/>
          </p:nvSpPr>
          <p:spPr>
            <a:xfrm>
              <a:off x="10357104" y="4556760"/>
              <a:ext cx="665234" cy="234696"/>
            </a:xfrm>
            <a:prstGeom prst="rect">
              <a:avLst/>
            </a:prstGeom>
            <a:noFill/>
            <a:ln>
              <a:noFill/>
            </a:ln>
          </p:spPr>
          <p:txBody>
            <a:bodyPr wrap="none" lIns="0" tIns="0" rIns="0" bIns="0" anchor="t" anchorCtr="0">
              <a:spAutoFit/>
            </a:bodyPr>
            <a:lstStyle/>
            <a:p>
              <a:pPr algn="l"/>
              <a:r>
                <a:rPr lang="en" sz="1200" b="1" dirty="0">
                  <a:solidFill>
                    <a:schemeClr val="dk1"/>
                  </a:solidFill>
                  <a:latin typeface="+mn-lt"/>
                  <a:ea typeface="+mn-ea"/>
                  <a:cs typeface="+mn-cs"/>
                </a:rPr>
                <a:t>0210204</a:t>
              </a:r>
            </a:p>
          </p:txBody>
        </p:sp>
      </p:grpSp>
      <p:grpSp>
        <p:nvGrpSpPr>
          <p:cNvPr id="24" name="Group 24"/>
          <p:cNvGrpSpPr/>
          <p:nvPr/>
        </p:nvGrpSpPr>
        <p:grpSpPr>
          <a:xfrm>
            <a:off x="565404" y="6537960"/>
            <a:ext cx="11061192" cy="234696"/>
            <a:chOff x="565404" y="6537960"/>
            <a:chExt cx="11061192" cy="234696"/>
          </a:xfrm>
        </p:grpSpPr>
        <p:sp>
          <p:nvSpPr>
            <p:cNvPr id="22" name="TextBox 22"/>
            <p:cNvSpPr txBox="1"/>
            <p:nvPr/>
          </p:nvSpPr>
          <p:spPr>
            <a:xfrm>
              <a:off x="565404" y="6537960"/>
              <a:ext cx="6366400" cy="234696"/>
            </a:xfrm>
            <a:prstGeom prst="rect">
              <a:avLst/>
            </a:prstGeom>
            <a:noFill/>
            <a:ln>
              <a:noFill/>
            </a:ln>
          </p:spPr>
          <p:txBody>
            <a:bodyPr wrap="none" lIns="0" tIns="0" rIns="0" bIns="0" anchor="t" anchorCtr="0">
              <a:spAutoFit/>
            </a:bodyPr>
            <a:lstStyle/>
            <a:p>
              <a:pPr algn="l"/>
              <a:r>
                <a:rPr lang="en" sz="1200" dirty="0">
                  <a:solidFill>
                    <a:srgbClr val="536165"/>
                  </a:solidFill>
                  <a:latin typeface="+mn-lt"/>
                  <a:ea typeface="+mn-ea"/>
                  <a:cs typeface="+mn-cs"/>
                </a:rPr>
                <a:t>Scores shown in the figure are utility—not money and not observed preferences.</a:t>
              </a:r>
            </a:p>
          </p:txBody>
        </p:sp>
        <p:sp>
          <p:nvSpPr>
            <p:cNvPr id="23" name="TextBox 23"/>
            <p:cNvSpPr txBox="1"/>
            <p:nvPr/>
          </p:nvSpPr>
          <p:spPr>
            <a:xfrm>
              <a:off x="11436706" y="6537960"/>
              <a:ext cx="189890" cy="234696"/>
            </a:xfrm>
            <a:prstGeom prst="rect">
              <a:avLst/>
            </a:prstGeom>
            <a:noFill/>
            <a:ln>
              <a:noFill/>
            </a:ln>
          </p:spPr>
          <p:txBody>
            <a:bodyPr wrap="none" lIns="0" tIns="0" rIns="0" bIns="0" anchor="t" anchorCtr="0">
              <a:spAutoFit/>
            </a:bodyPr>
            <a:lstStyle/>
            <a:p>
              <a:pPr algn="r"/>
              <a:r>
                <a:rPr lang="en" sz="1200" dirty="0">
                  <a:solidFill>
                    <a:srgbClr val="536165"/>
                  </a:solidFill>
                  <a:latin typeface="+mn-lt"/>
                  <a:ea typeface="+mn-ea"/>
                  <a:cs typeface="+mn-cs"/>
                </a:rPr>
                <a:t>05</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163B4A"/>
            </a:solidFill>
            <a:ln>
              <a:noFill/>
            </a:ln>
          </p:spPr>
        </p:sp>
        <p:sp>
          <p:nvSpPr>
            <p:cNvPr id="3" name="Rectangle 3"/>
            <p:cNvSpPr/>
            <p:nvPr/>
          </p:nvSpPr>
          <p:spPr>
            <a:xfrm>
              <a:off x="3333750" y="0"/>
              <a:ext cx="8858250" cy="6858000"/>
            </a:xfrm>
            <a:prstGeom prst="rect">
              <a:avLst/>
            </a:prstGeom>
            <a:solidFill>
              <a:schemeClr val="lt1"/>
            </a:solidFill>
            <a:ln>
              <a:noFill/>
            </a:ln>
          </p:spPr>
        </p:sp>
      </p:grpSp>
      <p:grpSp>
        <p:nvGrpSpPr>
          <p:cNvPr id="16" name="Group 16"/>
          <p:cNvGrpSpPr/>
          <p:nvPr/>
        </p:nvGrpSpPr>
        <p:grpSpPr>
          <a:xfrm>
            <a:off x="479298" y="575310"/>
            <a:ext cx="2822405" cy="5092446"/>
            <a:chOff x="479298" y="575310"/>
            <a:chExt cx="2822405" cy="5092446"/>
          </a:xfrm>
        </p:grpSpPr>
        <p:sp>
          <p:nvSpPr>
            <p:cNvPr id="5" name="TextBox 5"/>
            <p:cNvSpPr txBox="1"/>
            <p:nvPr/>
          </p:nvSpPr>
          <p:spPr>
            <a:xfrm>
              <a:off x="489204" y="575310"/>
              <a:ext cx="1983638" cy="234696"/>
            </a:xfrm>
            <a:prstGeom prst="rect">
              <a:avLst/>
            </a:prstGeom>
            <a:noFill/>
            <a:ln>
              <a:noFill/>
            </a:ln>
          </p:spPr>
          <p:txBody>
            <a:bodyPr wrap="none" lIns="0" tIns="0" rIns="0" bIns="0" anchor="t" anchorCtr="0">
              <a:spAutoFit/>
            </a:bodyPr>
            <a:lstStyle/>
            <a:p>
              <a:pPr algn="l"/>
              <a:r>
                <a:rPr lang="en" sz="1200" b="1" dirty="0">
                  <a:solidFill>
                    <a:srgbClr val="8FC0D2"/>
                  </a:solidFill>
                  <a:latin typeface="+mn-lt"/>
                  <a:ea typeface="+mn-ea"/>
                  <a:cs typeface="+mn-cs"/>
                </a:rPr>
                <a:t>FINITE TAXI OPERATIONS</a:t>
              </a:r>
            </a:p>
          </p:txBody>
        </p:sp>
        <p:sp>
          <p:nvSpPr>
            <p:cNvPr id="6" name="TextBox 6"/>
            <p:cNvSpPr txBox="1"/>
            <p:nvPr/>
          </p:nvSpPr>
          <p:spPr>
            <a:xfrm>
              <a:off x="482346" y="1001078"/>
              <a:ext cx="1444905" cy="498729"/>
            </a:xfrm>
            <a:prstGeom prst="rect">
              <a:avLst/>
            </a:prstGeom>
            <a:noFill/>
            <a:ln>
              <a:noFill/>
            </a:ln>
          </p:spPr>
          <p:txBody>
            <a:bodyPr wrap="none" lIns="0" tIns="0" rIns="0" bIns="0" anchor="t" anchorCtr="0">
              <a:spAutoFit/>
            </a:bodyPr>
            <a:lstStyle/>
            <a:p>
              <a:pPr algn="l"/>
              <a:r>
                <a:rPr lang="en" sz="2550" b="1" dirty="0">
                  <a:solidFill>
                    <a:srgbClr val="FFFFFF"/>
                  </a:solidFill>
                  <a:latin typeface="+mn-lt"/>
                  <a:ea typeface="+mn-ea"/>
                  <a:cs typeface="+mn-cs"/>
                </a:rPr>
                <a:t>A fleet,</a:t>
              </a:r>
            </a:p>
          </p:txBody>
        </p:sp>
        <p:sp>
          <p:nvSpPr>
            <p:cNvPr id="7" name="TextBox 7"/>
            <p:cNvSpPr txBox="1"/>
            <p:nvPr/>
          </p:nvSpPr>
          <p:spPr>
            <a:xfrm>
              <a:off x="482346" y="1382078"/>
              <a:ext cx="2819357" cy="498729"/>
            </a:xfrm>
            <a:prstGeom prst="rect">
              <a:avLst/>
            </a:prstGeom>
            <a:noFill/>
            <a:ln>
              <a:noFill/>
            </a:ln>
          </p:spPr>
          <p:txBody>
            <a:bodyPr wrap="none" lIns="0" tIns="0" rIns="0" bIns="0" anchor="t" anchorCtr="0">
              <a:spAutoFit/>
            </a:bodyPr>
            <a:lstStyle/>
            <a:p>
              <a:pPr algn="l"/>
              <a:r>
                <a:rPr lang="en" sz="2550" b="1" dirty="0">
                  <a:solidFill>
                    <a:srgbClr val="FFFFFF"/>
                  </a:solidFill>
                  <a:latin typeface="+mn-lt"/>
                  <a:ea typeface="+mn-ea"/>
                  <a:cs typeface="+mn-cs"/>
                </a:rPr>
                <a:t>not a shortcut.</a:t>
              </a:r>
            </a:p>
          </p:txBody>
        </p:sp>
        <p:sp>
          <p:nvSpPr>
            <p:cNvPr id="8" name="TextBox 8"/>
            <p:cNvSpPr txBox="1"/>
            <p:nvPr/>
          </p:nvSpPr>
          <p:spPr>
            <a:xfrm>
              <a:off x="479298" y="2098358"/>
              <a:ext cx="1501348" cy="616077"/>
            </a:xfrm>
            <a:prstGeom prst="rect">
              <a:avLst/>
            </a:prstGeom>
            <a:noFill/>
            <a:ln>
              <a:noFill/>
            </a:ln>
          </p:spPr>
          <p:txBody>
            <a:bodyPr wrap="none" lIns="0" tIns="0" rIns="0" bIns="0" anchor="t" anchorCtr="0">
              <a:spAutoFit/>
            </a:bodyPr>
            <a:lstStyle/>
            <a:p>
              <a:pPr algn="l"/>
              <a:r>
                <a:rPr lang="en" sz="3150" b="1" dirty="0">
                  <a:solidFill>
                    <a:srgbClr val="FFFFFF"/>
                  </a:solidFill>
                  <a:latin typeface="+mn-lt"/>
                  <a:ea typeface="+mn-ea"/>
                  <a:cs typeface="+mn-cs"/>
                </a:rPr>
                <a:t>15,500</a:t>
              </a:r>
            </a:p>
          </p:txBody>
        </p:sp>
        <p:sp>
          <p:nvSpPr>
            <p:cNvPr id="9" name="TextBox 9"/>
            <p:cNvSpPr txBox="1"/>
            <p:nvPr/>
          </p:nvSpPr>
          <p:spPr>
            <a:xfrm>
              <a:off x="489204" y="2556510"/>
              <a:ext cx="1094537" cy="234696"/>
            </a:xfrm>
            <a:prstGeom prst="rect">
              <a:avLst/>
            </a:prstGeom>
            <a:noFill/>
            <a:ln>
              <a:noFill/>
            </a:ln>
          </p:spPr>
          <p:txBody>
            <a:bodyPr wrap="none" lIns="0" tIns="0" rIns="0" bIns="0" anchor="t" anchorCtr="0">
              <a:spAutoFit/>
            </a:bodyPr>
            <a:lstStyle/>
            <a:p>
              <a:pPr algn="l"/>
              <a:r>
                <a:rPr lang="en" sz="1200" dirty="0">
                  <a:solidFill>
                    <a:srgbClr val="DCE8EC"/>
                  </a:solidFill>
                  <a:latin typeface="+mn-lt"/>
                  <a:ea typeface="+mn-ea"/>
                  <a:cs typeface="+mn-cs"/>
                </a:rPr>
                <a:t>physical taxis</a:t>
              </a:r>
            </a:p>
          </p:txBody>
        </p:sp>
        <p:sp>
          <p:nvSpPr>
            <p:cNvPr id="10" name="TextBox 10"/>
            <p:cNvSpPr txBox="1"/>
            <p:nvPr/>
          </p:nvSpPr>
          <p:spPr>
            <a:xfrm>
              <a:off x="479298" y="3069908"/>
              <a:ext cx="1746238" cy="616077"/>
            </a:xfrm>
            <a:prstGeom prst="rect">
              <a:avLst/>
            </a:prstGeom>
            <a:noFill/>
            <a:ln>
              <a:noFill/>
            </a:ln>
          </p:spPr>
          <p:txBody>
            <a:bodyPr wrap="none" lIns="0" tIns="0" rIns="0" bIns="0" anchor="t" anchorCtr="0">
              <a:spAutoFit/>
            </a:bodyPr>
            <a:lstStyle/>
            <a:p>
              <a:pPr algn="l"/>
              <a:r>
                <a:rPr lang="en" sz="3150" b="1" dirty="0">
                  <a:solidFill>
                    <a:srgbClr val="FFFFFF"/>
                  </a:solidFill>
                  <a:latin typeface="+mn-lt"/>
                  <a:ea typeface="+mn-ea"/>
                  <a:cs typeface="+mn-cs"/>
                </a:rPr>
                <a:t>186,144</a:t>
              </a:r>
            </a:p>
          </p:txBody>
        </p:sp>
        <p:sp>
          <p:nvSpPr>
            <p:cNvPr id="11" name="TextBox 11"/>
            <p:cNvSpPr txBox="1"/>
            <p:nvPr/>
          </p:nvSpPr>
          <p:spPr>
            <a:xfrm>
              <a:off x="489204" y="3528060"/>
              <a:ext cx="1563014" cy="234696"/>
            </a:xfrm>
            <a:prstGeom prst="rect">
              <a:avLst/>
            </a:prstGeom>
            <a:noFill/>
            <a:ln>
              <a:noFill/>
            </a:ln>
          </p:spPr>
          <p:txBody>
            <a:bodyPr wrap="none" lIns="0" tIns="0" rIns="0" bIns="0" anchor="t" anchorCtr="0">
              <a:spAutoFit/>
            </a:bodyPr>
            <a:lstStyle/>
            <a:p>
              <a:pPr algn="l"/>
              <a:r>
                <a:rPr lang="en" sz="1200" dirty="0">
                  <a:solidFill>
                    <a:srgbClr val="DCE8EC"/>
                  </a:solidFill>
                  <a:latin typeface="+mn-lt"/>
                  <a:ea typeface="+mn-ea"/>
                  <a:cs typeface="+mn-cs"/>
                </a:rPr>
                <a:t>completed requests</a:t>
              </a:r>
            </a:p>
          </p:txBody>
        </p:sp>
        <p:sp>
          <p:nvSpPr>
            <p:cNvPr id="12" name="TextBox 12"/>
            <p:cNvSpPr txBox="1"/>
            <p:nvPr/>
          </p:nvSpPr>
          <p:spPr>
            <a:xfrm>
              <a:off x="479298" y="4041458"/>
              <a:ext cx="1345508" cy="616077"/>
            </a:xfrm>
            <a:prstGeom prst="rect">
              <a:avLst/>
            </a:prstGeom>
            <a:noFill/>
            <a:ln>
              <a:noFill/>
            </a:ln>
          </p:spPr>
          <p:txBody>
            <a:bodyPr wrap="none" lIns="0" tIns="0" rIns="0" bIns="0" anchor="t" anchorCtr="0">
              <a:spAutoFit/>
            </a:bodyPr>
            <a:lstStyle/>
            <a:p>
              <a:pPr algn="l"/>
              <a:r>
                <a:rPr lang="en" sz="3150" b="1" dirty="0">
                  <a:solidFill>
                    <a:schemeClr val="accent3"/>
                  </a:solidFill>
                  <a:latin typeface="+mn-lt"/>
                  <a:ea typeface="+mn-ea"/>
                  <a:cs typeface="+mn-cs"/>
                </a:rPr>
                <a:t>16.5%</a:t>
              </a:r>
            </a:p>
          </p:txBody>
        </p:sp>
        <p:sp>
          <p:nvSpPr>
            <p:cNvPr id="13" name="TextBox 13"/>
            <p:cNvSpPr txBox="1"/>
            <p:nvPr/>
          </p:nvSpPr>
          <p:spPr>
            <a:xfrm>
              <a:off x="489204" y="4499610"/>
              <a:ext cx="1354156" cy="234696"/>
            </a:xfrm>
            <a:prstGeom prst="rect">
              <a:avLst/>
            </a:prstGeom>
            <a:noFill/>
            <a:ln>
              <a:noFill/>
            </a:ln>
          </p:spPr>
          <p:txBody>
            <a:bodyPr wrap="none" lIns="0" tIns="0" rIns="0" bIns="0" anchor="t" anchorCtr="0">
              <a:spAutoFit/>
            </a:bodyPr>
            <a:lstStyle/>
            <a:p>
              <a:pPr algn="l"/>
              <a:r>
                <a:rPr lang="en" sz="1200" dirty="0">
                  <a:solidFill>
                    <a:srgbClr val="DCE8EC"/>
                  </a:solidFill>
                  <a:latin typeface="+mn-lt"/>
                  <a:ea typeface="+mn-ea"/>
                  <a:cs typeface="+mn-cs"/>
                </a:rPr>
                <a:t>empty-VKT share</a:t>
              </a:r>
            </a:p>
          </p:txBody>
        </p:sp>
        <p:sp>
          <p:nvSpPr>
            <p:cNvPr id="14" name="TextBox 14"/>
            <p:cNvSpPr txBox="1"/>
            <p:nvPr/>
          </p:nvSpPr>
          <p:spPr>
            <a:xfrm>
              <a:off x="484632" y="5088255"/>
              <a:ext cx="1490680" cy="410718"/>
            </a:xfrm>
            <a:prstGeom prst="rect">
              <a:avLst/>
            </a:prstGeom>
            <a:noFill/>
            <a:ln>
              <a:noFill/>
            </a:ln>
          </p:spPr>
          <p:txBody>
            <a:bodyPr wrap="none" lIns="0" tIns="0" rIns="0" bIns="0" anchor="t" anchorCtr="0">
              <a:spAutoFit/>
            </a:bodyPr>
            <a:lstStyle/>
            <a:p>
              <a:pPr algn="l"/>
              <a:r>
                <a:rPr lang="en" sz="2100" b="1" dirty="0">
                  <a:solidFill>
                    <a:srgbClr val="FFFFFF"/>
                  </a:solidFill>
                  <a:latin typeface="+mn-lt"/>
                  <a:ea typeface="+mn-ea"/>
                  <a:cs typeface="+mn-cs"/>
                </a:rPr>
                <a:t>17 waiting</a:t>
              </a:r>
            </a:p>
          </p:txBody>
        </p:sp>
        <p:sp>
          <p:nvSpPr>
            <p:cNvPr id="15" name="TextBox 15"/>
            <p:cNvSpPr txBox="1"/>
            <p:nvPr/>
          </p:nvSpPr>
          <p:spPr>
            <a:xfrm>
              <a:off x="489204" y="5433060"/>
              <a:ext cx="1134923" cy="234696"/>
            </a:xfrm>
            <a:prstGeom prst="rect">
              <a:avLst/>
            </a:prstGeom>
            <a:noFill/>
            <a:ln>
              <a:noFill/>
            </a:ln>
          </p:spPr>
          <p:txBody>
            <a:bodyPr wrap="none" lIns="0" tIns="0" rIns="0" bIns="0" anchor="t" anchorCtr="0">
              <a:spAutoFit/>
            </a:bodyPr>
            <a:lstStyle/>
            <a:p>
              <a:pPr algn="l"/>
              <a:r>
                <a:rPr lang="en" sz="1200" dirty="0">
                  <a:solidFill>
                    <a:srgbClr val="DCE8EC"/>
                  </a:solidFill>
                  <a:latin typeface="+mn-lt"/>
                  <a:ea typeface="+mn-ea"/>
                  <a:cs typeface="+mn-cs"/>
                </a:rPr>
                <a:t>at the horizon</a:t>
              </a:r>
            </a:p>
          </p:txBody>
        </p:sp>
      </p:grpSp>
      <p:grpSp>
        <p:nvGrpSpPr>
          <p:cNvPr id="19" name="Group 19"/>
          <p:cNvGrpSpPr/>
          <p:nvPr/>
        </p:nvGrpSpPr>
        <p:grpSpPr>
          <a:xfrm>
            <a:off x="3638550" y="590550"/>
            <a:ext cx="7943850" cy="5543550"/>
            <a:chOff x="3638550" y="590550"/>
            <a:chExt cx="7943850" cy="5543550"/>
          </a:xfrm>
        </p:grpSpPr>
        <p:sp>
          <p:nvSpPr>
            <p:cNvPr id="17" name="Rectangle 17"/>
            <p:cNvSpPr/>
            <p:nvPr/>
          </p:nvSpPr>
          <p:spPr>
            <a:xfrm>
              <a:off x="3638550" y="590550"/>
              <a:ext cx="7943850" cy="5543550"/>
            </a:xfrm>
            <a:prstGeom prst="rect">
              <a:avLst/>
            </a:prstGeom>
            <a:solidFill>
              <a:schemeClr val="accent5"/>
            </a:solidFill>
            <a:ln>
              <a:noFill/>
            </a:ln>
          </p:spPr>
        </p:sp>
        <p:pic>
          <p:nvPicPr>
            <p:cNvPr id="18" name="Image 18"/>
            <p:cNvPicPr>
              <a:picLocks noChangeAspect="1"/>
            </p:cNvPicPr>
            <p:nvPr/>
          </p:nvPicPr>
          <p:blipFill>
            <a:blip r:embed="rId2"/>
            <a:stretch>
              <a:fillRect/>
            </a:stretch>
          </p:blipFill>
          <p:spPr>
            <a:xfrm>
              <a:off x="4151840" y="704850"/>
              <a:ext cx="6917271" cy="5314950"/>
            </a:xfrm>
            <a:prstGeom prst="rect">
              <a:avLst/>
            </a:prstGeom>
          </p:spPr>
        </p:pic>
      </p:grpSp>
      <p:grpSp>
        <p:nvGrpSpPr>
          <p:cNvPr id="22" name="Group 22"/>
          <p:cNvGrpSpPr/>
          <p:nvPr/>
        </p:nvGrpSpPr>
        <p:grpSpPr>
          <a:xfrm>
            <a:off x="3632454" y="6404610"/>
            <a:ext cx="7975092" cy="234696"/>
            <a:chOff x="3632454" y="6404610"/>
            <a:chExt cx="7975092" cy="234696"/>
          </a:xfrm>
        </p:grpSpPr>
        <p:sp>
          <p:nvSpPr>
            <p:cNvPr id="20" name="TextBox 20"/>
            <p:cNvSpPr txBox="1"/>
            <p:nvPr/>
          </p:nvSpPr>
          <p:spPr>
            <a:xfrm>
              <a:off x="3632454" y="6404610"/>
              <a:ext cx="5394440" cy="234696"/>
            </a:xfrm>
            <a:prstGeom prst="rect">
              <a:avLst/>
            </a:prstGeom>
            <a:noFill/>
            <a:ln>
              <a:noFill/>
            </a:ln>
          </p:spPr>
          <p:txBody>
            <a:bodyPr wrap="none" lIns="0" tIns="0" rIns="0" bIns="0" anchor="t" anchorCtr="0">
              <a:spAutoFit/>
            </a:bodyPr>
            <a:lstStyle/>
            <a:p>
              <a:pPr algn="l"/>
              <a:r>
                <a:rPr lang="en" sz="1200" dirty="0">
                  <a:solidFill>
                    <a:srgbClr val="536165"/>
                  </a:solidFill>
                  <a:latin typeface="+mn-lt"/>
                  <a:ea typeface="+mn-ea"/>
                  <a:cs typeface="+mn-cs"/>
                </a:rPr>
                <a:t>Distance-only Taxi cost · waiting disutility is not converted to HKD.</a:t>
              </a:r>
            </a:p>
          </p:txBody>
        </p:sp>
        <p:sp>
          <p:nvSpPr>
            <p:cNvPr id="21" name="TextBox 21"/>
            <p:cNvSpPr txBox="1"/>
            <p:nvPr/>
          </p:nvSpPr>
          <p:spPr>
            <a:xfrm>
              <a:off x="11417656" y="6404610"/>
              <a:ext cx="189890" cy="234696"/>
            </a:xfrm>
            <a:prstGeom prst="rect">
              <a:avLst/>
            </a:prstGeom>
            <a:noFill/>
            <a:ln>
              <a:noFill/>
            </a:ln>
          </p:spPr>
          <p:txBody>
            <a:bodyPr wrap="none" lIns="0" tIns="0" rIns="0" bIns="0" anchor="t" anchorCtr="0">
              <a:spAutoFit/>
            </a:bodyPr>
            <a:lstStyle/>
            <a:p>
              <a:pPr algn="r"/>
              <a:r>
                <a:rPr lang="en" sz="1200" dirty="0">
                  <a:solidFill>
                    <a:srgbClr val="536165"/>
                  </a:solidFill>
                  <a:latin typeface="+mn-lt"/>
                  <a:ea typeface="+mn-ea"/>
                  <a:cs typeface="+mn-cs"/>
                </a:rPr>
                <a:t>06</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chemeClr val="lt1"/>
            </a:solidFill>
            <a:ln>
              <a:noFill/>
            </a:ln>
          </p:spPr>
        </p:sp>
        <p:sp>
          <p:nvSpPr>
            <p:cNvPr id="3" name="Rectangle 3"/>
            <p:cNvSpPr/>
            <p:nvPr/>
          </p:nvSpPr>
          <p:spPr>
            <a:xfrm>
              <a:off x="0" y="0"/>
              <a:ext cx="12192000" cy="133350"/>
            </a:xfrm>
            <a:prstGeom prst="rect">
              <a:avLst/>
            </a:prstGeom>
            <a:solidFill>
              <a:schemeClr val="accent2"/>
            </a:solidFill>
            <a:ln>
              <a:noFill/>
            </a:ln>
          </p:spPr>
        </p:sp>
      </p:grpSp>
      <p:grpSp>
        <p:nvGrpSpPr>
          <p:cNvPr id="8" name="Group 8"/>
          <p:cNvGrpSpPr/>
          <p:nvPr/>
        </p:nvGrpSpPr>
        <p:grpSpPr>
          <a:xfrm>
            <a:off x="593598" y="651510"/>
            <a:ext cx="11007852" cy="895350"/>
            <a:chOff x="593598" y="651510"/>
            <a:chExt cx="11007852" cy="895350"/>
          </a:xfrm>
        </p:grpSpPr>
        <p:sp>
          <p:nvSpPr>
            <p:cNvPr id="5" name="TextBox 5"/>
            <p:cNvSpPr txBox="1"/>
            <p:nvPr/>
          </p:nvSpPr>
          <p:spPr>
            <a:xfrm>
              <a:off x="603504" y="651510"/>
              <a:ext cx="2297278" cy="234696"/>
            </a:xfrm>
            <a:prstGeom prst="rect">
              <a:avLst/>
            </a:prstGeom>
            <a:noFill/>
            <a:ln>
              <a:noFill/>
            </a:ln>
          </p:spPr>
          <p:txBody>
            <a:bodyPr wrap="none" lIns="0" tIns="0" rIns="0" bIns="0" anchor="t" anchorCtr="0">
              <a:spAutoFit/>
            </a:bodyPr>
            <a:lstStyle/>
            <a:p>
              <a:pPr algn="l"/>
              <a:r>
                <a:rPr lang="en" sz="1200" b="1" dirty="0">
                  <a:solidFill>
                    <a:schemeClr val="accent2"/>
                  </a:solidFill>
                  <a:latin typeface="+mn-lt"/>
                  <a:ea typeface="+mn-ea"/>
                  <a:cs typeface="+mn-cs"/>
                </a:rPr>
                <a:t>EXECUTED PRIVATE-CAR TRIP</a:t>
              </a:r>
            </a:p>
          </p:txBody>
        </p:sp>
        <p:sp>
          <p:nvSpPr>
            <p:cNvPr id="6" name="TextBox 6"/>
            <p:cNvSpPr txBox="1"/>
            <p:nvPr/>
          </p:nvSpPr>
          <p:spPr>
            <a:xfrm>
              <a:off x="593598" y="898208"/>
              <a:ext cx="7288443" cy="616077"/>
            </a:xfrm>
            <a:prstGeom prst="rect">
              <a:avLst/>
            </a:prstGeom>
            <a:noFill/>
            <a:ln>
              <a:noFill/>
            </a:ln>
          </p:spPr>
          <p:txBody>
            <a:bodyPr wrap="none" lIns="0" tIns="0" rIns="0" bIns="0" anchor="t" anchorCtr="0">
              <a:spAutoFit/>
            </a:bodyPr>
            <a:lstStyle/>
            <a:p>
              <a:pPr algn="l"/>
              <a:r>
                <a:rPr lang="en" sz="3150" b="1" dirty="0">
                  <a:solidFill>
                    <a:schemeClr val="dk1"/>
                  </a:solidFill>
                  <a:latin typeface="+mn-lt"/>
                  <a:ea typeface="+mn-ea"/>
                  <a:cs typeface="+mn-cs"/>
                </a:rPr>
                <a:t>A Car Trip Can Be Read in Real HKD</a:t>
              </a:r>
            </a:p>
          </p:txBody>
        </p:sp>
        <p:sp>
          <p:nvSpPr>
            <p:cNvPr id="7" name="TextBox 7"/>
            <p:cNvSpPr txBox="1"/>
            <p:nvPr/>
          </p:nvSpPr>
          <p:spPr>
            <a:xfrm>
              <a:off x="8803325" y="727710"/>
              <a:ext cx="2798125" cy="819150"/>
            </a:xfrm>
            <a:prstGeom prst="rect">
              <a:avLst/>
            </a:prstGeom>
            <a:noFill/>
            <a:ln>
              <a:noFill/>
            </a:ln>
          </p:spPr>
          <p:txBody>
            <a:bodyPr wrap="none" lIns="0" tIns="0" rIns="0" bIns="0" anchor="t" anchorCtr="0">
              <a:spAutoFit/>
            </a:bodyPr>
            <a:lstStyle/>
            <a:p>
              <a:pPr algn="r"/>
              <a:r>
                <a:rPr lang="en" sz="4200" b="1" dirty="0">
                  <a:solidFill>
                    <a:schemeClr val="accent1"/>
                  </a:solidFill>
                  <a:latin typeface="+mn-lt"/>
                  <a:ea typeface="+mn-ea"/>
                  <a:cs typeface="+mn-cs"/>
                </a:rPr>
                <a:t>HK$122.7</a:t>
              </a:r>
            </a:p>
          </p:txBody>
        </p:sp>
      </p:grpSp>
      <p:grpSp>
        <p:nvGrpSpPr>
          <p:cNvPr id="14" name="Group 14"/>
          <p:cNvGrpSpPr/>
          <p:nvPr/>
        </p:nvGrpSpPr>
        <p:grpSpPr>
          <a:xfrm>
            <a:off x="598932" y="1602105"/>
            <a:ext cx="8694410" cy="410718"/>
            <a:chOff x="598932" y="1602105"/>
            <a:chExt cx="8694410" cy="410718"/>
          </a:xfrm>
        </p:grpSpPr>
        <p:sp>
          <p:nvSpPr>
            <p:cNvPr id="9" name="TextBox 9"/>
            <p:cNvSpPr txBox="1"/>
            <p:nvPr/>
          </p:nvSpPr>
          <p:spPr>
            <a:xfrm>
              <a:off x="598932" y="1602105"/>
              <a:ext cx="2264066" cy="410718"/>
            </a:xfrm>
            <a:prstGeom prst="rect">
              <a:avLst/>
            </a:prstGeom>
            <a:noFill/>
            <a:ln>
              <a:noFill/>
            </a:ln>
          </p:spPr>
          <p:txBody>
            <a:bodyPr wrap="none" lIns="0" tIns="0" rIns="0" bIns="0" anchor="t" anchorCtr="0">
              <a:spAutoFit/>
            </a:bodyPr>
            <a:lstStyle/>
            <a:p>
              <a:pPr algn="l"/>
              <a:r>
                <a:rPr lang="en" sz="2100" b="1" dirty="0">
                  <a:solidFill>
                    <a:schemeClr val="dk1"/>
                  </a:solidFill>
                  <a:latin typeface="+mn-lt"/>
                  <a:ea typeface="+mn-ea"/>
                  <a:cs typeface="+mn-cs"/>
                </a:rPr>
                <a:t>HK$20.7 energy</a:t>
              </a:r>
            </a:p>
          </p:txBody>
        </p:sp>
        <p:sp>
          <p:nvSpPr>
            <p:cNvPr id="10" name="TextBox 10"/>
            <p:cNvSpPr txBox="1"/>
            <p:nvPr/>
          </p:nvSpPr>
          <p:spPr>
            <a:xfrm>
              <a:off x="3151632" y="1602105"/>
              <a:ext cx="184596" cy="410718"/>
            </a:xfrm>
            <a:prstGeom prst="rect">
              <a:avLst/>
            </a:prstGeom>
            <a:noFill/>
            <a:ln>
              <a:noFill/>
            </a:ln>
          </p:spPr>
          <p:txBody>
            <a:bodyPr wrap="none" lIns="0" tIns="0" rIns="0" bIns="0" anchor="t" anchorCtr="0">
              <a:spAutoFit/>
            </a:bodyPr>
            <a:lstStyle/>
            <a:p>
              <a:pPr algn="l"/>
              <a:r>
                <a:rPr lang="en" sz="2100" b="1" dirty="0">
                  <a:solidFill>
                    <a:schemeClr val="accent2"/>
                  </a:solidFill>
                  <a:latin typeface="+mn-lt"/>
                  <a:ea typeface="+mn-ea"/>
                  <a:cs typeface="+mn-cs"/>
                </a:rPr>
                <a:t>+</a:t>
              </a:r>
            </a:p>
          </p:txBody>
        </p:sp>
        <p:sp>
          <p:nvSpPr>
            <p:cNvPr id="11" name="TextBox 11"/>
            <p:cNvSpPr txBox="1"/>
            <p:nvPr/>
          </p:nvSpPr>
          <p:spPr>
            <a:xfrm>
              <a:off x="3532632" y="1602105"/>
              <a:ext cx="2778001" cy="410718"/>
            </a:xfrm>
            <a:prstGeom prst="rect">
              <a:avLst/>
            </a:prstGeom>
            <a:noFill/>
            <a:ln>
              <a:noFill/>
            </a:ln>
          </p:spPr>
          <p:txBody>
            <a:bodyPr wrap="none" lIns="0" tIns="0" rIns="0" bIns="0" anchor="t" anchorCtr="0">
              <a:spAutoFit/>
            </a:bodyPr>
            <a:lstStyle/>
            <a:p>
              <a:pPr algn="l"/>
              <a:r>
                <a:rPr lang="en" sz="2100" b="1" dirty="0">
                  <a:solidFill>
                    <a:schemeClr val="dk1"/>
                  </a:solidFill>
                  <a:latin typeface="+mn-lt"/>
                  <a:ea typeface="+mn-ea"/>
                  <a:cs typeface="+mn-cs"/>
                </a:rPr>
                <a:t>HK$30.0 tunnel toll</a:t>
              </a:r>
            </a:p>
          </p:txBody>
        </p:sp>
        <p:sp>
          <p:nvSpPr>
            <p:cNvPr id="12" name="TextBox 12"/>
            <p:cNvSpPr txBox="1"/>
            <p:nvPr/>
          </p:nvSpPr>
          <p:spPr>
            <a:xfrm>
              <a:off x="6561582" y="1602105"/>
              <a:ext cx="184596" cy="410718"/>
            </a:xfrm>
            <a:prstGeom prst="rect">
              <a:avLst/>
            </a:prstGeom>
            <a:noFill/>
            <a:ln>
              <a:noFill/>
            </a:ln>
          </p:spPr>
          <p:txBody>
            <a:bodyPr wrap="none" lIns="0" tIns="0" rIns="0" bIns="0" anchor="t" anchorCtr="0">
              <a:spAutoFit/>
            </a:bodyPr>
            <a:lstStyle/>
            <a:p>
              <a:pPr algn="l"/>
              <a:r>
                <a:rPr lang="en" sz="2100" b="1" dirty="0">
                  <a:solidFill>
                    <a:schemeClr val="accent2"/>
                  </a:solidFill>
                  <a:latin typeface="+mn-lt"/>
                  <a:ea typeface="+mn-ea"/>
                  <a:cs typeface="+mn-cs"/>
                </a:rPr>
                <a:t>+</a:t>
              </a:r>
            </a:p>
          </p:txBody>
        </p:sp>
        <p:sp>
          <p:nvSpPr>
            <p:cNvPr id="13" name="TextBox 13"/>
            <p:cNvSpPr txBox="1"/>
            <p:nvPr/>
          </p:nvSpPr>
          <p:spPr>
            <a:xfrm>
              <a:off x="6942582" y="1602105"/>
              <a:ext cx="2350760" cy="410718"/>
            </a:xfrm>
            <a:prstGeom prst="rect">
              <a:avLst/>
            </a:prstGeom>
            <a:noFill/>
            <a:ln>
              <a:noFill/>
            </a:ln>
          </p:spPr>
          <p:txBody>
            <a:bodyPr wrap="none" lIns="0" tIns="0" rIns="0" bIns="0" anchor="t" anchorCtr="0">
              <a:spAutoFit/>
            </a:bodyPr>
            <a:lstStyle/>
            <a:p>
              <a:pPr algn="l"/>
              <a:r>
                <a:rPr lang="en" sz="2100" b="1" dirty="0">
                  <a:solidFill>
                    <a:schemeClr val="dk1"/>
                  </a:solidFill>
                  <a:latin typeface="+mn-lt"/>
                  <a:ea typeface="+mn-ea"/>
                  <a:cs typeface="+mn-cs"/>
                </a:rPr>
                <a:t>HK$72.0 parking</a:t>
              </a:r>
            </a:p>
          </p:txBody>
        </p:sp>
      </p:grpSp>
      <p:grpSp>
        <p:nvGrpSpPr>
          <p:cNvPr id="17" name="Group 17"/>
          <p:cNvGrpSpPr/>
          <p:nvPr/>
        </p:nvGrpSpPr>
        <p:grpSpPr>
          <a:xfrm>
            <a:off x="514350" y="2095500"/>
            <a:ext cx="11163300" cy="4076700"/>
            <a:chOff x="514350" y="2095500"/>
            <a:chExt cx="11163300" cy="4076700"/>
          </a:xfrm>
        </p:grpSpPr>
        <p:sp>
          <p:nvSpPr>
            <p:cNvPr id="15" name="Rectangle 15"/>
            <p:cNvSpPr/>
            <p:nvPr/>
          </p:nvSpPr>
          <p:spPr>
            <a:xfrm>
              <a:off x="514350" y="2095500"/>
              <a:ext cx="11163300" cy="4076700"/>
            </a:xfrm>
            <a:prstGeom prst="rect">
              <a:avLst/>
            </a:prstGeom>
            <a:solidFill>
              <a:schemeClr val="accent5"/>
            </a:solidFill>
            <a:ln>
              <a:noFill/>
            </a:ln>
          </p:spPr>
        </p:sp>
        <p:pic>
          <p:nvPicPr>
            <p:cNvPr id="16" name="Image 16"/>
            <p:cNvPicPr>
              <a:picLocks noChangeAspect="1"/>
            </p:cNvPicPr>
            <p:nvPr/>
          </p:nvPicPr>
          <p:blipFill>
            <a:blip r:embed="rId2"/>
            <a:stretch>
              <a:fillRect/>
            </a:stretch>
          </p:blipFill>
          <p:spPr>
            <a:xfrm>
              <a:off x="1135710" y="2209800"/>
              <a:ext cx="9920580" cy="3848100"/>
            </a:xfrm>
            <a:prstGeom prst="rect">
              <a:avLst/>
            </a:prstGeom>
          </p:spPr>
        </p:pic>
      </p:grpSp>
      <p:grpSp>
        <p:nvGrpSpPr>
          <p:cNvPr id="20" name="Group 20"/>
          <p:cNvGrpSpPr/>
          <p:nvPr/>
        </p:nvGrpSpPr>
        <p:grpSpPr>
          <a:xfrm>
            <a:off x="603504" y="6423660"/>
            <a:ext cx="10984992" cy="234696"/>
            <a:chOff x="603504" y="6423660"/>
            <a:chExt cx="10984992" cy="234696"/>
          </a:xfrm>
        </p:grpSpPr>
        <p:sp>
          <p:nvSpPr>
            <p:cNvPr id="18" name="TextBox 18"/>
            <p:cNvSpPr txBox="1"/>
            <p:nvPr/>
          </p:nvSpPr>
          <p:spPr>
            <a:xfrm>
              <a:off x="603504" y="6423660"/>
              <a:ext cx="6261222" cy="234696"/>
            </a:xfrm>
            <a:prstGeom prst="rect">
              <a:avLst/>
            </a:prstGeom>
            <a:noFill/>
            <a:ln>
              <a:noFill/>
            </a:ln>
          </p:spPr>
          <p:txBody>
            <a:bodyPr wrap="none" lIns="0" tIns="0" rIns="0" bIns="0" anchor="t" anchorCtr="0">
              <a:spAutoFit/>
            </a:bodyPr>
            <a:lstStyle/>
            <a:p>
              <a:pPr algn="l"/>
              <a:r>
                <a:rPr lang="en" sz="1200" dirty="0">
                  <a:solidFill>
                    <a:srgbClr val="536165"/>
                  </a:solidFill>
                  <a:latin typeface="+mn-lt"/>
                  <a:ea typeface="+mn-ea"/>
                  <a:cs typeface="+mn-cs"/>
                </a:rPr>
                <a:t>Fixed ownership remains a vehicle-day sidecar and is not allocated to this trip.</a:t>
              </a:r>
            </a:p>
          </p:txBody>
        </p:sp>
        <p:sp>
          <p:nvSpPr>
            <p:cNvPr id="19" name="TextBox 19"/>
            <p:cNvSpPr txBox="1"/>
            <p:nvPr/>
          </p:nvSpPr>
          <p:spPr>
            <a:xfrm>
              <a:off x="11398606" y="6423660"/>
              <a:ext cx="189890" cy="234696"/>
            </a:xfrm>
            <a:prstGeom prst="rect">
              <a:avLst/>
            </a:prstGeom>
            <a:noFill/>
            <a:ln>
              <a:noFill/>
            </a:ln>
          </p:spPr>
          <p:txBody>
            <a:bodyPr wrap="none" lIns="0" tIns="0" rIns="0" bIns="0" anchor="t" anchorCtr="0">
              <a:spAutoFit/>
            </a:bodyPr>
            <a:lstStyle/>
            <a:p>
              <a:pPr algn="r"/>
              <a:r>
                <a:rPr lang="en" sz="1200" dirty="0">
                  <a:solidFill>
                    <a:srgbClr val="536165"/>
                  </a:solidFill>
                  <a:latin typeface="+mn-lt"/>
                  <a:ea typeface="+mn-ea"/>
                  <a:cs typeface="+mn-cs"/>
                </a:rPr>
                <a:t>07</a:t>
              </a:r>
            </a:p>
          </p:txBody>
        </p:sp>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chemeClr val="lt1"/>
            </a:solidFill>
            <a:ln>
              <a:noFill/>
            </a:ln>
          </p:spPr>
        </p:sp>
        <p:sp>
          <p:nvSpPr>
            <p:cNvPr id="3" name="Rectangle 3"/>
            <p:cNvSpPr/>
            <p:nvPr/>
          </p:nvSpPr>
          <p:spPr>
            <a:xfrm>
              <a:off x="0" y="0"/>
              <a:ext cx="2324100" cy="6858000"/>
            </a:xfrm>
            <a:prstGeom prst="rect">
              <a:avLst/>
            </a:prstGeom>
            <a:solidFill>
              <a:schemeClr val="accent5"/>
            </a:solidFill>
            <a:ln>
              <a:noFill/>
            </a:ln>
          </p:spPr>
        </p:sp>
      </p:grpSp>
      <p:grpSp>
        <p:nvGrpSpPr>
          <p:cNvPr id="15" name="Group 15"/>
          <p:cNvGrpSpPr/>
          <p:nvPr/>
        </p:nvGrpSpPr>
        <p:grpSpPr>
          <a:xfrm>
            <a:off x="422148" y="594360"/>
            <a:ext cx="2438250" cy="4787646"/>
            <a:chOff x="422148" y="594360"/>
            <a:chExt cx="2438250" cy="4787646"/>
          </a:xfrm>
        </p:grpSpPr>
        <p:sp>
          <p:nvSpPr>
            <p:cNvPr id="5" name="TextBox 5"/>
            <p:cNvSpPr txBox="1"/>
            <p:nvPr/>
          </p:nvSpPr>
          <p:spPr>
            <a:xfrm>
              <a:off x="432054" y="594360"/>
              <a:ext cx="1499738" cy="234696"/>
            </a:xfrm>
            <a:prstGeom prst="rect">
              <a:avLst/>
            </a:prstGeom>
            <a:noFill/>
            <a:ln>
              <a:noFill/>
            </a:ln>
          </p:spPr>
          <p:txBody>
            <a:bodyPr wrap="none" lIns="0" tIns="0" rIns="0" bIns="0" anchor="t" anchorCtr="0">
              <a:spAutoFit/>
            </a:bodyPr>
            <a:lstStyle/>
            <a:p>
              <a:pPr algn="l"/>
              <a:r>
                <a:rPr lang="en" sz="1200" b="1" dirty="0">
                  <a:solidFill>
                    <a:schemeClr val="accent1"/>
                  </a:solidFill>
                  <a:latin typeface="+mn-lt"/>
                  <a:ea typeface="+mn-ea"/>
                  <a:cs typeface="+mn-cs"/>
                </a:rPr>
                <a:t>EXPERIENCED FARE</a:t>
              </a:r>
            </a:p>
          </p:txBody>
        </p:sp>
        <p:sp>
          <p:nvSpPr>
            <p:cNvPr id="6" name="TextBox 6"/>
            <p:cNvSpPr txBox="1"/>
            <p:nvPr/>
          </p:nvSpPr>
          <p:spPr>
            <a:xfrm>
              <a:off x="425196" y="1058228"/>
              <a:ext cx="2435202" cy="498729"/>
            </a:xfrm>
            <a:prstGeom prst="rect">
              <a:avLst/>
            </a:prstGeom>
            <a:noFill/>
            <a:ln>
              <a:noFill/>
            </a:ln>
          </p:spPr>
          <p:txBody>
            <a:bodyPr wrap="none" lIns="0" tIns="0" rIns="0" bIns="0" anchor="t" anchorCtr="0">
              <a:spAutoFit/>
            </a:bodyPr>
            <a:lstStyle/>
            <a:p>
              <a:pPr algn="l"/>
              <a:r>
                <a:rPr lang="en" sz="2550" b="1" dirty="0">
                  <a:solidFill>
                    <a:schemeClr val="dk1"/>
                  </a:solidFill>
                  <a:latin typeface="+mn-lt"/>
                  <a:ea typeface="+mn-ea"/>
                  <a:cs typeface="+mn-cs"/>
                </a:rPr>
                <a:t>Exact chains,</a:t>
              </a:r>
            </a:p>
          </p:txBody>
        </p:sp>
        <p:sp>
          <p:nvSpPr>
            <p:cNvPr id="7" name="TextBox 7"/>
            <p:cNvSpPr txBox="1"/>
            <p:nvPr/>
          </p:nvSpPr>
          <p:spPr>
            <a:xfrm>
              <a:off x="425196" y="1439228"/>
              <a:ext cx="2224623" cy="498729"/>
            </a:xfrm>
            <a:prstGeom prst="rect">
              <a:avLst/>
            </a:prstGeom>
            <a:noFill/>
            <a:ln>
              <a:noFill/>
            </a:ln>
          </p:spPr>
          <p:txBody>
            <a:bodyPr wrap="none" lIns="0" tIns="0" rIns="0" bIns="0" anchor="t" anchorCtr="0">
              <a:spAutoFit/>
            </a:bodyPr>
            <a:lstStyle/>
            <a:p>
              <a:pPr algn="l"/>
              <a:r>
                <a:rPr lang="en" sz="2550" b="1" dirty="0">
                  <a:solidFill>
                    <a:schemeClr val="dk1"/>
                  </a:solidFill>
                  <a:latin typeface="+mn-lt"/>
                  <a:ea typeface="+mn-ea"/>
                  <a:cs typeface="+mn-cs"/>
                </a:rPr>
                <a:t>not distance</a:t>
              </a:r>
            </a:p>
          </p:txBody>
        </p:sp>
        <p:sp>
          <p:nvSpPr>
            <p:cNvPr id="8" name="TextBox 8"/>
            <p:cNvSpPr txBox="1"/>
            <p:nvPr/>
          </p:nvSpPr>
          <p:spPr>
            <a:xfrm>
              <a:off x="425196" y="1820228"/>
              <a:ext cx="1521755" cy="498729"/>
            </a:xfrm>
            <a:prstGeom prst="rect">
              <a:avLst/>
            </a:prstGeom>
            <a:noFill/>
            <a:ln>
              <a:noFill/>
            </a:ln>
          </p:spPr>
          <p:txBody>
            <a:bodyPr wrap="none" lIns="0" tIns="0" rIns="0" bIns="0" anchor="t" anchorCtr="0">
              <a:spAutoFit/>
            </a:bodyPr>
            <a:lstStyle/>
            <a:p>
              <a:pPr algn="l"/>
              <a:r>
                <a:rPr lang="en" sz="2550" b="1" dirty="0">
                  <a:solidFill>
                    <a:schemeClr val="dk1"/>
                  </a:solidFill>
                  <a:latin typeface="+mn-lt"/>
                  <a:ea typeface="+mn-ea"/>
                  <a:cs typeface="+mn-cs"/>
                </a:rPr>
                <a:t>proxies.</a:t>
              </a:r>
            </a:p>
          </p:txBody>
        </p:sp>
        <p:sp>
          <p:nvSpPr>
            <p:cNvPr id="9" name="TextBox 9"/>
            <p:cNvSpPr txBox="1"/>
            <p:nvPr/>
          </p:nvSpPr>
          <p:spPr>
            <a:xfrm>
              <a:off x="422148" y="2669858"/>
              <a:ext cx="1501348" cy="616077"/>
            </a:xfrm>
            <a:prstGeom prst="rect">
              <a:avLst/>
            </a:prstGeom>
            <a:noFill/>
            <a:ln>
              <a:noFill/>
            </a:ln>
          </p:spPr>
          <p:txBody>
            <a:bodyPr wrap="none" lIns="0" tIns="0" rIns="0" bIns="0" anchor="t" anchorCtr="0">
              <a:spAutoFit/>
            </a:bodyPr>
            <a:lstStyle/>
            <a:p>
              <a:pPr algn="l"/>
              <a:r>
                <a:rPr lang="en" sz="3150" b="1" dirty="0">
                  <a:solidFill>
                    <a:schemeClr val="accent1"/>
                  </a:solidFill>
                  <a:latin typeface="+mn-lt"/>
                  <a:ea typeface="+mn-ea"/>
                  <a:cs typeface="+mn-cs"/>
                </a:rPr>
                <a:t>10,066</a:t>
              </a:r>
            </a:p>
          </p:txBody>
        </p:sp>
        <p:sp>
          <p:nvSpPr>
            <p:cNvPr id="10" name="TextBox 10"/>
            <p:cNvSpPr txBox="1"/>
            <p:nvPr/>
          </p:nvSpPr>
          <p:spPr>
            <a:xfrm>
              <a:off x="432054" y="3147060"/>
              <a:ext cx="868375" cy="234696"/>
            </a:xfrm>
            <a:prstGeom prst="rect">
              <a:avLst/>
            </a:prstGeom>
            <a:noFill/>
            <a:ln>
              <a:noFill/>
            </a:ln>
          </p:spPr>
          <p:txBody>
            <a:bodyPr wrap="none" lIns="0" tIns="0" rIns="0" bIns="0" anchor="t" anchorCtr="0">
              <a:spAutoFit/>
            </a:bodyPr>
            <a:lstStyle/>
            <a:p>
              <a:pPr algn="l"/>
              <a:r>
                <a:rPr lang="en" sz="1200" dirty="0">
                  <a:solidFill>
                    <a:srgbClr val="536165"/>
                  </a:solidFill>
                  <a:latin typeface="+mn-lt"/>
                  <a:ea typeface="+mn-ea"/>
                  <a:cs typeface="+mn-cs"/>
                </a:rPr>
                <a:t>itineraries</a:t>
              </a:r>
            </a:p>
          </p:txBody>
        </p:sp>
        <p:sp>
          <p:nvSpPr>
            <p:cNvPr id="11" name="TextBox 11"/>
            <p:cNvSpPr txBox="1"/>
            <p:nvPr/>
          </p:nvSpPr>
          <p:spPr>
            <a:xfrm>
              <a:off x="422148" y="3660458"/>
              <a:ext cx="1590399" cy="616077"/>
            </a:xfrm>
            <a:prstGeom prst="rect">
              <a:avLst/>
            </a:prstGeom>
            <a:noFill/>
            <a:ln>
              <a:noFill/>
            </a:ln>
          </p:spPr>
          <p:txBody>
            <a:bodyPr wrap="none" lIns="0" tIns="0" rIns="0" bIns="0" anchor="t" anchorCtr="0">
              <a:spAutoFit/>
            </a:bodyPr>
            <a:lstStyle/>
            <a:p>
              <a:pPr algn="l"/>
              <a:r>
                <a:rPr lang="en" sz="3150" b="1" dirty="0">
                  <a:solidFill>
                    <a:schemeClr val="accent2"/>
                  </a:solidFill>
                  <a:latin typeface="+mn-lt"/>
                  <a:ea typeface="+mn-ea"/>
                  <a:cs typeface="+mn-cs"/>
                </a:rPr>
                <a:t>97.28%</a:t>
              </a:r>
            </a:p>
          </p:txBody>
        </p:sp>
        <p:sp>
          <p:nvSpPr>
            <p:cNvPr id="12" name="TextBox 12"/>
            <p:cNvSpPr txBox="1"/>
            <p:nvPr/>
          </p:nvSpPr>
          <p:spPr>
            <a:xfrm>
              <a:off x="432054" y="4137660"/>
              <a:ext cx="1094537" cy="234696"/>
            </a:xfrm>
            <a:prstGeom prst="rect">
              <a:avLst/>
            </a:prstGeom>
            <a:noFill/>
            <a:ln>
              <a:noFill/>
            </a:ln>
          </p:spPr>
          <p:txBody>
            <a:bodyPr wrap="none" lIns="0" tIns="0" rIns="0" bIns="0" anchor="t" anchorCtr="0">
              <a:spAutoFit/>
            </a:bodyPr>
            <a:lstStyle/>
            <a:p>
              <a:pPr algn="l"/>
              <a:r>
                <a:rPr lang="en" sz="1200" dirty="0">
                  <a:solidFill>
                    <a:srgbClr val="536165"/>
                  </a:solidFill>
                  <a:latin typeface="+mn-lt"/>
                  <a:ea typeface="+mn-ea"/>
                  <a:cs typeface="+mn-cs"/>
                </a:rPr>
                <a:t>fully resolved</a:t>
              </a:r>
            </a:p>
          </p:txBody>
        </p:sp>
        <p:sp>
          <p:nvSpPr>
            <p:cNvPr id="13" name="TextBox 13"/>
            <p:cNvSpPr txBox="1"/>
            <p:nvPr/>
          </p:nvSpPr>
          <p:spPr>
            <a:xfrm>
              <a:off x="427482" y="4764405"/>
              <a:ext cx="1253210" cy="410718"/>
            </a:xfrm>
            <a:prstGeom prst="rect">
              <a:avLst/>
            </a:prstGeom>
            <a:noFill/>
            <a:ln>
              <a:noFill/>
            </a:ln>
          </p:spPr>
          <p:txBody>
            <a:bodyPr wrap="none" lIns="0" tIns="0" rIns="0" bIns="0" anchor="t" anchorCtr="0">
              <a:spAutoFit/>
            </a:bodyPr>
            <a:lstStyle/>
            <a:p>
              <a:pPr algn="l"/>
              <a:r>
                <a:rPr lang="en" sz="2100" b="1" dirty="0">
                  <a:solidFill>
                    <a:schemeClr val="dk1"/>
                  </a:solidFill>
                  <a:latin typeface="+mn-lt"/>
                  <a:ea typeface="+mn-ea"/>
                  <a:cs typeface="+mn-cs"/>
                </a:rPr>
                <a:t>42 stops</a:t>
              </a:r>
            </a:p>
          </p:txBody>
        </p:sp>
        <p:sp>
          <p:nvSpPr>
            <p:cNvPr id="14" name="TextBox 14"/>
            <p:cNvSpPr txBox="1"/>
            <p:nvPr/>
          </p:nvSpPr>
          <p:spPr>
            <a:xfrm>
              <a:off x="432054" y="5147310"/>
              <a:ext cx="1659941" cy="234696"/>
            </a:xfrm>
            <a:prstGeom prst="rect">
              <a:avLst/>
            </a:prstGeom>
            <a:noFill/>
            <a:ln>
              <a:noFill/>
            </a:ln>
          </p:spPr>
          <p:txBody>
            <a:bodyPr wrap="none" lIns="0" tIns="0" rIns="0" bIns="0" anchor="t" anchorCtr="0">
              <a:spAutoFit/>
            </a:bodyPr>
            <a:lstStyle/>
            <a:p>
              <a:pPr algn="l"/>
              <a:r>
                <a:rPr lang="en" sz="1200" dirty="0">
                  <a:solidFill>
                    <a:srgbClr val="536165"/>
                  </a:solidFill>
                  <a:latin typeface="+mn-lt"/>
                  <a:ea typeface="+mn-ea"/>
                  <a:cs typeface="+mn-cs"/>
                </a:rPr>
                <a:t>four actual examples</a:t>
              </a:r>
            </a:p>
          </p:txBody>
        </p:sp>
      </p:grpSp>
      <p:grpSp>
        <p:nvGrpSpPr>
          <p:cNvPr id="18" name="Group 18"/>
          <p:cNvGrpSpPr/>
          <p:nvPr/>
        </p:nvGrpSpPr>
        <p:grpSpPr>
          <a:xfrm>
            <a:off x="2609850" y="628650"/>
            <a:ext cx="9010650" cy="5505450"/>
            <a:chOff x="2609850" y="628650"/>
            <a:chExt cx="9010650" cy="5505450"/>
          </a:xfrm>
        </p:grpSpPr>
        <p:sp>
          <p:nvSpPr>
            <p:cNvPr id="16" name="Rectangle 16"/>
            <p:cNvSpPr/>
            <p:nvPr/>
          </p:nvSpPr>
          <p:spPr>
            <a:xfrm>
              <a:off x="2609850" y="628650"/>
              <a:ext cx="9010650" cy="5505450"/>
            </a:xfrm>
            <a:prstGeom prst="rect">
              <a:avLst/>
            </a:prstGeom>
            <a:solidFill>
              <a:schemeClr val="accent5"/>
            </a:solidFill>
            <a:ln>
              <a:noFill/>
            </a:ln>
          </p:spPr>
        </p:sp>
        <p:pic>
          <p:nvPicPr>
            <p:cNvPr id="17" name="Image 17"/>
            <p:cNvPicPr>
              <a:picLocks noChangeAspect="1"/>
            </p:cNvPicPr>
            <p:nvPr/>
          </p:nvPicPr>
          <p:blipFill>
            <a:blip r:embed="rId2"/>
            <a:stretch>
              <a:fillRect/>
            </a:stretch>
          </p:blipFill>
          <p:spPr>
            <a:xfrm>
              <a:off x="2760328" y="742950"/>
              <a:ext cx="8709694" cy="5276850"/>
            </a:xfrm>
            <a:prstGeom prst="rect">
              <a:avLst/>
            </a:prstGeom>
          </p:spPr>
        </p:pic>
      </p:grpSp>
      <p:grpSp>
        <p:nvGrpSpPr>
          <p:cNvPr id="21" name="Group 21"/>
          <p:cNvGrpSpPr/>
          <p:nvPr/>
        </p:nvGrpSpPr>
        <p:grpSpPr>
          <a:xfrm>
            <a:off x="2622804" y="6404610"/>
            <a:ext cx="8984742" cy="234696"/>
            <a:chOff x="2622804" y="6404610"/>
            <a:chExt cx="8984742" cy="234696"/>
          </a:xfrm>
        </p:grpSpPr>
        <p:sp>
          <p:nvSpPr>
            <p:cNvPr id="19" name="TextBox 19"/>
            <p:cNvSpPr txBox="1"/>
            <p:nvPr/>
          </p:nvSpPr>
          <p:spPr>
            <a:xfrm>
              <a:off x="2622804" y="6404610"/>
              <a:ext cx="7769919" cy="234696"/>
            </a:xfrm>
            <a:prstGeom prst="rect">
              <a:avLst/>
            </a:prstGeom>
            <a:noFill/>
            <a:ln>
              <a:noFill/>
            </a:ln>
          </p:spPr>
          <p:txBody>
            <a:bodyPr wrap="none" lIns="0" tIns="0" rIns="0" bIns="0" anchor="t" anchorCtr="0">
              <a:spAutoFit/>
            </a:bodyPr>
            <a:lstStyle/>
            <a:p>
              <a:pPr algn="l"/>
              <a:r>
                <a:rPr lang="en" sz="1200" dirty="0">
                  <a:solidFill>
                    <a:srgbClr val="536165"/>
                  </a:solidFill>
                  <a:latin typeface="+mn-lt"/>
                  <a:ea typeface="+mn-ea"/>
                  <a:cs typeface="+mn-cs"/>
                </a:rPr>
                <a:t>Adult-reference / base-Octopus rules · no distance, reverse-order, full-route, or zero fallback</a:t>
              </a:r>
            </a:p>
          </p:txBody>
        </p:sp>
        <p:sp>
          <p:nvSpPr>
            <p:cNvPr id="20" name="TextBox 20"/>
            <p:cNvSpPr txBox="1"/>
            <p:nvPr/>
          </p:nvSpPr>
          <p:spPr>
            <a:xfrm>
              <a:off x="11417656" y="6404610"/>
              <a:ext cx="189890" cy="234696"/>
            </a:xfrm>
            <a:prstGeom prst="rect">
              <a:avLst/>
            </a:prstGeom>
            <a:noFill/>
            <a:ln>
              <a:noFill/>
            </a:ln>
          </p:spPr>
          <p:txBody>
            <a:bodyPr wrap="none" lIns="0" tIns="0" rIns="0" bIns="0" anchor="t" anchorCtr="0">
              <a:spAutoFit/>
            </a:bodyPr>
            <a:lstStyle/>
            <a:p>
              <a:pPr algn="r"/>
              <a:r>
                <a:rPr lang="en" sz="1200" dirty="0">
                  <a:solidFill>
                    <a:srgbClr val="536165"/>
                  </a:solidFill>
                  <a:latin typeface="+mn-lt"/>
                  <a:ea typeface="+mn-ea"/>
                  <a:cs typeface="+mn-cs"/>
                </a:rPr>
                <a:t>08</a:t>
              </a:r>
            </a:p>
          </p:txBody>
        </p:sp>
      </p:gr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163B4A"/>
            </a:solidFill>
            <a:ln>
              <a:noFill/>
            </a:ln>
          </p:spPr>
        </p:sp>
        <p:sp>
          <p:nvSpPr>
            <p:cNvPr id="3" name="Rectangle 3"/>
            <p:cNvSpPr/>
            <p:nvPr/>
          </p:nvSpPr>
          <p:spPr>
            <a:xfrm>
              <a:off x="0" y="1257300"/>
              <a:ext cx="12192000" cy="5600700"/>
            </a:xfrm>
            <a:prstGeom prst="rect">
              <a:avLst/>
            </a:prstGeom>
            <a:solidFill>
              <a:schemeClr val="lt1"/>
            </a:solidFill>
            <a:ln>
              <a:noFill/>
            </a:ln>
          </p:spPr>
        </p:sp>
      </p:grpSp>
      <p:grpSp>
        <p:nvGrpSpPr>
          <p:cNvPr id="8" name="Group 8"/>
          <p:cNvGrpSpPr/>
          <p:nvPr/>
        </p:nvGrpSpPr>
        <p:grpSpPr>
          <a:xfrm>
            <a:off x="533400" y="251460"/>
            <a:ext cx="11074146" cy="825246"/>
            <a:chOff x="533400" y="251460"/>
            <a:chExt cx="11074146" cy="825246"/>
          </a:xfrm>
        </p:grpSpPr>
        <p:sp>
          <p:nvSpPr>
            <p:cNvPr id="5" name="TextBox 5"/>
            <p:cNvSpPr txBox="1"/>
            <p:nvPr/>
          </p:nvSpPr>
          <p:spPr>
            <a:xfrm>
              <a:off x="533400" y="251460"/>
              <a:ext cx="2323746" cy="819150"/>
            </a:xfrm>
            <a:prstGeom prst="rect">
              <a:avLst/>
            </a:prstGeom>
            <a:noFill/>
            <a:ln>
              <a:noFill/>
            </a:ln>
          </p:spPr>
          <p:txBody>
            <a:bodyPr wrap="none" lIns="0" tIns="0" rIns="0" bIns="0" anchor="t" anchorCtr="0">
              <a:spAutoFit/>
            </a:bodyPr>
            <a:lstStyle/>
            <a:p>
              <a:pPr algn="l"/>
              <a:r>
                <a:rPr lang="en" sz="4200" b="1" dirty="0">
                  <a:solidFill>
                    <a:srgbClr val="FFFFFF"/>
                  </a:solidFill>
                  <a:latin typeface="+mn-lt"/>
                  <a:ea typeface="+mn-ea"/>
                  <a:cs typeface="+mn-cs"/>
                </a:rPr>
                <a:t>566,437</a:t>
              </a:r>
            </a:p>
          </p:txBody>
        </p:sp>
        <p:sp>
          <p:nvSpPr>
            <p:cNvPr id="6" name="TextBox 6"/>
            <p:cNvSpPr txBox="1"/>
            <p:nvPr/>
          </p:nvSpPr>
          <p:spPr>
            <a:xfrm>
              <a:off x="2863596" y="391478"/>
              <a:ext cx="7775477" cy="498729"/>
            </a:xfrm>
            <a:prstGeom prst="rect">
              <a:avLst/>
            </a:prstGeom>
            <a:noFill/>
            <a:ln>
              <a:noFill/>
            </a:ln>
          </p:spPr>
          <p:txBody>
            <a:bodyPr wrap="none" lIns="0" tIns="0" rIns="0" bIns="0" anchor="t" anchorCtr="0">
              <a:spAutoFit/>
            </a:bodyPr>
            <a:lstStyle/>
            <a:p>
              <a:pPr algn="l"/>
              <a:r>
                <a:rPr lang="en" sz="2550" b="1" dirty="0">
                  <a:solidFill>
                    <a:srgbClr val="FFFFFF"/>
                  </a:solidFill>
                  <a:latin typeface="+mn-lt"/>
                  <a:ea typeface="+mn-ea"/>
                  <a:cs typeface="+mn-cs"/>
                </a:rPr>
                <a:t>priced trips now have a monetary geography</a:t>
              </a:r>
            </a:p>
          </p:txBody>
        </p:sp>
        <p:sp>
          <p:nvSpPr>
            <p:cNvPr id="7" name="TextBox 7"/>
            <p:cNvSpPr txBox="1"/>
            <p:nvPr/>
          </p:nvSpPr>
          <p:spPr>
            <a:xfrm>
              <a:off x="9700717" y="842010"/>
              <a:ext cx="1906829" cy="234696"/>
            </a:xfrm>
            <a:prstGeom prst="rect">
              <a:avLst/>
            </a:prstGeom>
            <a:noFill/>
            <a:ln>
              <a:noFill/>
            </a:ln>
          </p:spPr>
          <p:txBody>
            <a:bodyPr wrap="none" lIns="0" tIns="0" rIns="0" bIns="0" anchor="t" anchorCtr="0">
              <a:spAutoFit/>
            </a:bodyPr>
            <a:lstStyle/>
            <a:p>
              <a:pPr algn="r"/>
              <a:r>
                <a:rPr lang="en" sz="1200" dirty="0">
                  <a:solidFill>
                    <a:srgbClr val="DCE8EC"/>
                  </a:solidFill>
                  <a:latin typeface="+mn-lt"/>
                  <a:ea typeface="+mn-ea"/>
                  <a:cs typeface="+mn-cs"/>
                </a:rPr>
                <a:t>TOTAL · PT · CAR · TAXI</a:t>
              </a:r>
            </a:p>
          </p:txBody>
        </p:sp>
      </p:grpSp>
      <p:grpSp>
        <p:nvGrpSpPr>
          <p:cNvPr id="11" name="Group 11"/>
          <p:cNvGrpSpPr/>
          <p:nvPr/>
        </p:nvGrpSpPr>
        <p:grpSpPr>
          <a:xfrm>
            <a:off x="762000" y="1428750"/>
            <a:ext cx="10668000" cy="5029200"/>
            <a:chOff x="762000" y="1428750"/>
            <a:chExt cx="10668000" cy="5029200"/>
          </a:xfrm>
        </p:grpSpPr>
        <p:sp>
          <p:nvSpPr>
            <p:cNvPr id="9" name="Rectangle 9"/>
            <p:cNvSpPr/>
            <p:nvPr/>
          </p:nvSpPr>
          <p:spPr>
            <a:xfrm>
              <a:off x="762000" y="1428750"/>
              <a:ext cx="10668000" cy="5029200"/>
            </a:xfrm>
            <a:prstGeom prst="rect">
              <a:avLst/>
            </a:prstGeom>
            <a:solidFill>
              <a:schemeClr val="accent5"/>
            </a:solidFill>
            <a:ln>
              <a:noFill/>
            </a:ln>
          </p:spPr>
        </p:sp>
        <p:pic>
          <p:nvPicPr>
            <p:cNvPr id="10" name="Image 10"/>
            <p:cNvPicPr>
              <a:picLocks noChangeAspect="1"/>
            </p:cNvPicPr>
            <p:nvPr/>
          </p:nvPicPr>
          <p:blipFill>
            <a:blip r:embed="rId2"/>
            <a:stretch>
              <a:fillRect/>
            </a:stretch>
          </p:blipFill>
          <p:spPr>
            <a:xfrm>
              <a:off x="1398165" y="1543050"/>
              <a:ext cx="9395670" cy="4800600"/>
            </a:xfrm>
            <a:prstGeom prst="rect">
              <a:avLst/>
            </a:prstGeom>
          </p:spPr>
        </p:pic>
      </p:grpSp>
      <p:grpSp>
        <p:nvGrpSpPr>
          <p:cNvPr id="14" name="Group 14"/>
          <p:cNvGrpSpPr/>
          <p:nvPr/>
        </p:nvGrpSpPr>
        <p:grpSpPr>
          <a:xfrm>
            <a:off x="774954" y="6595110"/>
            <a:ext cx="10661142" cy="234696"/>
            <a:chOff x="774954" y="6595110"/>
            <a:chExt cx="10661142" cy="234696"/>
          </a:xfrm>
        </p:grpSpPr>
        <p:sp>
          <p:nvSpPr>
            <p:cNvPr id="12" name="TextBox 12"/>
            <p:cNvSpPr txBox="1"/>
            <p:nvPr/>
          </p:nvSpPr>
          <p:spPr>
            <a:xfrm>
              <a:off x="774954" y="6595110"/>
              <a:ext cx="6790023" cy="234696"/>
            </a:xfrm>
            <a:prstGeom prst="rect">
              <a:avLst/>
            </a:prstGeom>
            <a:noFill/>
            <a:ln>
              <a:noFill/>
            </a:ln>
          </p:spPr>
          <p:txBody>
            <a:bodyPr wrap="none" lIns="0" tIns="0" rIns="0" bIns="0" anchor="t" anchorCtr="0">
              <a:spAutoFit/>
            </a:bodyPr>
            <a:lstStyle/>
            <a:p>
              <a:pPr algn="l"/>
              <a:r>
                <a:rPr lang="en" sz="1200" dirty="0">
                  <a:solidFill>
                    <a:srgbClr val="536165"/>
                  </a:solidFill>
                  <a:latin typeface="+mn-lt"/>
                  <a:ea typeface="+mn-ea"/>
                  <a:cs typeface="+mn-cs"/>
                </a:rPr>
                <a:t>364,160 PT · 16,133 car · 186,144 Taxi · unresolved PT chains remain null, never zero</a:t>
              </a:r>
            </a:p>
          </p:txBody>
        </p:sp>
        <p:sp>
          <p:nvSpPr>
            <p:cNvPr id="13" name="TextBox 13"/>
            <p:cNvSpPr txBox="1"/>
            <p:nvPr/>
          </p:nvSpPr>
          <p:spPr>
            <a:xfrm>
              <a:off x="11246206" y="6595110"/>
              <a:ext cx="189890" cy="234696"/>
            </a:xfrm>
            <a:prstGeom prst="rect">
              <a:avLst/>
            </a:prstGeom>
            <a:noFill/>
            <a:ln>
              <a:noFill/>
            </a:ln>
          </p:spPr>
          <p:txBody>
            <a:bodyPr wrap="none" lIns="0" tIns="0" rIns="0" bIns="0" anchor="t" anchorCtr="0">
              <a:spAutoFit/>
            </a:bodyPr>
            <a:lstStyle/>
            <a:p>
              <a:pPr algn="r"/>
              <a:r>
                <a:rPr lang="en" sz="1200" dirty="0">
                  <a:solidFill>
                    <a:srgbClr val="536165"/>
                  </a:solidFill>
                  <a:latin typeface="+mn-lt"/>
                  <a:ea typeface="+mn-ea"/>
                  <a:cs typeface="+mn-cs"/>
                </a:rPr>
                <a:t>09</a:t>
              </a:r>
            </a:p>
          </p:txBody>
        </p:sp>
      </p:gr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chemeClr val="accent3"/>
            </a:solidFill>
            <a:ln>
              <a:noFill/>
            </a:ln>
          </p:spPr>
        </p:sp>
        <p:sp>
          <p:nvSpPr>
            <p:cNvPr id="3" name="Rectangle 3"/>
            <p:cNvSpPr/>
            <p:nvPr/>
          </p:nvSpPr>
          <p:spPr>
            <a:xfrm>
              <a:off x="3238500" y="0"/>
              <a:ext cx="8953500" cy="6858000"/>
            </a:xfrm>
            <a:prstGeom prst="rect">
              <a:avLst/>
            </a:prstGeom>
            <a:solidFill>
              <a:schemeClr val="lt1"/>
            </a:solidFill>
            <a:ln>
              <a:noFill/>
            </a:ln>
          </p:spPr>
        </p:sp>
      </p:grpSp>
      <p:grpSp>
        <p:nvGrpSpPr>
          <p:cNvPr id="17" name="Group 17"/>
          <p:cNvGrpSpPr/>
          <p:nvPr/>
        </p:nvGrpSpPr>
        <p:grpSpPr>
          <a:xfrm>
            <a:off x="441198" y="438150"/>
            <a:ext cx="2425916" cy="5534406"/>
            <a:chOff x="441198" y="438150"/>
            <a:chExt cx="2425916" cy="5534406"/>
          </a:xfrm>
        </p:grpSpPr>
        <p:sp>
          <p:nvSpPr>
            <p:cNvPr id="5" name="Rectangle 5"/>
            <p:cNvSpPr/>
            <p:nvPr/>
          </p:nvSpPr>
          <p:spPr>
            <a:xfrm>
              <a:off x="457200" y="438150"/>
              <a:ext cx="1123950" cy="304800"/>
            </a:xfrm>
            <a:prstGeom prst="roundRect">
              <a:avLst>
                <a:gd name="adj" fmla="val 12500"/>
              </a:avLst>
            </a:prstGeom>
            <a:solidFill>
              <a:schemeClr val="dk1"/>
            </a:solidFill>
            <a:ln>
              <a:noFill/>
            </a:ln>
          </p:spPr>
        </p:sp>
        <p:sp>
          <p:nvSpPr>
            <p:cNvPr id="6" name="TextBox 6"/>
            <p:cNvSpPr txBox="1"/>
            <p:nvPr/>
          </p:nvSpPr>
          <p:spPr>
            <a:xfrm>
              <a:off x="591906" y="518160"/>
              <a:ext cx="854537" cy="234696"/>
            </a:xfrm>
            <a:prstGeom prst="rect">
              <a:avLst/>
            </a:prstGeom>
            <a:noFill/>
            <a:ln>
              <a:noFill/>
            </a:ln>
          </p:spPr>
          <p:txBody>
            <a:bodyPr wrap="none" lIns="0" tIns="0" rIns="0" bIns="0" anchor="t" anchorCtr="0">
              <a:spAutoFit/>
            </a:bodyPr>
            <a:lstStyle/>
            <a:p>
              <a:pPr algn="ctr"/>
              <a:r>
                <a:rPr lang="en" sz="1200" b="1" dirty="0">
                  <a:solidFill>
                    <a:srgbClr val="FFFFFF"/>
                  </a:solidFill>
                  <a:latin typeface="+mn-lt"/>
                  <a:ea typeface="+mn-ea"/>
                  <a:cs typeface="+mn-cs"/>
                </a:rPr>
                <a:t>CANDIDATE</a:t>
              </a:r>
            </a:p>
          </p:txBody>
        </p:sp>
        <p:sp>
          <p:nvSpPr>
            <p:cNvPr id="7" name="TextBox 7"/>
            <p:cNvSpPr txBox="1"/>
            <p:nvPr/>
          </p:nvSpPr>
          <p:spPr>
            <a:xfrm>
              <a:off x="444246" y="1058228"/>
              <a:ext cx="1947080" cy="498729"/>
            </a:xfrm>
            <a:prstGeom prst="rect">
              <a:avLst/>
            </a:prstGeom>
            <a:noFill/>
            <a:ln>
              <a:noFill/>
            </a:ln>
          </p:spPr>
          <p:txBody>
            <a:bodyPr wrap="none" lIns="0" tIns="0" rIns="0" bIns="0" anchor="t" anchorCtr="0">
              <a:spAutoFit/>
            </a:bodyPr>
            <a:lstStyle/>
            <a:p>
              <a:pPr algn="l"/>
              <a:r>
                <a:rPr lang="en" sz="2550" b="1" dirty="0">
                  <a:solidFill>
                    <a:schemeClr val="dk1"/>
                  </a:solidFill>
                  <a:latin typeface="+mn-lt"/>
                  <a:ea typeface="+mn-ea"/>
                  <a:cs typeface="+mn-cs"/>
                </a:rPr>
                <a:t>Signals add</a:t>
              </a:r>
            </a:p>
          </p:txBody>
        </p:sp>
        <p:sp>
          <p:nvSpPr>
            <p:cNvPr id="8" name="TextBox 8"/>
            <p:cNvSpPr txBox="1"/>
            <p:nvPr/>
          </p:nvSpPr>
          <p:spPr>
            <a:xfrm>
              <a:off x="444246" y="1439228"/>
              <a:ext cx="1485710" cy="498729"/>
            </a:xfrm>
            <a:prstGeom prst="rect">
              <a:avLst/>
            </a:prstGeom>
            <a:noFill/>
            <a:ln>
              <a:noFill/>
            </a:ln>
          </p:spPr>
          <p:txBody>
            <a:bodyPr wrap="none" lIns="0" tIns="0" rIns="0" bIns="0" anchor="t" anchorCtr="0">
              <a:spAutoFit/>
            </a:bodyPr>
            <a:lstStyle/>
            <a:p>
              <a:pPr algn="l"/>
              <a:r>
                <a:rPr lang="en" sz="2550" b="1" dirty="0">
                  <a:solidFill>
                    <a:schemeClr val="dk1"/>
                  </a:solidFill>
                  <a:latin typeface="+mn-lt"/>
                  <a:ea typeface="+mn-ea"/>
                  <a:cs typeface="+mn-cs"/>
                </a:rPr>
                <a:t>network</a:t>
              </a:r>
            </a:p>
          </p:txBody>
        </p:sp>
        <p:sp>
          <p:nvSpPr>
            <p:cNvPr id="9" name="TextBox 9"/>
            <p:cNvSpPr txBox="1"/>
            <p:nvPr/>
          </p:nvSpPr>
          <p:spPr>
            <a:xfrm>
              <a:off x="444246" y="1820228"/>
              <a:ext cx="2422868" cy="498729"/>
            </a:xfrm>
            <a:prstGeom prst="rect">
              <a:avLst/>
            </a:prstGeom>
            <a:noFill/>
            <a:ln>
              <a:noFill/>
            </a:ln>
          </p:spPr>
          <p:txBody>
            <a:bodyPr wrap="none" lIns="0" tIns="0" rIns="0" bIns="0" anchor="t" anchorCtr="0">
              <a:spAutoFit/>
            </a:bodyPr>
            <a:lstStyle/>
            <a:p>
              <a:pPr algn="l"/>
              <a:r>
                <a:rPr lang="en" sz="2550" b="1" dirty="0">
                  <a:solidFill>
                    <a:schemeClr val="dk1"/>
                  </a:solidFill>
                  <a:latin typeface="+mn-lt"/>
                  <a:ea typeface="+mn-ea"/>
                  <a:cs typeface="+mn-cs"/>
                </a:rPr>
                <a:t>coordination.</a:t>
              </a:r>
            </a:p>
          </p:txBody>
        </p:sp>
        <p:sp>
          <p:nvSpPr>
            <p:cNvPr id="10" name="TextBox 10"/>
            <p:cNvSpPr txBox="1"/>
            <p:nvPr/>
          </p:nvSpPr>
          <p:spPr>
            <a:xfrm>
              <a:off x="441198" y="2612708"/>
              <a:ext cx="1256457" cy="616077"/>
            </a:xfrm>
            <a:prstGeom prst="rect">
              <a:avLst/>
            </a:prstGeom>
            <a:noFill/>
            <a:ln>
              <a:noFill/>
            </a:ln>
          </p:spPr>
          <p:txBody>
            <a:bodyPr wrap="none" lIns="0" tIns="0" rIns="0" bIns="0" anchor="t" anchorCtr="0">
              <a:spAutoFit/>
            </a:bodyPr>
            <a:lstStyle/>
            <a:p>
              <a:pPr algn="l"/>
              <a:r>
                <a:rPr lang="en" sz="3150" b="1" dirty="0">
                  <a:solidFill>
                    <a:schemeClr val="dk1"/>
                  </a:solidFill>
                  <a:latin typeface="+mn-lt"/>
                  <a:ea typeface="+mn-ea"/>
                  <a:cs typeface="+mn-cs"/>
                </a:rPr>
                <a:t>1,445</a:t>
              </a:r>
            </a:p>
          </p:txBody>
        </p:sp>
        <p:sp>
          <p:nvSpPr>
            <p:cNvPr id="11" name="TextBox 11"/>
            <p:cNvSpPr txBox="1"/>
            <p:nvPr/>
          </p:nvSpPr>
          <p:spPr>
            <a:xfrm>
              <a:off x="451104" y="3089910"/>
              <a:ext cx="1167232" cy="234696"/>
            </a:xfrm>
            <a:prstGeom prst="rect">
              <a:avLst/>
            </a:prstGeom>
            <a:noFill/>
            <a:ln>
              <a:noFill/>
            </a:ln>
          </p:spPr>
          <p:txBody>
            <a:bodyPr wrap="none" lIns="0" tIns="0" rIns="0" bIns="0" anchor="t" anchorCtr="0">
              <a:spAutoFit/>
            </a:bodyPr>
            <a:lstStyle/>
            <a:p>
              <a:pPr algn="l"/>
              <a:r>
                <a:rPr lang="en" sz="1200" dirty="0">
                  <a:solidFill>
                    <a:schemeClr val="dk1"/>
                  </a:solidFill>
                  <a:latin typeface="+mn-lt"/>
                  <a:ea typeface="+mn-ea"/>
                  <a:cs typeface="+mn-cs"/>
                </a:rPr>
                <a:t>signal systems</a:t>
              </a:r>
            </a:p>
          </p:txBody>
        </p:sp>
        <p:sp>
          <p:nvSpPr>
            <p:cNvPr id="12" name="TextBox 12"/>
            <p:cNvSpPr txBox="1"/>
            <p:nvPr/>
          </p:nvSpPr>
          <p:spPr>
            <a:xfrm>
              <a:off x="441198" y="3603308"/>
              <a:ext cx="1256457" cy="616077"/>
            </a:xfrm>
            <a:prstGeom prst="rect">
              <a:avLst/>
            </a:prstGeom>
            <a:noFill/>
            <a:ln>
              <a:noFill/>
            </a:ln>
          </p:spPr>
          <p:txBody>
            <a:bodyPr wrap="none" lIns="0" tIns="0" rIns="0" bIns="0" anchor="t" anchorCtr="0">
              <a:spAutoFit/>
            </a:bodyPr>
            <a:lstStyle/>
            <a:p>
              <a:pPr algn="l"/>
              <a:r>
                <a:rPr lang="en" sz="3150" b="1" dirty="0">
                  <a:solidFill>
                    <a:schemeClr val="dk1"/>
                  </a:solidFill>
                  <a:latin typeface="+mn-lt"/>
                  <a:ea typeface="+mn-ea"/>
                  <a:cs typeface="+mn-cs"/>
                </a:rPr>
                <a:t>6,941</a:t>
              </a:r>
            </a:p>
          </p:txBody>
        </p:sp>
        <p:sp>
          <p:nvSpPr>
            <p:cNvPr id="13" name="TextBox 13"/>
            <p:cNvSpPr txBox="1"/>
            <p:nvPr/>
          </p:nvSpPr>
          <p:spPr>
            <a:xfrm>
              <a:off x="451104" y="4080510"/>
              <a:ext cx="1312621" cy="234696"/>
            </a:xfrm>
            <a:prstGeom prst="rect">
              <a:avLst/>
            </a:prstGeom>
            <a:noFill/>
            <a:ln>
              <a:noFill/>
            </a:ln>
          </p:spPr>
          <p:txBody>
            <a:bodyPr wrap="none" lIns="0" tIns="0" rIns="0" bIns="0" anchor="t" anchorCtr="0">
              <a:spAutoFit/>
            </a:bodyPr>
            <a:lstStyle/>
            <a:p>
              <a:pPr algn="l"/>
              <a:r>
                <a:rPr lang="en" sz="1200" dirty="0">
                  <a:solidFill>
                    <a:schemeClr val="dk1"/>
                  </a:solidFill>
                  <a:latin typeface="+mn-lt"/>
                  <a:ea typeface="+mn-ea"/>
                  <a:cs typeface="+mn-cs"/>
                </a:rPr>
                <a:t>controlled turns</a:t>
              </a:r>
            </a:p>
          </p:txBody>
        </p:sp>
        <p:sp>
          <p:nvSpPr>
            <p:cNvPr id="14" name="TextBox 14"/>
            <p:cNvSpPr txBox="1"/>
            <p:nvPr/>
          </p:nvSpPr>
          <p:spPr>
            <a:xfrm>
              <a:off x="446532" y="4707255"/>
              <a:ext cx="1832042" cy="410718"/>
            </a:xfrm>
            <a:prstGeom prst="rect">
              <a:avLst/>
            </a:prstGeom>
            <a:noFill/>
            <a:ln>
              <a:noFill/>
            </a:ln>
          </p:spPr>
          <p:txBody>
            <a:bodyPr wrap="none" lIns="0" tIns="0" rIns="0" bIns="0" anchor="t" anchorCtr="0">
              <a:spAutoFit/>
            </a:bodyPr>
            <a:lstStyle/>
            <a:p>
              <a:pPr algn="l"/>
              <a:r>
                <a:rPr lang="en" sz="2100" b="1" dirty="0">
                  <a:solidFill>
                    <a:schemeClr val="dk1"/>
                  </a:solidFill>
                  <a:latin typeface="+mn-lt"/>
                  <a:ea typeface="+mn-ea"/>
                  <a:cs typeface="+mn-cs"/>
                </a:rPr>
                <a:t>14 corridors</a:t>
              </a:r>
            </a:p>
          </p:txBody>
        </p:sp>
        <p:sp>
          <p:nvSpPr>
            <p:cNvPr id="15" name="TextBox 15"/>
            <p:cNvSpPr txBox="1"/>
            <p:nvPr/>
          </p:nvSpPr>
          <p:spPr>
            <a:xfrm>
              <a:off x="451104" y="5109210"/>
              <a:ext cx="1571092" cy="234696"/>
            </a:xfrm>
            <a:prstGeom prst="rect">
              <a:avLst/>
            </a:prstGeom>
            <a:noFill/>
            <a:ln>
              <a:noFill/>
            </a:ln>
          </p:spPr>
          <p:txBody>
            <a:bodyPr wrap="none" lIns="0" tIns="0" rIns="0" bIns="0" anchor="t" anchorCtr="0">
              <a:spAutoFit/>
            </a:bodyPr>
            <a:lstStyle/>
            <a:p>
              <a:pPr algn="l"/>
              <a:r>
                <a:rPr lang="en" sz="1200" dirty="0">
                  <a:solidFill>
                    <a:schemeClr val="dk1"/>
                  </a:solidFill>
                  <a:latin typeface="+mn-lt"/>
                  <a:ea typeface="+mn-ea"/>
                  <a:cs typeface="+mn-cs"/>
                </a:rPr>
                <a:t>47 distinct systems</a:t>
              </a:r>
            </a:p>
          </p:txBody>
        </p:sp>
        <p:sp>
          <p:nvSpPr>
            <p:cNvPr id="16" name="TextBox 16"/>
            <p:cNvSpPr txBox="1"/>
            <p:nvPr/>
          </p:nvSpPr>
          <p:spPr>
            <a:xfrm>
              <a:off x="451104" y="5737860"/>
              <a:ext cx="1956302" cy="234696"/>
            </a:xfrm>
            <a:prstGeom prst="rect">
              <a:avLst/>
            </a:prstGeom>
            <a:noFill/>
            <a:ln>
              <a:noFill/>
            </a:ln>
          </p:spPr>
          <p:txBody>
            <a:bodyPr wrap="none" lIns="0" tIns="0" rIns="0" bIns="0" anchor="t" anchorCtr="0">
              <a:spAutoFit/>
            </a:bodyPr>
            <a:lstStyle/>
            <a:p>
              <a:pPr algn="l"/>
              <a:r>
                <a:rPr lang="en" sz="1200" dirty="0">
                  <a:solidFill>
                    <a:schemeClr val="dk1"/>
                  </a:solidFill>
                  <a:latin typeface="+mn-lt"/>
                  <a:ea typeface="+mn-ea"/>
                  <a:cs typeface="+mn-cs"/>
                </a:rPr>
                <a:t>Offsets: 0 · 3 · 8 · 12 s</a:t>
              </a:r>
            </a:p>
          </p:txBody>
        </p:sp>
      </p:grpSp>
      <p:grpSp>
        <p:nvGrpSpPr>
          <p:cNvPr id="20" name="Group 20"/>
          <p:cNvGrpSpPr/>
          <p:nvPr/>
        </p:nvGrpSpPr>
        <p:grpSpPr>
          <a:xfrm>
            <a:off x="3562350" y="609600"/>
            <a:ext cx="8096250" cy="5543550"/>
            <a:chOff x="3562350" y="609600"/>
            <a:chExt cx="8096250" cy="5543550"/>
          </a:xfrm>
        </p:grpSpPr>
        <p:sp>
          <p:nvSpPr>
            <p:cNvPr id="18" name="Rectangle 18"/>
            <p:cNvSpPr/>
            <p:nvPr/>
          </p:nvSpPr>
          <p:spPr>
            <a:xfrm>
              <a:off x="3562350" y="609600"/>
              <a:ext cx="8096250" cy="5543550"/>
            </a:xfrm>
            <a:prstGeom prst="rect">
              <a:avLst/>
            </a:prstGeom>
            <a:solidFill>
              <a:schemeClr val="accent5"/>
            </a:solidFill>
            <a:ln>
              <a:noFill/>
            </a:ln>
          </p:spPr>
        </p:sp>
        <p:pic>
          <p:nvPicPr>
            <p:cNvPr id="19" name="Image 19"/>
            <p:cNvPicPr>
              <a:picLocks noChangeAspect="1"/>
            </p:cNvPicPr>
            <p:nvPr/>
          </p:nvPicPr>
          <p:blipFill>
            <a:blip r:embed="rId2"/>
            <a:stretch>
              <a:fillRect/>
            </a:stretch>
          </p:blipFill>
          <p:spPr>
            <a:xfrm>
              <a:off x="3749444" y="723900"/>
              <a:ext cx="7722061" cy="5314950"/>
            </a:xfrm>
            <a:prstGeom prst="rect">
              <a:avLst/>
            </a:prstGeom>
          </p:spPr>
        </p:pic>
      </p:grpSp>
      <p:grpSp>
        <p:nvGrpSpPr>
          <p:cNvPr id="23" name="Group 23"/>
          <p:cNvGrpSpPr/>
          <p:nvPr/>
        </p:nvGrpSpPr>
        <p:grpSpPr>
          <a:xfrm>
            <a:off x="3556254" y="6404610"/>
            <a:ext cx="8070342" cy="234696"/>
            <a:chOff x="3556254" y="6404610"/>
            <a:chExt cx="8070342" cy="234696"/>
          </a:xfrm>
        </p:grpSpPr>
        <p:sp>
          <p:nvSpPr>
            <p:cNvPr id="21" name="TextBox 21"/>
            <p:cNvSpPr txBox="1"/>
            <p:nvPr/>
          </p:nvSpPr>
          <p:spPr>
            <a:xfrm>
              <a:off x="3556254" y="6404610"/>
              <a:ext cx="5722734" cy="234696"/>
            </a:xfrm>
            <a:prstGeom prst="rect">
              <a:avLst/>
            </a:prstGeom>
            <a:noFill/>
            <a:ln>
              <a:noFill/>
            </a:ln>
          </p:spPr>
          <p:txBody>
            <a:bodyPr wrap="none" lIns="0" tIns="0" rIns="0" bIns="0" anchor="t" anchorCtr="0">
              <a:spAutoFit/>
            </a:bodyPr>
            <a:lstStyle/>
            <a:p>
              <a:pPr algn="l"/>
              <a:r>
                <a:rPr lang="en" sz="1200" dirty="0">
                  <a:solidFill>
                    <a:srgbClr val="536165"/>
                  </a:solidFill>
                  <a:latin typeface="+mn-lt"/>
                  <a:ea typeface="+mn-ea"/>
                  <a:cs typeface="+mn-cs"/>
                </a:rPr>
                <a:t>Modelled cycle plans and offsets · not observed Hong Kong signal timings</a:t>
              </a:r>
            </a:p>
          </p:txBody>
        </p:sp>
        <p:sp>
          <p:nvSpPr>
            <p:cNvPr id="22" name="TextBox 22"/>
            <p:cNvSpPr txBox="1"/>
            <p:nvPr/>
          </p:nvSpPr>
          <p:spPr>
            <a:xfrm>
              <a:off x="11436706" y="6404610"/>
              <a:ext cx="189890" cy="234696"/>
            </a:xfrm>
            <a:prstGeom prst="rect">
              <a:avLst/>
            </a:prstGeom>
            <a:noFill/>
            <a:ln>
              <a:noFill/>
            </a:ln>
          </p:spPr>
          <p:txBody>
            <a:bodyPr wrap="none" lIns="0" tIns="0" rIns="0" bIns="0" anchor="t" anchorCtr="0">
              <a:spAutoFit/>
            </a:bodyPr>
            <a:lstStyle/>
            <a:p>
              <a:pPr algn="r"/>
              <a:r>
                <a:rPr lang="en" sz="1200" dirty="0">
                  <a:solidFill>
                    <a:srgbClr val="536165"/>
                  </a:solidFill>
                  <a:latin typeface="+mn-lt"/>
                  <a:ea typeface="+mn-ea"/>
                  <a:cs typeface="+mn-cs"/>
                </a:rPr>
                <a:t>10</a:t>
              </a:r>
            </a:p>
          </p:txBody>
        </p:sp>
      </p:gr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chemeClr val="lt1"/>
            </a:solidFill>
            <a:ln>
              <a:noFill/>
            </a:ln>
          </p:spPr>
        </p:sp>
        <p:sp>
          <p:nvSpPr>
            <p:cNvPr id="3" name="Rectangle 3"/>
            <p:cNvSpPr/>
            <p:nvPr/>
          </p:nvSpPr>
          <p:spPr>
            <a:xfrm>
              <a:off x="0" y="5829300"/>
              <a:ext cx="12192000" cy="1028700"/>
            </a:xfrm>
            <a:prstGeom prst="rect">
              <a:avLst/>
            </a:prstGeom>
            <a:solidFill>
              <a:schemeClr val="dk1"/>
            </a:solidFill>
            <a:ln>
              <a:noFill/>
            </a:ln>
          </p:spPr>
        </p:sp>
      </p:grpSp>
      <p:grpSp>
        <p:nvGrpSpPr>
          <p:cNvPr id="7" name="Group 7"/>
          <p:cNvGrpSpPr/>
          <p:nvPr/>
        </p:nvGrpSpPr>
        <p:grpSpPr>
          <a:xfrm>
            <a:off x="593598" y="613410"/>
            <a:ext cx="8207328" cy="843725"/>
            <a:chOff x="593598" y="613410"/>
            <a:chExt cx="8207328" cy="843725"/>
          </a:xfrm>
        </p:grpSpPr>
        <p:sp>
          <p:nvSpPr>
            <p:cNvPr id="5" name="TextBox 5"/>
            <p:cNvSpPr txBox="1"/>
            <p:nvPr/>
          </p:nvSpPr>
          <p:spPr>
            <a:xfrm>
              <a:off x="603504" y="613410"/>
              <a:ext cx="1732727" cy="234696"/>
            </a:xfrm>
            <a:prstGeom prst="rect">
              <a:avLst/>
            </a:prstGeom>
            <a:noFill/>
            <a:ln>
              <a:noFill/>
            </a:ln>
          </p:spPr>
          <p:txBody>
            <a:bodyPr wrap="none" lIns="0" tIns="0" rIns="0" bIns="0" anchor="t" anchorCtr="0">
              <a:spAutoFit/>
            </a:bodyPr>
            <a:lstStyle/>
            <a:p>
              <a:pPr algn="l"/>
              <a:r>
                <a:rPr lang="en" sz="1200" b="1" dirty="0">
                  <a:solidFill>
                    <a:schemeClr val="accent1"/>
                  </a:solidFill>
                  <a:latin typeface="+mn-lt"/>
                  <a:ea typeface="+mn-ea"/>
                  <a:cs typeface="+mn-cs"/>
                </a:rPr>
                <a:t>PROGRESS SYNTHESIS</a:t>
              </a:r>
            </a:p>
          </p:txBody>
        </p:sp>
        <p:sp>
          <p:nvSpPr>
            <p:cNvPr id="6" name="TextBox 6"/>
            <p:cNvSpPr txBox="1"/>
            <p:nvPr/>
          </p:nvSpPr>
          <p:spPr>
            <a:xfrm>
              <a:off x="593598" y="841058"/>
              <a:ext cx="8207328" cy="616077"/>
            </a:xfrm>
            <a:prstGeom prst="rect">
              <a:avLst/>
            </a:prstGeom>
            <a:noFill/>
            <a:ln>
              <a:noFill/>
            </a:ln>
          </p:spPr>
          <p:txBody>
            <a:bodyPr wrap="none" lIns="0" tIns="0" rIns="0" bIns="0" anchor="t" anchorCtr="0">
              <a:spAutoFit/>
            </a:bodyPr>
            <a:lstStyle/>
            <a:p>
              <a:pPr algn="l"/>
              <a:r>
                <a:rPr lang="en" sz="3150" b="1" dirty="0">
                  <a:solidFill>
                    <a:schemeClr val="dk1"/>
                  </a:solidFill>
                  <a:latin typeface="+mn-lt"/>
                  <a:ea typeface="+mn-ea"/>
                  <a:cs typeface="+mn-cs"/>
                </a:rPr>
                <a:t>Three Capabilities Now Work Together</a:t>
              </a:r>
            </a:p>
          </p:txBody>
        </p:sp>
      </p:grpSp>
      <p:grpSp>
        <p:nvGrpSpPr>
          <p:cNvPr id="13" name="Group 13"/>
          <p:cNvGrpSpPr/>
          <p:nvPr/>
        </p:nvGrpSpPr>
        <p:grpSpPr>
          <a:xfrm>
            <a:off x="593598" y="1984058"/>
            <a:ext cx="2892552" cy="1837181"/>
            <a:chOff x="593598" y="1984058"/>
            <a:chExt cx="2892552" cy="1837181"/>
          </a:xfrm>
        </p:grpSpPr>
        <p:sp>
          <p:nvSpPr>
            <p:cNvPr id="8" name="TextBox 8"/>
            <p:cNvSpPr txBox="1"/>
            <p:nvPr/>
          </p:nvSpPr>
          <p:spPr>
            <a:xfrm>
              <a:off x="593598" y="1984058"/>
              <a:ext cx="2431344" cy="616077"/>
            </a:xfrm>
            <a:prstGeom prst="rect">
              <a:avLst/>
            </a:prstGeom>
            <a:noFill/>
            <a:ln>
              <a:noFill/>
            </a:ln>
          </p:spPr>
          <p:txBody>
            <a:bodyPr wrap="none" lIns="0" tIns="0" rIns="0" bIns="0" anchor="t" anchorCtr="0">
              <a:spAutoFit/>
            </a:bodyPr>
            <a:lstStyle/>
            <a:p>
              <a:pPr algn="l"/>
              <a:r>
                <a:rPr lang="en" sz="3150" b="1" dirty="0">
                  <a:solidFill>
                    <a:schemeClr val="accent1"/>
                  </a:solidFill>
                  <a:latin typeface="+mn-lt"/>
                  <a:ea typeface="+mn-ea"/>
                  <a:cs typeface="+mn-cs"/>
                </a:rPr>
                <a:t>MONETIZED</a:t>
              </a:r>
            </a:p>
          </p:txBody>
        </p:sp>
        <p:sp>
          <p:nvSpPr>
            <p:cNvPr id="9" name="Rectangle 9"/>
            <p:cNvSpPr/>
            <p:nvPr/>
          </p:nvSpPr>
          <p:spPr>
            <a:xfrm>
              <a:off x="609600" y="2533650"/>
              <a:ext cx="2876550" cy="57150"/>
            </a:xfrm>
            <a:prstGeom prst="rect">
              <a:avLst/>
            </a:prstGeom>
            <a:solidFill>
              <a:schemeClr val="accent1"/>
            </a:solidFill>
            <a:ln>
              <a:noFill/>
            </a:ln>
          </p:spPr>
        </p:sp>
        <p:sp>
          <p:nvSpPr>
            <p:cNvPr id="10" name="TextBox 10"/>
            <p:cNvSpPr txBox="1"/>
            <p:nvPr/>
          </p:nvSpPr>
          <p:spPr>
            <a:xfrm>
              <a:off x="601218" y="2888932"/>
              <a:ext cx="2710988" cy="322707"/>
            </a:xfrm>
            <a:prstGeom prst="rect">
              <a:avLst/>
            </a:prstGeom>
            <a:noFill/>
            <a:ln>
              <a:noFill/>
            </a:ln>
          </p:spPr>
          <p:txBody>
            <a:bodyPr wrap="none" lIns="0" tIns="0" rIns="0" bIns="0" anchor="t" anchorCtr="0">
              <a:spAutoFit/>
            </a:bodyPr>
            <a:lstStyle/>
            <a:p>
              <a:pPr algn="l"/>
              <a:r>
                <a:rPr lang="en" sz="1650" b="1" dirty="0">
                  <a:solidFill>
                    <a:schemeClr val="dk1"/>
                  </a:solidFill>
                  <a:latin typeface="+mn-lt"/>
                  <a:ea typeface="+mn-ea"/>
                  <a:cs typeface="+mn-cs"/>
                </a:rPr>
                <a:t>Car, PT, and Taxi costs</a:t>
              </a:r>
            </a:p>
          </p:txBody>
        </p:sp>
        <p:sp>
          <p:nvSpPr>
            <p:cNvPr id="11" name="TextBox 11"/>
            <p:cNvSpPr txBox="1"/>
            <p:nvPr/>
          </p:nvSpPr>
          <p:spPr>
            <a:xfrm>
              <a:off x="601218" y="3193732"/>
              <a:ext cx="2304631" cy="322707"/>
            </a:xfrm>
            <a:prstGeom prst="rect">
              <a:avLst/>
            </a:prstGeom>
            <a:noFill/>
            <a:ln>
              <a:noFill/>
            </a:ln>
          </p:spPr>
          <p:txBody>
            <a:bodyPr wrap="none" lIns="0" tIns="0" rIns="0" bIns="0" anchor="t" anchorCtr="0">
              <a:spAutoFit/>
            </a:bodyPr>
            <a:lstStyle/>
            <a:p>
              <a:pPr algn="l"/>
              <a:r>
                <a:rPr lang="en" sz="1650" dirty="0">
                  <a:solidFill>
                    <a:srgbClr val="536165"/>
                  </a:solidFill>
                  <a:latin typeface="+mn-lt"/>
                  <a:ea typeface="+mn-ea"/>
                  <a:cs typeface="+mn-cs"/>
                </a:rPr>
                <a:t>are expressed in real</a:t>
              </a:r>
            </a:p>
          </p:txBody>
        </p:sp>
        <p:sp>
          <p:nvSpPr>
            <p:cNvPr id="12" name="TextBox 12"/>
            <p:cNvSpPr txBox="1"/>
            <p:nvPr/>
          </p:nvSpPr>
          <p:spPr>
            <a:xfrm>
              <a:off x="601218" y="3498532"/>
              <a:ext cx="1751314" cy="322707"/>
            </a:xfrm>
            <a:prstGeom prst="rect">
              <a:avLst/>
            </a:prstGeom>
            <a:noFill/>
            <a:ln>
              <a:noFill/>
            </a:ln>
          </p:spPr>
          <p:txBody>
            <a:bodyPr wrap="none" lIns="0" tIns="0" rIns="0" bIns="0" anchor="t" anchorCtr="0">
              <a:spAutoFit/>
            </a:bodyPr>
            <a:lstStyle/>
            <a:p>
              <a:pPr algn="l"/>
              <a:r>
                <a:rPr lang="en" sz="1650" dirty="0">
                  <a:solidFill>
                    <a:srgbClr val="536165"/>
                  </a:solidFill>
                  <a:latin typeface="+mn-lt"/>
                  <a:ea typeface="+mn-ea"/>
                  <a:cs typeface="+mn-cs"/>
                </a:rPr>
                <a:t>model-rule HKD.</a:t>
              </a:r>
            </a:p>
          </p:txBody>
        </p:sp>
      </p:grpSp>
      <p:grpSp>
        <p:nvGrpSpPr>
          <p:cNvPr id="19" name="Group 19"/>
          <p:cNvGrpSpPr/>
          <p:nvPr/>
        </p:nvGrpSpPr>
        <p:grpSpPr>
          <a:xfrm>
            <a:off x="4441698" y="1984058"/>
            <a:ext cx="3108043" cy="1837181"/>
            <a:chOff x="4441698" y="1984058"/>
            <a:chExt cx="3108043" cy="1837181"/>
          </a:xfrm>
        </p:grpSpPr>
        <p:sp>
          <p:nvSpPr>
            <p:cNvPr id="14" name="TextBox 14"/>
            <p:cNvSpPr txBox="1"/>
            <p:nvPr/>
          </p:nvSpPr>
          <p:spPr>
            <a:xfrm>
              <a:off x="4441698" y="1984058"/>
              <a:ext cx="2901803" cy="616077"/>
            </a:xfrm>
            <a:prstGeom prst="rect">
              <a:avLst/>
            </a:prstGeom>
            <a:noFill/>
            <a:ln>
              <a:noFill/>
            </a:ln>
          </p:spPr>
          <p:txBody>
            <a:bodyPr wrap="none" lIns="0" tIns="0" rIns="0" bIns="0" anchor="t" anchorCtr="0">
              <a:spAutoFit/>
            </a:bodyPr>
            <a:lstStyle/>
            <a:p>
              <a:pPr algn="l"/>
              <a:r>
                <a:rPr lang="en" sz="3150" b="1" dirty="0">
                  <a:solidFill>
                    <a:schemeClr val="accent2"/>
                  </a:solidFill>
                  <a:latin typeface="+mn-lt"/>
                  <a:ea typeface="+mn-ea"/>
                  <a:cs typeface="+mn-cs"/>
                </a:rPr>
                <a:t>PHYSICALIZED</a:t>
              </a:r>
            </a:p>
          </p:txBody>
        </p:sp>
        <p:sp>
          <p:nvSpPr>
            <p:cNvPr id="15" name="Rectangle 15"/>
            <p:cNvSpPr/>
            <p:nvPr/>
          </p:nvSpPr>
          <p:spPr>
            <a:xfrm>
              <a:off x="4457700" y="2533650"/>
              <a:ext cx="3086100" cy="57150"/>
            </a:xfrm>
            <a:prstGeom prst="rect">
              <a:avLst/>
            </a:prstGeom>
            <a:solidFill>
              <a:schemeClr val="accent2"/>
            </a:solidFill>
            <a:ln>
              <a:noFill/>
            </a:ln>
          </p:spPr>
        </p:sp>
        <p:sp>
          <p:nvSpPr>
            <p:cNvPr id="16" name="TextBox 16"/>
            <p:cNvSpPr txBox="1"/>
            <p:nvPr/>
          </p:nvSpPr>
          <p:spPr>
            <a:xfrm>
              <a:off x="4449318" y="2888932"/>
              <a:ext cx="3068608" cy="322707"/>
            </a:xfrm>
            <a:prstGeom prst="rect">
              <a:avLst/>
            </a:prstGeom>
            <a:noFill/>
            <a:ln>
              <a:noFill/>
            </a:ln>
          </p:spPr>
          <p:txBody>
            <a:bodyPr wrap="none" lIns="0" tIns="0" rIns="0" bIns="0" anchor="t" anchorCtr="0">
              <a:spAutoFit/>
            </a:bodyPr>
            <a:lstStyle/>
            <a:p>
              <a:pPr algn="l"/>
              <a:r>
                <a:rPr lang="en" sz="1650" b="1" dirty="0">
                  <a:solidFill>
                    <a:schemeClr val="dk1"/>
                  </a:solidFill>
                  <a:latin typeface="+mn-lt"/>
                  <a:ea typeface="+mn-ea"/>
                  <a:cs typeface="+mn-cs"/>
                </a:rPr>
                <a:t>School bus, household car,</a:t>
              </a:r>
            </a:p>
          </p:txBody>
        </p:sp>
        <p:sp>
          <p:nvSpPr>
            <p:cNvPr id="17" name="TextBox 17"/>
            <p:cNvSpPr txBox="1"/>
            <p:nvPr/>
          </p:nvSpPr>
          <p:spPr>
            <a:xfrm>
              <a:off x="4449318" y="3193732"/>
              <a:ext cx="3100423" cy="322707"/>
            </a:xfrm>
            <a:prstGeom prst="rect">
              <a:avLst/>
            </a:prstGeom>
            <a:noFill/>
            <a:ln>
              <a:noFill/>
            </a:ln>
          </p:spPr>
          <p:txBody>
            <a:bodyPr wrap="none" lIns="0" tIns="0" rIns="0" bIns="0" anchor="t" anchorCtr="0">
              <a:spAutoFit/>
            </a:bodyPr>
            <a:lstStyle/>
            <a:p>
              <a:pPr algn="l"/>
              <a:r>
                <a:rPr lang="en" sz="1650" dirty="0">
                  <a:solidFill>
                    <a:srgbClr val="536165"/>
                  </a:solidFill>
                  <a:latin typeface="+mn-lt"/>
                  <a:ea typeface="+mn-ea"/>
                  <a:cs typeface="+mn-cs"/>
                </a:rPr>
                <a:t>and Taxi now have continuity</a:t>
              </a:r>
            </a:p>
          </p:txBody>
        </p:sp>
        <p:sp>
          <p:nvSpPr>
            <p:cNvPr id="18" name="TextBox 18"/>
            <p:cNvSpPr txBox="1"/>
            <p:nvPr/>
          </p:nvSpPr>
          <p:spPr>
            <a:xfrm>
              <a:off x="4449318" y="3498532"/>
              <a:ext cx="1493882" cy="322707"/>
            </a:xfrm>
            <a:prstGeom prst="rect">
              <a:avLst/>
            </a:prstGeom>
            <a:noFill/>
            <a:ln>
              <a:noFill/>
            </a:ln>
          </p:spPr>
          <p:txBody>
            <a:bodyPr wrap="none" lIns="0" tIns="0" rIns="0" bIns="0" anchor="t" anchorCtr="0">
              <a:spAutoFit/>
            </a:bodyPr>
            <a:lstStyle/>
            <a:p>
              <a:pPr algn="l"/>
              <a:r>
                <a:rPr lang="en" sz="1650" dirty="0">
                  <a:solidFill>
                    <a:srgbClr val="536165"/>
                  </a:solidFill>
                  <a:latin typeface="+mn-lt"/>
                  <a:ea typeface="+mn-ea"/>
                  <a:cs typeface="+mn-cs"/>
                </a:rPr>
                <a:t>and scarcity.</a:t>
              </a:r>
            </a:p>
          </p:txBody>
        </p:sp>
      </p:grpSp>
      <p:grpSp>
        <p:nvGrpSpPr>
          <p:cNvPr id="25" name="Group 25"/>
          <p:cNvGrpSpPr/>
          <p:nvPr/>
        </p:nvGrpSpPr>
        <p:grpSpPr>
          <a:xfrm>
            <a:off x="8308848" y="1984058"/>
            <a:ext cx="2936737" cy="1837181"/>
            <a:chOff x="8308848" y="1984058"/>
            <a:chExt cx="2936737" cy="1837181"/>
          </a:xfrm>
        </p:grpSpPr>
        <p:sp>
          <p:nvSpPr>
            <p:cNvPr id="20" name="TextBox 20"/>
            <p:cNvSpPr txBox="1"/>
            <p:nvPr/>
          </p:nvSpPr>
          <p:spPr>
            <a:xfrm>
              <a:off x="8308848" y="1984058"/>
              <a:ext cx="2243160" cy="616077"/>
            </a:xfrm>
            <a:prstGeom prst="rect">
              <a:avLst/>
            </a:prstGeom>
            <a:noFill/>
            <a:ln>
              <a:noFill/>
            </a:ln>
          </p:spPr>
          <p:txBody>
            <a:bodyPr wrap="none" lIns="0" tIns="0" rIns="0" bIns="0" anchor="t" anchorCtr="0">
              <a:spAutoFit/>
            </a:bodyPr>
            <a:lstStyle/>
            <a:p>
              <a:pPr algn="l"/>
              <a:r>
                <a:rPr lang="en" sz="3150" b="1" dirty="0">
                  <a:solidFill>
                    <a:schemeClr val="accent3"/>
                  </a:solidFill>
                  <a:latin typeface="+mn-lt"/>
                  <a:ea typeface="+mn-ea"/>
                  <a:cs typeface="+mn-cs"/>
                </a:rPr>
                <a:t>AUDITABLE</a:t>
              </a:r>
            </a:p>
          </p:txBody>
        </p:sp>
        <p:sp>
          <p:nvSpPr>
            <p:cNvPr id="21" name="Rectangle 21"/>
            <p:cNvSpPr/>
            <p:nvPr/>
          </p:nvSpPr>
          <p:spPr>
            <a:xfrm>
              <a:off x="8324850" y="2533650"/>
              <a:ext cx="2914650" cy="57150"/>
            </a:xfrm>
            <a:prstGeom prst="rect">
              <a:avLst/>
            </a:prstGeom>
            <a:solidFill>
              <a:schemeClr val="accent3"/>
            </a:solidFill>
            <a:ln>
              <a:noFill/>
            </a:ln>
          </p:spPr>
        </p:sp>
        <p:sp>
          <p:nvSpPr>
            <p:cNvPr id="22" name="TextBox 22"/>
            <p:cNvSpPr txBox="1"/>
            <p:nvPr/>
          </p:nvSpPr>
          <p:spPr>
            <a:xfrm>
              <a:off x="8316468" y="2888932"/>
              <a:ext cx="2929117" cy="322707"/>
            </a:xfrm>
            <a:prstGeom prst="rect">
              <a:avLst/>
            </a:prstGeom>
            <a:noFill/>
            <a:ln>
              <a:noFill/>
            </a:ln>
          </p:spPr>
          <p:txBody>
            <a:bodyPr wrap="none" lIns="0" tIns="0" rIns="0" bIns="0" anchor="t" anchorCtr="0">
              <a:spAutoFit/>
            </a:bodyPr>
            <a:lstStyle/>
            <a:p>
              <a:pPr algn="l"/>
              <a:r>
                <a:rPr lang="en" sz="1650" b="1" dirty="0">
                  <a:solidFill>
                    <a:schemeClr val="dk1"/>
                  </a:solidFill>
                  <a:latin typeface="+mn-lt"/>
                  <a:ea typeface="+mn-ea"/>
                  <a:cs typeface="+mn-cs"/>
                </a:rPr>
                <a:t>Routes, ledgers, events,</a:t>
              </a:r>
            </a:p>
          </p:txBody>
        </p:sp>
        <p:sp>
          <p:nvSpPr>
            <p:cNvPr id="23" name="TextBox 23"/>
            <p:cNvSpPr txBox="1"/>
            <p:nvPr/>
          </p:nvSpPr>
          <p:spPr>
            <a:xfrm>
              <a:off x="8316468" y="3193732"/>
              <a:ext cx="2926575" cy="322707"/>
            </a:xfrm>
            <a:prstGeom prst="rect">
              <a:avLst/>
            </a:prstGeom>
            <a:noFill/>
            <a:ln>
              <a:noFill/>
            </a:ln>
          </p:spPr>
          <p:txBody>
            <a:bodyPr wrap="none" lIns="0" tIns="0" rIns="0" bIns="0" anchor="t" anchorCtr="0">
              <a:spAutoFit/>
            </a:bodyPr>
            <a:lstStyle/>
            <a:p>
              <a:pPr algn="l"/>
              <a:r>
                <a:rPr lang="en" sz="1650" dirty="0">
                  <a:solidFill>
                    <a:srgbClr val="536165"/>
                  </a:solidFill>
                  <a:latin typeface="+mn-lt"/>
                  <a:ea typeface="+mn-ea"/>
                  <a:cs typeface="+mn-cs"/>
                </a:rPr>
                <a:t>hashes, and null rules keep</a:t>
              </a:r>
            </a:p>
          </p:txBody>
        </p:sp>
        <p:sp>
          <p:nvSpPr>
            <p:cNvPr id="24" name="TextBox 24"/>
            <p:cNvSpPr txBox="1"/>
            <p:nvPr/>
          </p:nvSpPr>
          <p:spPr>
            <a:xfrm>
              <a:off x="8316468" y="3498532"/>
              <a:ext cx="2460117" cy="322707"/>
            </a:xfrm>
            <a:prstGeom prst="rect">
              <a:avLst/>
            </a:prstGeom>
            <a:noFill/>
            <a:ln>
              <a:noFill/>
            </a:ln>
          </p:spPr>
          <p:txBody>
            <a:bodyPr wrap="none" lIns="0" tIns="0" rIns="0" bIns="0" anchor="t" anchorCtr="0">
              <a:spAutoFit/>
            </a:bodyPr>
            <a:lstStyle/>
            <a:p>
              <a:pPr algn="l"/>
              <a:r>
                <a:rPr lang="en" sz="1650" dirty="0">
                  <a:solidFill>
                    <a:srgbClr val="536165"/>
                  </a:solidFill>
                  <a:latin typeface="+mn-lt"/>
                  <a:ea typeface="+mn-ea"/>
                  <a:cs typeface="+mn-cs"/>
                </a:rPr>
                <a:t>outcomes inspectable.</a:t>
              </a:r>
            </a:p>
          </p:txBody>
        </p:sp>
      </p:grpSp>
      <p:grpSp>
        <p:nvGrpSpPr>
          <p:cNvPr id="29" name="Group 29"/>
          <p:cNvGrpSpPr/>
          <p:nvPr/>
        </p:nvGrpSpPr>
        <p:grpSpPr>
          <a:xfrm>
            <a:off x="598932" y="6097905"/>
            <a:ext cx="10989564" cy="676084"/>
            <a:chOff x="598932" y="6097905"/>
            <a:chExt cx="10989564" cy="676084"/>
          </a:xfrm>
        </p:grpSpPr>
        <p:sp>
          <p:nvSpPr>
            <p:cNvPr id="26" name="TextBox 26"/>
            <p:cNvSpPr txBox="1"/>
            <p:nvPr/>
          </p:nvSpPr>
          <p:spPr>
            <a:xfrm>
              <a:off x="598932" y="6097905"/>
              <a:ext cx="5685782" cy="410718"/>
            </a:xfrm>
            <a:prstGeom prst="rect">
              <a:avLst/>
            </a:prstGeom>
            <a:noFill/>
            <a:ln>
              <a:noFill/>
            </a:ln>
          </p:spPr>
          <p:txBody>
            <a:bodyPr wrap="none" lIns="0" tIns="0" rIns="0" bIns="0" anchor="t" anchorCtr="0">
              <a:spAutoFit/>
            </a:bodyPr>
            <a:lstStyle/>
            <a:p>
              <a:pPr algn="l"/>
              <a:r>
                <a:rPr lang="en" sz="2100" b="1" dirty="0">
                  <a:solidFill>
                    <a:srgbClr val="FFFFFF"/>
                  </a:solidFill>
                  <a:latin typeface="+mn-lt"/>
                  <a:ea typeface="+mn-ea"/>
                  <a:cs typeface="+mn-cs"/>
                </a:rPr>
                <a:t>A more interpretable urban simulation—</a:t>
              </a:r>
            </a:p>
          </p:txBody>
        </p:sp>
        <p:sp>
          <p:nvSpPr>
            <p:cNvPr id="27" name="TextBox 27"/>
            <p:cNvSpPr txBox="1"/>
            <p:nvPr/>
          </p:nvSpPr>
          <p:spPr>
            <a:xfrm>
              <a:off x="601218" y="6451282"/>
              <a:ext cx="5936342" cy="322707"/>
            </a:xfrm>
            <a:prstGeom prst="rect">
              <a:avLst/>
            </a:prstGeom>
            <a:noFill/>
            <a:ln>
              <a:noFill/>
            </a:ln>
          </p:spPr>
          <p:txBody>
            <a:bodyPr wrap="none" lIns="0" tIns="0" rIns="0" bIns="0" anchor="t" anchorCtr="0">
              <a:spAutoFit/>
            </a:bodyPr>
            <a:lstStyle/>
            <a:p>
              <a:pPr algn="l"/>
              <a:r>
                <a:rPr lang="en" sz="1650" dirty="0">
                  <a:solidFill>
                    <a:srgbClr val="DCE8EC"/>
                  </a:solidFill>
                  <a:latin typeface="+mn-lt"/>
                  <a:ea typeface="+mn-ea"/>
                  <a:cs typeface="+mn-cs"/>
                </a:rPr>
                <a:t>with candidate and production boundaries kept visible.</a:t>
              </a:r>
            </a:p>
          </p:txBody>
        </p:sp>
        <p:sp>
          <p:nvSpPr>
            <p:cNvPr id="28" name="TextBox 28"/>
            <p:cNvSpPr txBox="1"/>
            <p:nvPr/>
          </p:nvSpPr>
          <p:spPr>
            <a:xfrm>
              <a:off x="11398606" y="6499860"/>
              <a:ext cx="189890" cy="234696"/>
            </a:xfrm>
            <a:prstGeom prst="rect">
              <a:avLst/>
            </a:prstGeom>
            <a:noFill/>
            <a:ln>
              <a:noFill/>
            </a:ln>
          </p:spPr>
          <p:txBody>
            <a:bodyPr wrap="none" lIns="0" tIns="0" rIns="0" bIns="0" anchor="t" anchorCtr="0">
              <a:spAutoFit/>
            </a:bodyPr>
            <a:lstStyle/>
            <a:p>
              <a:pPr algn="r"/>
              <a:r>
                <a:rPr lang="en" sz="1200" dirty="0">
                  <a:solidFill>
                    <a:srgbClr val="DCE8EC"/>
                  </a:solidFill>
                  <a:latin typeface="+mn-lt"/>
                  <a:ea typeface="+mn-ea"/>
                  <a:cs typeface="+mn-cs"/>
                </a:rPr>
                <a:t>11</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hong_kong_progress_report_scheme_b_english_20260825">
  <a:themeElements>
    <a:clrScheme name="hong_kong_progress_report_scheme_b_english_20260825">
      <a:dk1>
        <a:srgbClr val="202629"/>
      </a:dk1>
      <a:lt1>
        <a:srgbClr val="FFFFFF"/>
      </a:lt1>
      <a:dk2>
        <a:srgbClr val="1F497D"/>
      </a:dk2>
      <a:lt2>
        <a:srgbClr val="FFFFFF"/>
      </a:lt2>
      <a:accent1>
        <a:srgbClr val="2F7895"/>
      </a:accent1>
      <a:accent2>
        <a:srgbClr val="C45139"/>
      </a:accent2>
      <a:accent3>
        <a:srgbClr val="D1A04A"/>
      </a:accent3>
      <a:accent4>
        <a:srgbClr val="2F7895"/>
      </a:accent4>
      <a:accent5>
        <a:srgbClr val="EEF1EF"/>
      </a:accent5>
      <a:accent6>
        <a:srgbClr val="F79646"/>
      </a:accent6>
      <a:hlink>
        <a:srgbClr val="C45139"/>
      </a:hlink>
      <a:folHlink>
        <a:srgbClr val="D1A04A"/>
      </a:folHlink>
    </a:clrScheme>
    <a:fontScheme name="hong_kong_progress_report_scheme_b_english_20260825">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hong_kong_progress_report_scheme_b_english_20260825">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hong_kong_progress_report_scheme_b_english_20260825">
  <a:themeElements>
    <a:clrScheme name="hong_kong_progress_report_scheme_b_english_20260825">
      <a:dk1>
        <a:srgbClr val="202629"/>
      </a:dk1>
      <a:lt1>
        <a:srgbClr val="FFFFFF"/>
      </a:lt1>
      <a:dk2>
        <a:srgbClr val="1F497D"/>
      </a:dk2>
      <a:lt2>
        <a:srgbClr val="FFFFFF"/>
      </a:lt2>
      <a:accent1>
        <a:srgbClr val="2F7895"/>
      </a:accent1>
      <a:accent2>
        <a:srgbClr val="C45139"/>
      </a:accent2>
      <a:accent3>
        <a:srgbClr val="D1A04A"/>
      </a:accent3>
      <a:accent4>
        <a:srgbClr val="2F7895"/>
      </a:accent4>
      <a:accent5>
        <a:srgbClr val="EEF1EF"/>
      </a:accent5>
      <a:accent6>
        <a:srgbClr val="F79646"/>
      </a:accent6>
      <a:hlink>
        <a:srgbClr val="C45139"/>
      </a:hlink>
      <a:folHlink>
        <a:srgbClr val="D1A04A"/>
      </a:folHlink>
    </a:clrScheme>
    <a:fontScheme name="hong_kong_progress_report_scheme_b_english_20260825">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hong_kong_progress_report_scheme_b_english_20260825">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11</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en</dc:language>
  <cp:lastModifiedBy/>
  <cp:revision>1</cp:revision>
  <dcterms:created xsi:type="dcterms:W3CDTF">2026-08-25T02:25:28Z</dcterms:created>
  <dcterms:modified xsi:type="dcterms:W3CDTF">2026-08-25T02:25:28Z</dcterms:modified>
  <cp:category/>
  <cp:contentStatus/>
</cp:coreProperties>
</file>